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heme/theme2.xml" ContentType="application/vnd.openxmlformats-officedocument.them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heme/theme3.xml" ContentType="application/vnd.openxmlformats-officedocument.them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1.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5" r:id="rId4"/>
  </p:sldMasterIdLst>
  <p:notesMasterIdLst>
    <p:notesMasterId r:id="rId56"/>
  </p:notesMasterIdLst>
  <p:handoutMasterIdLst>
    <p:handoutMasterId r:id="rId57"/>
  </p:handoutMasterIdLst>
  <p:sldIdLst>
    <p:sldId id="270" r:id="rId5"/>
    <p:sldId id="2147480838" r:id="rId6"/>
    <p:sldId id="2147480819" r:id="rId7"/>
    <p:sldId id="2147480818" r:id="rId8"/>
    <p:sldId id="2147480820" r:id="rId9"/>
    <p:sldId id="295" r:id="rId10"/>
    <p:sldId id="2147480800" r:id="rId11"/>
    <p:sldId id="2147480801" r:id="rId12"/>
    <p:sldId id="259" r:id="rId13"/>
    <p:sldId id="265" r:id="rId14"/>
    <p:sldId id="266" r:id="rId15"/>
    <p:sldId id="332" r:id="rId16"/>
    <p:sldId id="296" r:id="rId17"/>
    <p:sldId id="277" r:id="rId18"/>
    <p:sldId id="286" r:id="rId19"/>
    <p:sldId id="287" r:id="rId20"/>
    <p:sldId id="288" r:id="rId21"/>
    <p:sldId id="290" r:id="rId22"/>
    <p:sldId id="291" r:id="rId23"/>
    <p:sldId id="293" r:id="rId24"/>
    <p:sldId id="2147480816" r:id="rId25"/>
    <p:sldId id="294" r:id="rId26"/>
    <p:sldId id="297" r:id="rId27"/>
    <p:sldId id="278" r:id="rId28"/>
    <p:sldId id="281" r:id="rId29"/>
    <p:sldId id="2147480841" r:id="rId30"/>
    <p:sldId id="2147480839" r:id="rId31"/>
    <p:sldId id="322" r:id="rId32"/>
    <p:sldId id="2147480805" r:id="rId33"/>
    <p:sldId id="2147480809" r:id="rId34"/>
    <p:sldId id="2147480817" r:id="rId35"/>
    <p:sldId id="2147480807" r:id="rId36"/>
    <p:sldId id="2147480810" r:id="rId37"/>
    <p:sldId id="2147480821" r:id="rId38"/>
    <p:sldId id="2147480840" r:id="rId39"/>
    <p:sldId id="2147480832" r:id="rId40"/>
    <p:sldId id="2147480833" r:id="rId41"/>
    <p:sldId id="2147480834" r:id="rId42"/>
    <p:sldId id="2147480828" r:id="rId43"/>
    <p:sldId id="2147480835" r:id="rId44"/>
    <p:sldId id="2147480831" r:id="rId45"/>
    <p:sldId id="2147480829" r:id="rId46"/>
    <p:sldId id="2147480830" r:id="rId47"/>
    <p:sldId id="2147480842" r:id="rId48"/>
    <p:sldId id="2076136573" r:id="rId49"/>
    <p:sldId id="2147480822" r:id="rId50"/>
    <p:sldId id="2147480823" r:id="rId51"/>
    <p:sldId id="2147480824" r:id="rId52"/>
    <p:sldId id="2147480825" r:id="rId53"/>
    <p:sldId id="2147480826" r:id="rId54"/>
    <p:sldId id="274" r:id="rId55"/>
  </p:sldIdLst>
  <p:sldSz cx="12192000" cy="6858000"/>
  <p:notesSz cx="7099300" cy="10234613"/>
  <p:custDataLst>
    <p:tags r:id="rId58"/>
  </p:custDataLst>
  <p:defaultTex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187">
          <p15:clr>
            <a:srgbClr val="A4A3A4"/>
          </p15:clr>
        </p15:guide>
        <p15:guide id="2" orient="horz" pos="638">
          <p15:clr>
            <a:srgbClr val="A4A3A4"/>
          </p15:clr>
        </p15:guide>
        <p15:guide id="3" orient="horz" pos="453">
          <p15:clr>
            <a:srgbClr val="A4A3A4"/>
          </p15:clr>
        </p15:guide>
        <p15:guide id="4" orient="horz" pos="6262">
          <p15:clr>
            <a:srgbClr val="A4A3A4"/>
          </p15:clr>
        </p15:guide>
        <p15:guide id="5" pos="4186">
          <p15:clr>
            <a:srgbClr val="A4A3A4"/>
          </p15:clr>
        </p15:guide>
        <p15:guide id="6" pos="286">
          <p15:clr>
            <a:srgbClr val="A4A3A4"/>
          </p15:clr>
        </p15:guide>
        <p15:guide id="7" pos="830">
          <p15:clr>
            <a:srgbClr val="A4A3A4"/>
          </p15:clr>
        </p15:guide>
        <p15:guide id="8" pos="3869">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1376B4-14BF-5A53-FEDA-927CB01251CE}" name="Sinnaswamy Kausik BS (CSS ICW SW MTP)" initials="KS" userId="S::Kausik.Sinnaswamy@infineon.com::80df0b01-8066-4a75-b54a-b679c52a8cc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82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9012ECD-51FC-41F1-AA8D-1B2483CD663E}">
  <a:tblStyle styleId="{21E4AEA4-8DFA-4A89-87EB-49C32662AFE0}" styleName="Medium Style 2 - Accent 2">
    <a:wholeTbl>
      <a:tcTxStyle>
        <a:fontRef idx="minor">
          <a:prstClr val="black"/>
        </a:fontRef>
        <a:schemeClr val="dk1"/>
      </a:tcTxStyle>
      <a:tcStyle>
        <a:tcBdr>
          <a:left>
            <a:ln w="9525" cmpd="sng">
              <a:solidFill>
                <a:schemeClr val="lt1"/>
              </a:solidFill>
            </a:ln>
          </a:left>
          <a:right>
            <a:ln w="9525" cmpd="sng">
              <a:solidFill>
                <a:srgbClr val="FFFFFF"/>
              </a:solidFill>
            </a:ln>
          </a:right>
          <a:top>
            <a:ln w="9525" cmpd="sng">
              <a:solidFill>
                <a:srgbClr val="FFFFFF"/>
              </a:solidFill>
            </a:ln>
          </a:top>
          <a:bottom>
            <a:ln w="9525" cmpd="sng">
              <a:solidFill>
                <a:srgbClr val="FFFFFF"/>
              </a:solidFill>
            </a:ln>
          </a:bottom>
          <a:insideH>
            <a:ln w="9525" cmpd="sng">
              <a:solidFill>
                <a:srgbClr val="FFFFFF"/>
              </a:solidFill>
            </a:ln>
          </a:insideH>
          <a:insideV>
            <a:ln w="9525" cmpd="sng">
              <a:solidFill>
                <a:srgbClr val="FFFFFF"/>
              </a:solidFill>
            </a:ln>
          </a:insideV>
        </a:tcBdr>
        <a:fill>
          <a:solidFill>
            <a:schemeClr val="lt2"/>
          </a:solidFill>
        </a:fill>
      </a:tcStyle>
    </a:wholeTbl>
    <a:band1H>
      <a:tcStyle>
        <a:tcBdr/>
      </a:tcStyle>
    </a:band1H>
    <a:band2H>
      <a:tcTxStyle>
        <a:fontRef idx="minor">
          <a:prstClr val="white"/>
        </a:fontRef>
        <a:schemeClr val="lt1"/>
      </a:tcTxStyle>
      <a:tcStyle>
        <a:tcBdr/>
        <a:fill>
          <a:solidFill>
            <a:schemeClr val="accent2"/>
          </a:solidFill>
        </a:fill>
      </a:tcStyle>
    </a:band2H>
    <a:band1V>
      <a:tcStyle>
        <a:tcBdr/>
      </a:tcStyle>
    </a:band1V>
    <a:band2V>
      <a:tcTxStyle>
        <a:fontRef idx="minor">
          <a:prstClr val="white"/>
        </a:fontRef>
        <a:schemeClr val="lt1"/>
      </a:tcTxStyle>
      <a:tcStyle>
        <a:tcBdr/>
        <a:fill>
          <a:solidFill>
            <a:schemeClr val="accent2"/>
          </a:solidFill>
        </a:fill>
      </a:tcStyle>
    </a:band2V>
    <a:lastCol>
      <a:tcTxStyle b="on">
        <a:fontRef idx="minor">
          <a:prstClr val="white"/>
        </a:fontRef>
        <a:schemeClr val="lt1"/>
      </a:tcTxStyle>
      <a:tcStyle>
        <a:tcBdr/>
        <a:fill>
          <a:solidFill>
            <a:schemeClr val="accent2"/>
          </a:solidFill>
        </a:fill>
      </a:tcStyle>
    </a:lastCol>
    <a:firstCol>
      <a:tcTxStyle b="on">
        <a:fontRef idx="minor">
          <a:prstClr val="white"/>
        </a:fontRef>
        <a:schemeClr val="lt1"/>
      </a:tcTxStyle>
      <a:tcStyle>
        <a:tcBdr/>
        <a:fill>
          <a:solidFill>
            <a:schemeClr val="accent2"/>
          </a:solidFill>
        </a:fill>
      </a:tcStyle>
    </a:firstCol>
    <a:lastRow>
      <a:tcTxStyle b="on">
        <a:fontRef idx="minor">
          <a:prstClr val="white"/>
        </a:fontRef>
        <a:schemeClr val="lt1"/>
      </a:tcTxStyle>
      <a:tcStyle>
        <a:tcBdr/>
        <a:fill>
          <a:solidFill>
            <a:schemeClr val="accent2"/>
          </a:solidFill>
        </a:fill>
      </a:tcStyle>
    </a:lastRow>
    <a:firstRow>
      <a:tcTxStyle b="on">
        <a:fontRef idx="minor">
          <a:prstClr val="white"/>
        </a:fontRef>
        <a:schemeClr val="lt1"/>
      </a:tcTxStyle>
      <a:tcStyle>
        <a:tcBdr/>
        <a:fill>
          <a:solidFill>
            <a:schemeClr val="accent2"/>
          </a:solid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5" autoAdjust="0"/>
    <p:restoredTop sz="93584" autoAdjust="0"/>
  </p:normalViewPr>
  <p:slideViewPr>
    <p:cSldViewPr snapToObjects="1" showGuides="1">
      <p:cViewPr>
        <p:scale>
          <a:sx n="104" d="100"/>
          <a:sy n="104" d="100"/>
        </p:scale>
        <p:origin x="792" y="-54"/>
      </p:cViewPr>
      <p:guideLst>
        <p:guide pos="3840"/>
        <p:guide orient="horz" pos="216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70" d="100"/>
          <a:sy n="70" d="100"/>
        </p:scale>
        <p:origin x="2268" y="42"/>
      </p:cViewPr>
      <p:guideLst>
        <p:guide orient="horz" pos="187"/>
        <p:guide orient="horz" pos="638"/>
        <p:guide orient="horz" pos="453"/>
        <p:guide orient="horz" pos="6262"/>
        <p:guide pos="4186"/>
        <p:guide pos="286"/>
        <p:guide pos="830"/>
        <p:guide pos="3869"/>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gs" Target="tags/tag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a:t>Zephyr commit activity (last 12 months)</a:t>
            </a:r>
          </a:p>
        </c:rich>
      </c:tx>
      <c:overlay val="0"/>
      <c:spPr>
        <a:noFill/>
        <a:ln>
          <a:noFill/>
        </a:ln>
        <a:effectLst/>
      </c:spPr>
    </c:title>
    <c:autoTitleDeleted val="0"/>
    <c:plotArea>
      <c:layout/>
      <c:lineChart>
        <c:grouping val="standard"/>
        <c:varyColors val="0"/>
        <c:ser>
          <c:idx val="0"/>
          <c:order val="0"/>
          <c:tx>
            <c:strRef>
              <c:f>Sheet1!$B$1</c:f>
              <c:strCache>
                <c:ptCount val="1"/>
                <c:pt idx="0">
                  <c:v>Commits/month (approx.)</c:v>
                </c:pt>
              </c:strCache>
            </c:strRef>
          </c:tx>
          <c:spPr>
            <a:ln w="31750" cap="rnd">
              <a:solidFill>
                <a:schemeClr val="accent1"/>
              </a:solidFill>
              <a:round/>
            </a:ln>
            <a:effectLst>
              <a:outerShdw blurRad="40000" dist="23000" dir="5400000" rotWithShape="0">
                <a:srgbClr val="000000">
                  <a:alpha val="35000"/>
                </a:srgbClr>
              </a:outerShdw>
            </a:effectLst>
          </c:spPr>
          <c:marker>
            <c:symbol val="none"/>
          </c:marker>
          <c:cat>
            <c:strRef>
              <c:f>Sheet1!$A$2:$A$13</c:f>
              <c:strCache>
                <c:ptCount val="12"/>
                <c:pt idx="0">
                  <c:v>Nov '25</c:v>
                </c:pt>
                <c:pt idx="1">
                  <c:v>Dec '25</c:v>
                </c:pt>
                <c:pt idx="2">
                  <c:v>Jan '26</c:v>
                </c:pt>
                <c:pt idx="3">
                  <c:v>Feb '26</c:v>
                </c:pt>
                <c:pt idx="4">
                  <c:v>Mar '26</c:v>
                </c:pt>
                <c:pt idx="5">
                  <c:v>Apr '26</c:v>
                </c:pt>
                <c:pt idx="6">
                  <c:v>May '26</c:v>
                </c:pt>
                <c:pt idx="7">
                  <c:v>Jun '26</c:v>
                </c:pt>
                <c:pt idx="8">
                  <c:v>Jul '26</c:v>
                </c:pt>
                <c:pt idx="9">
                  <c:v>Aug '26</c:v>
                </c:pt>
                <c:pt idx="10">
                  <c:v>Sep '26</c:v>
                </c:pt>
                <c:pt idx="11">
                  <c:v>Oct '26</c:v>
                </c:pt>
              </c:strCache>
            </c:strRef>
          </c:cat>
          <c:val>
            <c:numRef>
              <c:f>Sheet1!$B$2:$B$13</c:f>
              <c:numCache>
                <c:formatCode>General</c:formatCode>
                <c:ptCount val="12"/>
                <c:pt idx="0">
                  <c:v>2164</c:v>
                </c:pt>
                <c:pt idx="1">
                  <c:v>1890</c:v>
                </c:pt>
                <c:pt idx="2">
                  <c:v>1938</c:v>
                </c:pt>
                <c:pt idx="3">
                  <c:v>1953</c:v>
                </c:pt>
                <c:pt idx="4">
                  <c:v>1943</c:v>
                </c:pt>
                <c:pt idx="5">
                  <c:v>2568</c:v>
                </c:pt>
                <c:pt idx="6">
                  <c:v>2121</c:v>
                </c:pt>
                <c:pt idx="7">
                  <c:v>2413</c:v>
                </c:pt>
                <c:pt idx="8">
                  <c:v>2973</c:v>
                </c:pt>
                <c:pt idx="9">
                  <c:v>3027</c:v>
                </c:pt>
                <c:pt idx="10">
                  <c:v>3593</c:v>
                </c:pt>
                <c:pt idx="11">
                  <c:v>2276</c:v>
                </c:pt>
              </c:numCache>
            </c:numRef>
          </c:val>
          <c:smooth val="0"/>
          <c:extLst>
            <c:ext xmlns:c16="http://schemas.microsoft.com/office/drawing/2014/chart" uri="{C3380CC4-5D6E-409C-BE32-E72D297353CC}">
              <c16:uniqueId val="{00000000-8332-492B-B2BF-171B8BAE4F52}"/>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40495176"/>
        <c:crosses val="autoZero"/>
        <c:auto val="1"/>
        <c:lblAlgn val="ctr"/>
        <c:lblOffset val="100"/>
        <c:noMultiLvlLbl val="0"/>
      </c:catAx>
      <c:valAx>
        <c:axId val="2140495176"/>
        <c:scaling>
          <c:orientation val="minMax"/>
        </c:scaling>
        <c:delete val="0"/>
        <c:axPos val="l"/>
        <c:majorGridlines>
          <c:spPr>
            <a:ln w="9525" cap="flat" cmpd="sng" algn="ctr">
              <a:solidFill>
                <a:schemeClr val="tx2">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21187917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a:t>GitHub reach: zephyrproject-rtos/zephyr</a:t>
            </a:r>
          </a:p>
        </c:rich>
      </c:tx>
      <c:overlay val="0"/>
      <c:spPr>
        <a:noFill/>
        <a:ln>
          <a:noFill/>
        </a:ln>
        <a:effectLst/>
      </c:spPr>
    </c:title>
    <c:autoTitleDeleted val="0"/>
    <c:plotArea>
      <c:layout/>
      <c:barChart>
        <c:barDir val="col"/>
        <c:grouping val="clustered"/>
        <c:varyColors val="1"/>
        <c:ser>
          <c:idx val="0"/>
          <c:order val="0"/>
          <c:tx>
            <c:strRef>
              <c:f>Sheet1!$B$1</c:f>
              <c:strCache>
                <c:ptCount val="1"/>
                <c:pt idx="0">
                  <c:v>Count (as of Oct 2026)</c:v>
                </c:pt>
              </c:strCache>
            </c:strRef>
          </c:tx>
          <c:invertIfNegative val="1"/>
          <c:dPt>
            <c:idx val="0"/>
            <c:invertIfNegative val="1"/>
            <c:bubble3D val="0"/>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1-5517-4B32-866A-36F0250C40D4}"/>
              </c:ext>
            </c:extLst>
          </c:dPt>
          <c:dPt>
            <c:idx val="1"/>
            <c:invertIfNegative val="1"/>
            <c:bubble3D val="0"/>
            <c:spPr>
              <a:gradFill>
                <a:gsLst>
                  <a:gs pos="0">
                    <a:schemeClr val="accent2"/>
                  </a:gs>
                  <a:gs pos="100000">
                    <a:schemeClr val="accent2">
                      <a:lumMod val="84000"/>
                    </a:schemeClr>
                  </a:gs>
                </a:gsLst>
                <a:lin ang="5400000" scaled="1"/>
              </a:gradFill>
              <a:ln>
                <a:noFill/>
              </a:ln>
              <a:effectLst>
                <a:outerShdw blurRad="76200" dir="18900000" sy="23000" kx="-1200000" algn="bl" rotWithShape="0">
                  <a:prstClr val="black">
                    <a:alpha val="20000"/>
                  </a:prstClr>
                </a:outerShdw>
              </a:effectLst>
            </c:spPr>
            <c:extLst>
              <c:ext xmlns:c16="http://schemas.microsoft.com/office/drawing/2014/chart" uri="{C3380CC4-5D6E-409C-BE32-E72D297353CC}">
                <c16:uniqueId val="{00000003-5517-4B32-866A-36F0250C40D4}"/>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Stars</c:v>
                </c:pt>
                <c:pt idx="1">
                  <c:v>Forks</c:v>
                </c:pt>
              </c:strCache>
            </c:strRef>
          </c:cat>
          <c:val>
            <c:numRef>
              <c:f>Sheet1!$B$2:$B$3</c:f>
              <c:numCache>
                <c:formatCode>General</c:formatCode>
                <c:ptCount val="2"/>
                <c:pt idx="0">
                  <c:v>16756</c:v>
                </c:pt>
                <c:pt idx="1">
                  <c:v>10158</c:v>
                </c:pt>
              </c:numCache>
            </c:numRef>
          </c:val>
          <c:extLst>
            <c:ext xmlns:c16="http://schemas.microsoft.com/office/drawing/2014/chart" uri="{C3380CC4-5D6E-409C-BE32-E72D297353CC}">
              <c16:uniqueId val="{00000000-AB65-44A8-B8C2-5510D0A44F20}"/>
            </c:ext>
          </c:extLst>
        </c:ser>
        <c:dLbls>
          <c:dLblPos val="inEnd"/>
          <c:showLegendKey val="0"/>
          <c:showVal val="1"/>
          <c:showCatName val="0"/>
          <c:showSerName val="0"/>
          <c:showPercent val="0"/>
          <c:showBubbleSize val="0"/>
        </c:dLbls>
        <c:gapWidth val="41"/>
        <c:axId val="-2068027336"/>
        <c:axId val="-2113994440"/>
      </c:barChart>
      <c:catAx>
        <c:axId val="-2068027336"/>
        <c:scaling>
          <c:orientation val="minMax"/>
        </c:scaling>
        <c:delete val="0"/>
        <c:axPos val="b"/>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2113994440"/>
        <c:crosses val="autoZero"/>
        <c:auto val="1"/>
        <c:lblAlgn val="ctr"/>
        <c:lblOffset val="100"/>
        <c:noMultiLvlLbl val="0"/>
      </c:catAx>
      <c:valAx>
        <c:axId val="-2113994440"/>
        <c:scaling>
          <c:orientation val="minMax"/>
        </c:scaling>
        <c:delete val="1"/>
        <c:axPos val="l"/>
        <c:numFmt formatCode="General" sourceLinked="1"/>
        <c:majorTickMark val="none"/>
        <c:minorTickMark val="none"/>
        <c:tickLblPos val="nextTo"/>
        <c:crossAx val="-2068027336"/>
        <c:crosses val="autoZero"/>
        <c:crossBetween val="between"/>
      </c:valAx>
      <c:spPr>
        <a:noFill/>
        <a:ln>
          <a:noFill/>
        </a:ln>
        <a:effectLst/>
      </c:spPr>
    </c:plotArea>
    <c:plotVisOnly val="1"/>
    <c:dispBlanksAs val="gap"/>
    <c:showDLblsOverMax val="1"/>
  </c:chart>
  <c:spPr>
    <a:noFill/>
    <a:ln w="9525" cap="flat" cmpd="sng" algn="ctr">
      <a:noFill/>
      <a:round/>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January 2026</c:v>
                </c:pt>
              </c:strCache>
            </c:strRef>
          </c:tx>
          <c:dPt>
            <c:idx val="0"/>
            <c:bubble3D val="0"/>
            <c:spPr>
              <a:solidFill>
                <a:srgbClr val="2E75B6"/>
              </a:solidFill>
              <a:ln w="12700">
                <a:solidFill>
                  <a:srgbClr val="FFFFFF"/>
                </a:solidFill>
              </a:ln>
            </c:spPr>
            <c:extLst>
              <c:ext xmlns:c16="http://schemas.microsoft.com/office/drawing/2014/chart" uri="{C3380CC4-5D6E-409C-BE32-E72D297353CC}">
                <c16:uniqueId val="{00000001-6F3B-4985-BEF1-BF6E67E5CE3A}"/>
              </c:ext>
            </c:extLst>
          </c:dPt>
          <c:dPt>
            <c:idx val="1"/>
            <c:bubble3D val="0"/>
            <c:spPr>
              <a:solidFill>
                <a:srgbClr val="2FB380"/>
              </a:solidFill>
              <a:ln w="12700">
                <a:solidFill>
                  <a:srgbClr val="FFFFFF"/>
                </a:solidFill>
              </a:ln>
            </c:spPr>
            <c:extLst>
              <c:ext xmlns:c16="http://schemas.microsoft.com/office/drawing/2014/chart" uri="{C3380CC4-5D6E-409C-BE32-E72D297353CC}">
                <c16:uniqueId val="{00000003-6F3B-4985-BEF1-BF6E67E5CE3A}"/>
              </c:ext>
            </c:extLst>
          </c:dPt>
          <c:dPt>
            <c:idx val="2"/>
            <c:bubble3D val="0"/>
            <c:spPr>
              <a:solidFill>
                <a:srgbClr val="E8554E"/>
              </a:solidFill>
              <a:ln w="12700">
                <a:solidFill>
                  <a:srgbClr val="FFFFFF"/>
                </a:solidFill>
              </a:ln>
            </c:spPr>
            <c:extLst>
              <c:ext xmlns:c16="http://schemas.microsoft.com/office/drawing/2014/chart" uri="{C3380CC4-5D6E-409C-BE32-E72D297353CC}">
                <c16:uniqueId val="{00000005-6F3B-4985-BEF1-BF6E67E5CE3A}"/>
              </c:ext>
            </c:extLst>
          </c:dPt>
          <c:dPt>
            <c:idx val="3"/>
            <c:bubble3D val="0"/>
            <c:spPr>
              <a:solidFill>
                <a:srgbClr val="7B61FF"/>
              </a:solidFill>
              <a:ln w="12700">
                <a:solidFill>
                  <a:srgbClr val="FFFFFF"/>
                </a:solidFill>
              </a:ln>
            </c:spPr>
            <c:extLst>
              <c:ext xmlns:c16="http://schemas.microsoft.com/office/drawing/2014/chart" uri="{C3380CC4-5D6E-409C-BE32-E72D297353CC}">
                <c16:uniqueId val="{00000007-6F3B-4985-BEF1-BF6E67E5CE3A}"/>
              </c:ext>
            </c:extLst>
          </c:dPt>
          <c:dPt>
            <c:idx val="4"/>
            <c:bubble3D val="0"/>
            <c:spPr>
              <a:solidFill>
                <a:srgbClr val="35C7C0"/>
              </a:solidFill>
              <a:ln w="12700">
                <a:solidFill>
                  <a:srgbClr val="FFFFFF"/>
                </a:solidFill>
              </a:ln>
            </c:spPr>
            <c:extLst>
              <c:ext xmlns:c16="http://schemas.microsoft.com/office/drawing/2014/chart" uri="{C3380CC4-5D6E-409C-BE32-E72D297353CC}">
                <c16:uniqueId val="{00000009-6F3B-4985-BEF1-BF6E67E5CE3A}"/>
              </c:ext>
            </c:extLst>
          </c:dPt>
          <c:dPt>
            <c:idx val="5"/>
            <c:bubble3D val="0"/>
            <c:spPr>
              <a:solidFill>
                <a:srgbClr val="F2C94C"/>
              </a:solidFill>
              <a:ln w="12700">
                <a:solidFill>
                  <a:srgbClr val="FFFFFF"/>
                </a:solidFill>
              </a:ln>
            </c:spPr>
            <c:extLst>
              <c:ext xmlns:c16="http://schemas.microsoft.com/office/drawing/2014/chart" uri="{C3380CC4-5D6E-409C-BE32-E72D297353CC}">
                <c16:uniqueId val="{0000000B-6F3B-4985-BEF1-BF6E67E5CE3A}"/>
              </c:ext>
            </c:extLst>
          </c:dPt>
          <c:cat>
            <c:strRef>
              <c:f>Sheet1!$A$2:$A$7</c:f>
              <c:strCache>
                <c:ptCount val="6"/>
                <c:pt idx="0">
                  <c:v>Zephyr Project</c:v>
                </c:pt>
                <c:pt idx="1">
                  <c:v>FreeRTOS</c:v>
                </c:pt>
                <c:pt idx="2">
                  <c:v>ThreadX</c:v>
                </c:pt>
                <c:pt idx="3">
                  <c:v>ARM Mbed</c:v>
                </c:pt>
                <c:pt idx="4">
                  <c:v>RIOT</c:v>
                </c:pt>
                <c:pt idx="5">
                  <c:v>NuttX</c:v>
                </c:pt>
              </c:strCache>
            </c:strRef>
          </c:cat>
          <c:val>
            <c:numRef>
              <c:f>Sheet1!$B$2:$B$7</c:f>
              <c:numCache>
                <c:formatCode>General</c:formatCode>
                <c:ptCount val="6"/>
                <c:pt idx="0">
                  <c:v>984</c:v>
                </c:pt>
                <c:pt idx="1">
                  <c:v>570</c:v>
                </c:pt>
                <c:pt idx="2">
                  <c:v>59</c:v>
                </c:pt>
                <c:pt idx="3">
                  <c:v>3</c:v>
                </c:pt>
                <c:pt idx="4">
                  <c:v>7</c:v>
                </c:pt>
                <c:pt idx="5">
                  <c:v>7</c:v>
                </c:pt>
              </c:numCache>
            </c:numRef>
          </c:val>
          <c:extLst>
            <c:ext xmlns:c16="http://schemas.microsoft.com/office/drawing/2014/chart" uri="{C3380CC4-5D6E-409C-BE32-E72D297353CC}">
              <c16:uniqueId val="{0000000C-6F3B-4985-BEF1-BF6E67E5CE3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February 2026</c:v>
                </c:pt>
              </c:strCache>
            </c:strRef>
          </c:tx>
          <c:dPt>
            <c:idx val="0"/>
            <c:bubble3D val="0"/>
            <c:spPr>
              <a:solidFill>
                <a:srgbClr val="2E75B6"/>
              </a:solidFill>
              <a:ln w="12700">
                <a:solidFill>
                  <a:srgbClr val="FFFFFF"/>
                </a:solidFill>
              </a:ln>
            </c:spPr>
            <c:extLst>
              <c:ext xmlns:c16="http://schemas.microsoft.com/office/drawing/2014/chart" uri="{C3380CC4-5D6E-409C-BE32-E72D297353CC}">
                <c16:uniqueId val="{00000001-E9DF-43A0-AC43-B356D5940BEC}"/>
              </c:ext>
            </c:extLst>
          </c:dPt>
          <c:dPt>
            <c:idx val="1"/>
            <c:bubble3D val="0"/>
            <c:spPr>
              <a:solidFill>
                <a:srgbClr val="2FB380"/>
              </a:solidFill>
              <a:ln w="12700">
                <a:solidFill>
                  <a:srgbClr val="FFFFFF"/>
                </a:solidFill>
              </a:ln>
            </c:spPr>
            <c:extLst>
              <c:ext xmlns:c16="http://schemas.microsoft.com/office/drawing/2014/chart" uri="{C3380CC4-5D6E-409C-BE32-E72D297353CC}">
                <c16:uniqueId val="{00000003-E9DF-43A0-AC43-B356D5940BEC}"/>
              </c:ext>
            </c:extLst>
          </c:dPt>
          <c:dPt>
            <c:idx val="2"/>
            <c:bubble3D val="0"/>
            <c:spPr>
              <a:solidFill>
                <a:srgbClr val="E8554E"/>
              </a:solidFill>
              <a:ln w="12700">
                <a:solidFill>
                  <a:srgbClr val="FFFFFF"/>
                </a:solidFill>
              </a:ln>
            </c:spPr>
            <c:extLst>
              <c:ext xmlns:c16="http://schemas.microsoft.com/office/drawing/2014/chart" uri="{C3380CC4-5D6E-409C-BE32-E72D297353CC}">
                <c16:uniqueId val="{00000005-E9DF-43A0-AC43-B356D5940BEC}"/>
              </c:ext>
            </c:extLst>
          </c:dPt>
          <c:dPt>
            <c:idx val="3"/>
            <c:bubble3D val="0"/>
            <c:spPr>
              <a:solidFill>
                <a:srgbClr val="7B61FF"/>
              </a:solidFill>
              <a:ln w="12700">
                <a:solidFill>
                  <a:srgbClr val="FFFFFF"/>
                </a:solidFill>
              </a:ln>
            </c:spPr>
            <c:extLst>
              <c:ext xmlns:c16="http://schemas.microsoft.com/office/drawing/2014/chart" uri="{C3380CC4-5D6E-409C-BE32-E72D297353CC}">
                <c16:uniqueId val="{00000007-E9DF-43A0-AC43-B356D5940BEC}"/>
              </c:ext>
            </c:extLst>
          </c:dPt>
          <c:dPt>
            <c:idx val="4"/>
            <c:bubble3D val="0"/>
            <c:spPr>
              <a:solidFill>
                <a:srgbClr val="35C7C0"/>
              </a:solidFill>
              <a:ln w="12700">
                <a:solidFill>
                  <a:srgbClr val="FFFFFF"/>
                </a:solidFill>
              </a:ln>
            </c:spPr>
            <c:extLst>
              <c:ext xmlns:c16="http://schemas.microsoft.com/office/drawing/2014/chart" uri="{C3380CC4-5D6E-409C-BE32-E72D297353CC}">
                <c16:uniqueId val="{00000009-E9DF-43A0-AC43-B356D5940BEC}"/>
              </c:ext>
            </c:extLst>
          </c:dPt>
          <c:dPt>
            <c:idx val="5"/>
            <c:bubble3D val="0"/>
            <c:spPr>
              <a:solidFill>
                <a:srgbClr val="F2C94C"/>
              </a:solidFill>
              <a:ln w="12700">
                <a:solidFill>
                  <a:srgbClr val="FFFFFF"/>
                </a:solidFill>
              </a:ln>
            </c:spPr>
            <c:extLst>
              <c:ext xmlns:c16="http://schemas.microsoft.com/office/drawing/2014/chart" uri="{C3380CC4-5D6E-409C-BE32-E72D297353CC}">
                <c16:uniqueId val="{0000000B-E9DF-43A0-AC43-B356D5940BEC}"/>
              </c:ext>
            </c:extLst>
          </c:dPt>
          <c:cat>
            <c:strRef>
              <c:f>Sheet1!$A$2:$A$7</c:f>
              <c:strCache>
                <c:ptCount val="6"/>
                <c:pt idx="0">
                  <c:v>Zephyr Project</c:v>
                </c:pt>
                <c:pt idx="1">
                  <c:v>FreeRTOS</c:v>
                </c:pt>
                <c:pt idx="2">
                  <c:v>ThreadX</c:v>
                </c:pt>
                <c:pt idx="3">
                  <c:v>ARM Mbed</c:v>
                </c:pt>
                <c:pt idx="4">
                  <c:v>RIOT</c:v>
                </c:pt>
                <c:pt idx="5">
                  <c:v>NuttX</c:v>
                </c:pt>
              </c:strCache>
            </c:strRef>
          </c:cat>
          <c:val>
            <c:numRef>
              <c:f>Sheet1!$B$2:$B$7</c:f>
              <c:numCache>
                <c:formatCode>General</c:formatCode>
                <c:ptCount val="6"/>
                <c:pt idx="0">
                  <c:v>1100</c:v>
                </c:pt>
                <c:pt idx="1">
                  <c:v>261</c:v>
                </c:pt>
                <c:pt idx="2">
                  <c:v>11</c:v>
                </c:pt>
                <c:pt idx="3">
                  <c:v>0</c:v>
                </c:pt>
                <c:pt idx="4">
                  <c:v>4</c:v>
                </c:pt>
                <c:pt idx="5">
                  <c:v>3</c:v>
                </c:pt>
              </c:numCache>
            </c:numRef>
          </c:val>
          <c:extLst>
            <c:ext xmlns:c16="http://schemas.microsoft.com/office/drawing/2014/chart" uri="{C3380CC4-5D6E-409C-BE32-E72D297353CC}">
              <c16:uniqueId val="{0000000C-E9DF-43A0-AC43-B356D5940BEC}"/>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March 2026</c:v>
                </c:pt>
              </c:strCache>
            </c:strRef>
          </c:tx>
          <c:dPt>
            <c:idx val="0"/>
            <c:bubble3D val="0"/>
            <c:spPr>
              <a:solidFill>
                <a:srgbClr val="2E75B6"/>
              </a:solidFill>
              <a:ln w="12700">
                <a:solidFill>
                  <a:srgbClr val="FFFFFF"/>
                </a:solidFill>
              </a:ln>
            </c:spPr>
            <c:extLst>
              <c:ext xmlns:c16="http://schemas.microsoft.com/office/drawing/2014/chart" uri="{C3380CC4-5D6E-409C-BE32-E72D297353CC}">
                <c16:uniqueId val="{00000001-B94D-4804-AF8D-A65D291D3EC2}"/>
              </c:ext>
            </c:extLst>
          </c:dPt>
          <c:dPt>
            <c:idx val="1"/>
            <c:bubble3D val="0"/>
            <c:spPr>
              <a:solidFill>
                <a:srgbClr val="2FB380"/>
              </a:solidFill>
              <a:ln w="12700">
                <a:solidFill>
                  <a:srgbClr val="FFFFFF"/>
                </a:solidFill>
              </a:ln>
            </c:spPr>
            <c:extLst>
              <c:ext xmlns:c16="http://schemas.microsoft.com/office/drawing/2014/chart" uri="{C3380CC4-5D6E-409C-BE32-E72D297353CC}">
                <c16:uniqueId val="{00000003-B94D-4804-AF8D-A65D291D3EC2}"/>
              </c:ext>
            </c:extLst>
          </c:dPt>
          <c:dPt>
            <c:idx val="2"/>
            <c:bubble3D val="0"/>
            <c:spPr>
              <a:solidFill>
                <a:srgbClr val="E8554E"/>
              </a:solidFill>
              <a:ln w="12700">
                <a:solidFill>
                  <a:srgbClr val="FFFFFF"/>
                </a:solidFill>
              </a:ln>
            </c:spPr>
            <c:extLst>
              <c:ext xmlns:c16="http://schemas.microsoft.com/office/drawing/2014/chart" uri="{C3380CC4-5D6E-409C-BE32-E72D297353CC}">
                <c16:uniqueId val="{00000005-B94D-4804-AF8D-A65D291D3EC2}"/>
              </c:ext>
            </c:extLst>
          </c:dPt>
          <c:dPt>
            <c:idx val="3"/>
            <c:bubble3D val="0"/>
            <c:spPr>
              <a:solidFill>
                <a:srgbClr val="7B61FF"/>
              </a:solidFill>
              <a:ln w="12700">
                <a:solidFill>
                  <a:srgbClr val="FFFFFF"/>
                </a:solidFill>
              </a:ln>
            </c:spPr>
            <c:extLst>
              <c:ext xmlns:c16="http://schemas.microsoft.com/office/drawing/2014/chart" uri="{C3380CC4-5D6E-409C-BE32-E72D297353CC}">
                <c16:uniqueId val="{00000007-B94D-4804-AF8D-A65D291D3EC2}"/>
              </c:ext>
            </c:extLst>
          </c:dPt>
          <c:dPt>
            <c:idx val="4"/>
            <c:bubble3D val="0"/>
            <c:spPr>
              <a:solidFill>
                <a:srgbClr val="35C7C0"/>
              </a:solidFill>
              <a:ln w="12700">
                <a:solidFill>
                  <a:srgbClr val="FFFFFF"/>
                </a:solidFill>
              </a:ln>
            </c:spPr>
            <c:extLst>
              <c:ext xmlns:c16="http://schemas.microsoft.com/office/drawing/2014/chart" uri="{C3380CC4-5D6E-409C-BE32-E72D297353CC}">
                <c16:uniqueId val="{00000009-B94D-4804-AF8D-A65D291D3EC2}"/>
              </c:ext>
            </c:extLst>
          </c:dPt>
          <c:dPt>
            <c:idx val="5"/>
            <c:bubble3D val="0"/>
            <c:spPr>
              <a:solidFill>
                <a:srgbClr val="F2C94C"/>
              </a:solidFill>
              <a:ln w="12700">
                <a:solidFill>
                  <a:srgbClr val="FFFFFF"/>
                </a:solidFill>
              </a:ln>
            </c:spPr>
            <c:extLst>
              <c:ext xmlns:c16="http://schemas.microsoft.com/office/drawing/2014/chart" uri="{C3380CC4-5D6E-409C-BE32-E72D297353CC}">
                <c16:uniqueId val="{0000000B-B94D-4804-AF8D-A65D291D3EC2}"/>
              </c:ext>
            </c:extLst>
          </c:dPt>
          <c:cat>
            <c:strRef>
              <c:f>Sheet1!$A$2:$A$7</c:f>
              <c:strCache>
                <c:ptCount val="6"/>
                <c:pt idx="0">
                  <c:v>Zephyr Project</c:v>
                </c:pt>
                <c:pt idx="1">
                  <c:v>FreeRTOS</c:v>
                </c:pt>
                <c:pt idx="2">
                  <c:v>ThreadX</c:v>
                </c:pt>
                <c:pt idx="3">
                  <c:v>ARM Mbed</c:v>
                </c:pt>
                <c:pt idx="4">
                  <c:v>RIOT</c:v>
                </c:pt>
                <c:pt idx="5">
                  <c:v>NuttX</c:v>
                </c:pt>
              </c:strCache>
            </c:strRef>
          </c:cat>
          <c:val>
            <c:numRef>
              <c:f>Sheet1!$B$2:$B$7</c:f>
              <c:numCache>
                <c:formatCode>General</c:formatCode>
                <c:ptCount val="6"/>
                <c:pt idx="0">
                  <c:v>662</c:v>
                </c:pt>
                <c:pt idx="1">
                  <c:v>609</c:v>
                </c:pt>
                <c:pt idx="2">
                  <c:v>181</c:v>
                </c:pt>
                <c:pt idx="3">
                  <c:v>5</c:v>
                </c:pt>
                <c:pt idx="4">
                  <c:v>5</c:v>
                </c:pt>
                <c:pt idx="5">
                  <c:v>0</c:v>
                </c:pt>
              </c:numCache>
            </c:numRef>
          </c:val>
          <c:extLst>
            <c:ext xmlns:c16="http://schemas.microsoft.com/office/drawing/2014/chart" uri="{C3380CC4-5D6E-409C-BE32-E72D297353CC}">
              <c16:uniqueId val="{0000000C-B94D-4804-AF8D-A65D291D3EC2}"/>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8" Type="http://schemas.openxmlformats.org/officeDocument/2006/relationships/tags" Target="../tags/tag211.xml"/><Relationship Id="rId3" Type="http://schemas.openxmlformats.org/officeDocument/2006/relationships/tags" Target="../tags/tag206.xml"/><Relationship Id="rId7" Type="http://schemas.openxmlformats.org/officeDocument/2006/relationships/tags" Target="../tags/tag210.xml"/><Relationship Id="rId12" Type="http://schemas.openxmlformats.org/officeDocument/2006/relationships/image" Target="../media/image10.png"/><Relationship Id="rId2" Type="http://schemas.openxmlformats.org/officeDocument/2006/relationships/tags" Target="../tags/tag205.xml"/><Relationship Id="rId1" Type="http://schemas.openxmlformats.org/officeDocument/2006/relationships/theme" Target="../theme/theme3.xml"/><Relationship Id="rId6" Type="http://schemas.openxmlformats.org/officeDocument/2006/relationships/tags" Target="../tags/tag209.xml"/><Relationship Id="rId11" Type="http://schemas.openxmlformats.org/officeDocument/2006/relationships/tags" Target="../tags/tag214.xml"/><Relationship Id="rId5" Type="http://schemas.openxmlformats.org/officeDocument/2006/relationships/tags" Target="../tags/tag208.xml"/><Relationship Id="rId10" Type="http://schemas.openxmlformats.org/officeDocument/2006/relationships/tags" Target="../tags/tag213.xml"/><Relationship Id="rId4" Type="http://schemas.openxmlformats.org/officeDocument/2006/relationships/tags" Target="../tags/tag207.xml"/><Relationship Id="rId9" Type="http://schemas.openxmlformats.org/officeDocument/2006/relationships/tags" Target="../tags/tag2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200">
                <a:latin typeface="Tahoma" pitchFamily="34" charset="0"/>
              </a:defRPr>
            </a:lvl1pPr>
          </a:lstStyle>
          <a:p>
            <a:endParaRPr lang="en-US" sz="100" dirty="0">
              <a:noFill/>
              <a:latin typeface="Arial" panose="020B0604020202020204" pitchFamily="34" charset="0"/>
              <a:cs typeface="Arial" panose="020B0604020202020204" pitchFamily="34" charset="0"/>
            </a:endParaRPr>
          </a:p>
        </p:txBody>
      </p:sp>
      <p:sp>
        <p:nvSpPr>
          <p:cNvPr id="7" name="Footer Placeholder" hidden="1"/>
          <p:cNvSpPr>
            <a:spLocks noGrp="1"/>
          </p:cNvSpPr>
          <p:nvPr>
            <p:ph type="ftr" sz="quarter" idx="2"/>
            <p:custDataLst>
              <p:tags r:id="rId3"/>
            </p:custDataLst>
          </p:nvPr>
        </p:nvSpPr>
        <p:spPr>
          <a:xfrm>
            <a:off x="7099300" y="10234613"/>
            <a:ext cx="0" cy="0"/>
          </a:xfrm>
          <a:prstGeom prst="rect">
            <a:avLst/>
          </a:prstGeom>
        </p:spPr>
        <p:txBody>
          <a:bodyPr vert="horz" lIns="91440" tIns="45720" rIns="91440" bIns="45720" rtlCol="0" anchor="ctr"/>
          <a:lstStyle>
            <a:lvl1pPr algn="l">
              <a:defRPr sz="1200"/>
            </a:lvl1pPr>
          </a:lstStyle>
          <a:p>
            <a:pPr algn="ctr"/>
            <a:r>
              <a:rPr lang="en-US" sz="100" dirty="0">
                <a:noFill/>
                <a:latin typeface="Arial" panose="020B0604020202020204" pitchFamily="34" charset="0"/>
                <a:ea typeface="Verdana" pitchFamily="34" charset="0"/>
                <a:cs typeface="Arial" panose="020B0604020202020204" pitchFamily="34" charset="0"/>
              </a:rPr>
              <a:t>Copyright © Infineon Technologies AG 2020. All rights reserved.</a:t>
            </a:r>
          </a:p>
          <a:p>
            <a:pPr algn="ctr"/>
            <a:r>
              <a:rPr lang="en-US" sz="100" b="1" dirty="0">
                <a:noFill/>
                <a:latin typeface="Arial" panose="020B0604020202020204" pitchFamily="34" charset="0"/>
                <a:ea typeface="Verdana" pitchFamily="34" charset="0"/>
                <a:cs typeface="Arial" panose="020B0604020202020204" pitchFamily="34" charset="0"/>
              </a:rPr>
              <a:t>restricted</a:t>
            </a:r>
          </a:p>
        </p:txBody>
      </p:sp>
      <p:sp>
        <p:nvSpPr>
          <p:cNvPr id="9" name="Date Placeholder" hidden="1"/>
          <p:cNvSpPr>
            <a:spLocks noGrp="1"/>
          </p:cNvSpPr>
          <p:nvPr>
            <p:ph type="dt" sz="quarter" idx="1"/>
            <p:custDataLst>
              <p:tags r:id="rId4"/>
            </p:custDataLst>
          </p:nvPr>
        </p:nvSpPr>
        <p:spPr>
          <a:xfrm>
            <a:off x="7099300" y="10234613"/>
            <a:ext cx="0" cy="0"/>
          </a:xfrm>
          <a:prstGeom prst="rect">
            <a:avLst/>
          </a:prstGeom>
        </p:spPr>
        <p:txBody>
          <a:bodyPr vert="horz" lIns="91440" tIns="45720" rIns="91440" bIns="45720" rtlCol="0" anchor="ctr"/>
          <a:lstStyle>
            <a:lvl1pPr algn="r">
              <a:defRPr sz="1200"/>
            </a:lvl1pPr>
          </a:lstStyle>
          <a:p>
            <a:pPr algn="l"/>
            <a:r>
              <a:rPr lang="en-US" sz="100" dirty="0">
                <a:noFill/>
                <a:latin typeface="Arial" panose="020B0604020202020204" pitchFamily="34" charset="0"/>
                <a:ea typeface="Verdana" pitchFamily="34" charset="0"/>
                <a:cs typeface="Arial" panose="020B0604020202020204" pitchFamily="34" charset="0"/>
              </a:rPr>
              <a:t>2020-09-28</a:t>
            </a:r>
          </a:p>
          <a:p>
            <a:pPr algn="l"/>
            <a:endParaRPr lang="en-US" sz="100" dirty="0">
              <a:noFill/>
              <a:latin typeface="Arial" panose="020B0604020202020204" pitchFamily="34" charset="0"/>
              <a:ea typeface="Verdana" pitchFamily="34" charset="0"/>
              <a:cs typeface="Arial" panose="020B0604020202020204" pitchFamily="34" charset="0"/>
            </a:endParaRPr>
          </a:p>
        </p:txBody>
      </p:sp>
      <p:sp>
        <p:nvSpPr>
          <p:cNvPr id="10" name="Slide Number Placeholder"/>
          <p:cNvSpPr>
            <a:spLocks noGrp="1"/>
          </p:cNvSpPr>
          <p:nvPr>
            <p:ph type="sldNum" sz="quarter" idx="3"/>
          </p:nvPr>
        </p:nvSpPr>
        <p:spPr>
          <a:xfrm>
            <a:off x="5997922" y="9833798"/>
            <a:ext cx="612000" cy="288000"/>
          </a:xfrm>
          <a:prstGeom prst="rect">
            <a:avLst/>
          </a:prstGeom>
        </p:spPr>
        <p:txBody>
          <a:bodyPr vert="horz" lIns="0" tIns="0" rIns="0" bIns="0" rtlCol="0" anchor="ctr"/>
          <a:lstStyle>
            <a:lvl1pPr algn="r">
              <a:defRPr sz="1200"/>
            </a:lvl1pPr>
          </a:lstStyle>
          <a:p>
            <a:fld id="{4F5EA4BF-E9AE-43AF-B3B0-E8B2B4D213BF}" type="slidenum">
              <a:rPr lang="en-US" sz="800">
                <a:solidFill>
                  <a:srgbClr val="928285"/>
                </a:solidFill>
                <a:latin typeface="Arial" panose="020B0604020202020204" pitchFamily="34" charset="0"/>
                <a:ea typeface="Verdana" pitchFamily="34" charset="0"/>
                <a:cs typeface="Arial" panose="020B0604020202020204" pitchFamily="34" charset="0"/>
              </a:rPr>
              <a:pPr/>
              <a:t>‹#›</a:t>
            </a:fld>
            <a:endParaRPr lang="en-US" sz="80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AB77BC53-8E05-4977-B193-6A6AD69A870A}"/>
              </a:ext>
            </a:extLst>
          </p:cNvPr>
          <p:cNvSpPr txBox="1"/>
          <p:nvPr userDrawn="1">
            <p:custDataLst>
              <p:tags r:id="rId5"/>
            </p:custDataLst>
          </p:nvPr>
        </p:nvSpPr>
        <p:spPr bwMode="auto">
          <a:xfrm>
            <a:off x="489310"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8A3F532B-9233-4B6C-A1AE-20F78C1A46B8}"/>
              </a:ext>
            </a:extLst>
          </p:cNvPr>
          <p:cNvSpPr txBox="1"/>
          <p:nvPr userDrawn="1">
            <p:custDataLst>
              <p:tags r:id="rId6"/>
            </p:custDataLst>
          </p:nvPr>
        </p:nvSpPr>
        <p:spPr bwMode="auto">
          <a:xfrm>
            <a:off x="5637922"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707F235E-2AB2-45AA-AAE4-3CA5D9E6B283}"/>
              </a:ext>
            </a:extLst>
          </p:cNvPr>
          <p:cNvSpPr txBox="1"/>
          <p:nvPr userDrawn="1">
            <p:custDataLst>
              <p:tags r:id="rId7"/>
            </p:custDataLst>
          </p:nvPr>
        </p:nvSpPr>
        <p:spPr bwMode="auto">
          <a:xfrm>
            <a:off x="489310"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5B6337D7-EF4A-437B-98C9-7A76CBDDE797}"/>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6" name="empower_classification_attention_placeholder" hidden="1">
            <a:extLst>
              <a:ext uri="{FF2B5EF4-FFF2-40B4-BE49-F238E27FC236}">
                <a16:creationId xmlns:a16="http://schemas.microsoft.com/office/drawing/2014/main" id="{07AA87B6-2D72-4228-A7D0-DDCA437050BF}"/>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6" name="empower_classification_placeholder">
            <a:extLst>
              <a:ext uri="{FF2B5EF4-FFF2-40B4-BE49-F238E27FC236}">
                <a16:creationId xmlns:a16="http://schemas.microsoft.com/office/drawing/2014/main" id="{162FD7ED-CC36-4F26-ADD4-95B9EFF2AE3D}"/>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14" name="empower_date_placeholder">
            <a:extLst>
              <a:ext uri="{FF2B5EF4-FFF2-40B4-BE49-F238E27FC236}">
                <a16:creationId xmlns:a16="http://schemas.microsoft.com/office/drawing/2014/main" id="{17C46F5C-5E8F-4CC2-80E6-B88261E13B5B}"/>
              </a:ext>
            </a:extLst>
          </p:cNvPr>
          <p:cNvSpPr txBox="1"/>
          <p:nvPr userDrawn="1">
            <p:custDataLst>
              <p:tags r:id="rId11"/>
            </p:custDataLst>
          </p:nvPr>
        </p:nvSpPr>
        <p:spPr bwMode="auto">
          <a:xfrm>
            <a:off x="489309"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2025-09-03</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26"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359428692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0.png"/><Relationship Id="rId2" Type="http://schemas.openxmlformats.org/officeDocument/2006/relationships/tags" Target="../tags/tag195.xml"/><Relationship Id="rId1" Type="http://schemas.openxmlformats.org/officeDocument/2006/relationships/theme" Target="../theme/theme2.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0" Type="http://schemas.openxmlformats.org/officeDocument/2006/relationships/tags" Target="../tags/tag203.xml"/><Relationship Id="rId4" Type="http://schemas.openxmlformats.org/officeDocument/2006/relationships/tags" Target="../tags/tag197.xml"/><Relationship Id="rId9" Type="http://schemas.openxmlformats.org/officeDocument/2006/relationships/tags" Target="../tags/tag20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6" name="Slide"/>
          <p:cNvSpPr>
            <a:spLocks noGrp="1" noRot="1" noChangeAspect="1" noChangeArrowheads="1" noTextEdit="1"/>
          </p:cNvSpPr>
          <p:nvPr>
            <p:ph type="sldImg" idx="2"/>
          </p:nvPr>
        </p:nvSpPr>
        <p:spPr bwMode="auto">
          <a:xfrm>
            <a:off x="454025" y="1012825"/>
            <a:ext cx="6191250" cy="3482975"/>
          </a:xfrm>
          <a:prstGeom prst="rect">
            <a:avLst/>
          </a:prstGeom>
          <a:noFill/>
          <a:ln w="9525">
            <a:solidFill>
              <a:srgbClr val="000000"/>
            </a:solidFill>
            <a:miter lim="800000"/>
            <a:headEnd/>
            <a:tailEnd/>
          </a:ln>
          <a:effectLst/>
        </p:spPr>
      </p:sp>
      <p:sp>
        <p:nvSpPr>
          <p:cNvPr id="84997" name="Notes"/>
          <p:cNvSpPr>
            <a:spLocks noGrp="1" noChangeArrowheads="1"/>
          </p:cNvSpPr>
          <p:nvPr>
            <p:ph type="body" sz="quarter" idx="3"/>
          </p:nvPr>
        </p:nvSpPr>
        <p:spPr bwMode="auto">
          <a:xfrm>
            <a:off x="453306" y="4757266"/>
            <a:ext cx="6191968" cy="478323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dirty="0"/>
              <a:t>Enter Notes</a:t>
            </a:r>
          </a:p>
        </p:txBody>
      </p:sp>
      <p:sp>
        <p:nvSpPr>
          <p:cNvPr id="28" name="Header Placeholder" hidden="1"/>
          <p:cNvSpPr>
            <a:spLocks noGrp="1" noChangeArrowheads="1"/>
          </p:cNvSpPr>
          <p:nvPr>
            <p:ph type="hdr" sz="quarter"/>
            <p:custDataLst>
              <p:tags r:id="rId2"/>
            </p:custDataLst>
          </p:nvPr>
        </p:nvSpPr>
        <p:spPr bwMode="auto">
          <a:xfrm>
            <a:off x="7099300" y="0"/>
            <a:ext cx="0" cy="0"/>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lvl1pPr defTabSz="955819">
              <a:defRPr sz="100">
                <a:noFill/>
                <a:latin typeface="Arial" panose="020B0604020202020204" pitchFamily="34" charset="0"/>
                <a:cs typeface="Arial" panose="020B0604020202020204" pitchFamily="34" charset="0"/>
              </a:defRPr>
            </a:lvl1pPr>
          </a:lstStyle>
          <a:p>
            <a:endParaRPr lang="en-US" sz="100" dirty="0"/>
          </a:p>
        </p:txBody>
      </p:sp>
      <p:sp>
        <p:nvSpPr>
          <p:cNvPr id="10" name="Footer Placeholder" hidden="1"/>
          <p:cNvSpPr>
            <a:spLocks noGrp="1"/>
          </p:cNvSpPr>
          <p:nvPr>
            <p:ph type="ftr" sz="quarter" idx="4"/>
            <p:custDataLst>
              <p:tags r:id="rId3"/>
            </p:custDataLst>
          </p:nvPr>
        </p:nvSpPr>
        <p:spPr>
          <a:xfrm>
            <a:off x="7099300" y="10234613"/>
            <a:ext cx="0" cy="0"/>
          </a:xfrm>
          <a:prstGeom prst="rect">
            <a:avLst/>
          </a:prstGeom>
        </p:spPr>
        <p:txBody>
          <a:bodyPr vert="horz" lIns="91440" tIns="45720" rIns="91440" bIns="45720" rtlCol="0" anchor="ctr"/>
          <a:lstStyle>
            <a:lvl1pPr algn="ctr">
              <a:defRPr sz="100">
                <a:noFill/>
                <a:latin typeface="Verdana" pitchFamily="34" charset="0"/>
                <a:ea typeface="Verdana" pitchFamily="34" charset="0"/>
                <a:cs typeface="Verdana" pitchFamily="34" charset="0"/>
              </a:defRPr>
            </a:lvl1pPr>
          </a:lstStyle>
          <a:p>
            <a:r>
              <a:rPr lang="en-US" dirty="0">
                <a:latin typeface="Arial" panose="020B0604020202020204" pitchFamily="34" charset="0"/>
                <a:cs typeface="Arial" panose="020B0604020202020204" pitchFamily="34" charset="0"/>
              </a:rPr>
              <a:t>Copyright © Infineon Technologies AG 2020. All rights reserved.</a:t>
            </a:r>
          </a:p>
          <a:p>
            <a:r>
              <a:rPr lang="en-US" b="1" dirty="0">
                <a:latin typeface="Arial" panose="020B0604020202020204" pitchFamily="34" charset="0"/>
                <a:cs typeface="Arial" panose="020B0604020202020204" pitchFamily="34" charset="0"/>
              </a:rPr>
              <a:t>restricted</a:t>
            </a:r>
          </a:p>
        </p:txBody>
      </p:sp>
      <p:sp>
        <p:nvSpPr>
          <p:cNvPr id="11" name="Date Placeholder" hidden="1"/>
          <p:cNvSpPr>
            <a:spLocks noGrp="1"/>
          </p:cNvSpPr>
          <p:nvPr>
            <p:ph type="dt" idx="1"/>
            <p:custDataLst>
              <p:tags r:id="rId4"/>
            </p:custDataLst>
          </p:nvPr>
        </p:nvSpPr>
        <p:spPr>
          <a:xfrm>
            <a:off x="7099300" y="10234613"/>
            <a:ext cx="0" cy="0"/>
          </a:xfrm>
          <a:prstGeom prst="rect">
            <a:avLst/>
          </a:prstGeom>
        </p:spPr>
        <p:txBody>
          <a:bodyPr vert="horz" lIns="91440" tIns="45720" rIns="91440" bIns="45720" rtlCol="0" anchor="ctr"/>
          <a:lstStyle>
            <a:lvl1pPr algn="l">
              <a:defRPr sz="100">
                <a:noFill/>
                <a:latin typeface="Arial" panose="020B0604020202020204" pitchFamily="34" charset="0"/>
                <a:ea typeface="Verdana" pitchFamily="34" charset="0"/>
                <a:cs typeface="Arial" panose="020B0604020202020204" pitchFamily="34" charset="0"/>
              </a:defRPr>
            </a:lvl1pPr>
          </a:lstStyle>
          <a:p>
            <a:r>
              <a:rPr lang="en-US" dirty="0"/>
              <a:t>2020-09-28</a:t>
            </a:r>
          </a:p>
          <a:p>
            <a:endParaRPr lang="en-US" dirty="0"/>
          </a:p>
        </p:txBody>
      </p:sp>
      <p:sp>
        <p:nvSpPr>
          <p:cNvPr id="12" name="Slide Number Placeholder"/>
          <p:cNvSpPr>
            <a:spLocks noGrp="1"/>
          </p:cNvSpPr>
          <p:nvPr>
            <p:ph type="sldNum" sz="quarter" idx="5"/>
          </p:nvPr>
        </p:nvSpPr>
        <p:spPr>
          <a:xfrm>
            <a:off x="6033274" y="9833798"/>
            <a:ext cx="612000" cy="288000"/>
          </a:xfrm>
          <a:prstGeom prst="rect">
            <a:avLst/>
          </a:prstGeom>
        </p:spPr>
        <p:txBody>
          <a:bodyPr vert="horz" lIns="0" tIns="0" rIns="0" bIns="0" rtlCol="0" anchor="ctr"/>
          <a:lstStyle>
            <a:lvl1pPr algn="r">
              <a:defRPr sz="800">
                <a:solidFill>
                  <a:srgbClr val="928285"/>
                </a:solidFill>
                <a:latin typeface="Verdana" pitchFamily="34" charset="0"/>
                <a:ea typeface="Verdana" pitchFamily="34" charset="0"/>
                <a:cs typeface="Verdana" pitchFamily="34" charset="0"/>
              </a:defRPr>
            </a:lvl1pPr>
          </a:lstStyle>
          <a:p>
            <a:fld id="{4165D906-55BD-49C5-997D-27A40DB53D15}" type="slidenum">
              <a:rPr lang="en-US">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sp>
        <p:nvSpPr>
          <p:cNvPr id="2" name="empower_document_placeholder" hidden="1">
            <a:extLst>
              <a:ext uri="{FF2B5EF4-FFF2-40B4-BE49-F238E27FC236}">
                <a16:creationId xmlns:a16="http://schemas.microsoft.com/office/drawing/2014/main" id="{E8AE2277-2635-47CE-8461-F921E010AD66}"/>
              </a:ext>
            </a:extLst>
          </p:cNvPr>
          <p:cNvSpPr txBox="1"/>
          <p:nvPr userDrawn="1">
            <p:custDataLst>
              <p:tags r:id="rId5"/>
            </p:custDataLst>
          </p:nvPr>
        </p:nvSpPr>
        <p:spPr bwMode="auto">
          <a:xfrm>
            <a:off x="453306" y="426585"/>
            <a:ext cx="259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[Owner:   Doc ID:   Vers.: ]</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3" name="empower_proprietary_placeholder" hidden="1">
            <a:extLst>
              <a:ext uri="{FF2B5EF4-FFF2-40B4-BE49-F238E27FC236}">
                <a16:creationId xmlns:a16="http://schemas.microsoft.com/office/drawing/2014/main" id="{1ED6373F-3656-4DFD-9B9C-BC0ABABA2CBF}"/>
              </a:ext>
            </a:extLst>
          </p:cNvPr>
          <p:cNvSpPr txBox="1"/>
          <p:nvPr userDrawn="1">
            <p:custDataLst>
              <p:tags r:id="rId6"/>
            </p:custDataLst>
          </p:nvPr>
        </p:nvSpPr>
        <p:spPr bwMode="auto">
          <a:xfrm>
            <a:off x="5673274" y="9545798"/>
            <a:ext cx="97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Infineon Proprietary</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4" name="empower_draft_placeholder" hidden="1">
            <a:extLst>
              <a:ext uri="{FF2B5EF4-FFF2-40B4-BE49-F238E27FC236}">
                <a16:creationId xmlns:a16="http://schemas.microsoft.com/office/drawing/2014/main" id="{3D3123B4-E08C-4CCD-9703-AD1F689F1FB7}"/>
              </a:ext>
            </a:extLst>
          </p:cNvPr>
          <p:cNvSpPr txBox="1"/>
          <p:nvPr userDrawn="1">
            <p:custDataLst>
              <p:tags r:id="rId7"/>
            </p:custDataLst>
          </p:nvPr>
        </p:nvSpPr>
        <p:spPr bwMode="auto">
          <a:xfrm>
            <a:off x="453306" y="9545798"/>
            <a:ext cx="360362"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 DRAFT -</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5" name="empower_footer_placeholder">
            <a:extLst>
              <a:ext uri="{FF2B5EF4-FFF2-40B4-BE49-F238E27FC236}">
                <a16:creationId xmlns:a16="http://schemas.microsoft.com/office/drawing/2014/main" id="{7E51E007-F5B3-45C7-900F-9B0FFE9F37F6}"/>
              </a:ext>
            </a:extLst>
          </p:cNvPr>
          <p:cNvSpPr txBox="1"/>
          <p:nvPr userDrawn="1">
            <p:custDataLst>
              <p:tags r:id="rId8"/>
            </p:custDataLst>
          </p:nvPr>
        </p:nvSpPr>
        <p:spPr bwMode="auto">
          <a:xfrm>
            <a:off x="2001479" y="9833798"/>
            <a:ext cx="3096343"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a:solidFill>
                  <a:srgbClr val="928285"/>
                </a:solidFill>
                <a:latin typeface="Arial" panose="020B0604020202020204" pitchFamily="34" charset="0"/>
                <a:ea typeface="Verdana" pitchFamily="34" charset="0"/>
                <a:cs typeface="Arial" panose="020B0604020202020204" pitchFamily="34" charset="0"/>
              </a:rPr>
              <a:t>Copyright © Infineon Technologies AG 2025. All rights reserved.</a:t>
            </a:r>
            <a:endParaRPr lang="en-US" sz="800"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6" name="empower_classification_attention_placeholder" hidden="1">
            <a:extLst>
              <a:ext uri="{FF2B5EF4-FFF2-40B4-BE49-F238E27FC236}">
                <a16:creationId xmlns:a16="http://schemas.microsoft.com/office/drawing/2014/main" id="{CD1E0C77-9862-4B96-A3C1-8F3320EB5330}"/>
              </a:ext>
            </a:extLst>
          </p:cNvPr>
          <p:cNvSpPr txBox="1"/>
          <p:nvPr userDrawn="1">
            <p:custDataLst>
              <p:tags r:id="rId9"/>
            </p:custDataLst>
          </p:nvPr>
        </p:nvSpPr>
        <p:spPr bwMode="auto">
          <a:xfrm>
            <a:off x="3063723" y="426585"/>
            <a:ext cx="971855"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E30034"/>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E30034"/>
              </a:solidFill>
              <a:latin typeface="Arial" panose="020B0604020202020204" pitchFamily="34" charset="0"/>
              <a:ea typeface="Verdana" pitchFamily="34" charset="0"/>
              <a:cs typeface="Arial" panose="020B0604020202020204" pitchFamily="34" charset="0"/>
            </a:endParaRPr>
          </a:p>
        </p:txBody>
      </p:sp>
      <p:sp>
        <p:nvSpPr>
          <p:cNvPr id="7" name="empower_classification_placeholder">
            <a:extLst>
              <a:ext uri="{FF2B5EF4-FFF2-40B4-BE49-F238E27FC236}">
                <a16:creationId xmlns:a16="http://schemas.microsoft.com/office/drawing/2014/main" id="{9F464BB7-63C3-4B8A-A50E-5FC32FA6A18F}"/>
              </a:ext>
            </a:extLst>
          </p:cNvPr>
          <p:cNvSpPr txBox="1"/>
          <p:nvPr userDrawn="1">
            <p:custDataLst>
              <p:tags r:id="rId10"/>
            </p:custDataLst>
          </p:nvPr>
        </p:nvSpPr>
        <p:spPr bwMode="auto">
          <a:xfrm>
            <a:off x="3062327" y="426585"/>
            <a:ext cx="973251"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b="1" kern="0">
                <a:solidFill>
                  <a:srgbClr val="928285"/>
                </a:solidFill>
                <a:latin typeface="Arial" panose="020B0604020202020204" pitchFamily="34" charset="0"/>
                <a:ea typeface="Verdana" pitchFamily="34" charset="0"/>
                <a:cs typeface="Arial" panose="020B0604020202020204" pitchFamily="34" charset="0"/>
              </a:rPr>
              <a:t>restricted</a:t>
            </a:r>
            <a:endParaRPr lang="de-DE" sz="800" b="1" kern="0" dirty="0">
              <a:solidFill>
                <a:srgbClr val="928285"/>
              </a:solidFill>
              <a:latin typeface="Arial" panose="020B0604020202020204" pitchFamily="34" charset="0"/>
              <a:ea typeface="Verdana" pitchFamily="34" charset="0"/>
              <a:cs typeface="Arial" panose="020B0604020202020204" pitchFamily="34" charset="0"/>
            </a:endParaRPr>
          </a:p>
        </p:txBody>
      </p:sp>
      <p:sp>
        <p:nvSpPr>
          <p:cNvPr id="8" name="empower_date_placeholder">
            <a:extLst>
              <a:ext uri="{FF2B5EF4-FFF2-40B4-BE49-F238E27FC236}">
                <a16:creationId xmlns:a16="http://schemas.microsoft.com/office/drawing/2014/main" id="{7E930412-6BBA-43BF-B0D5-11DDE46E471E}"/>
              </a:ext>
            </a:extLst>
          </p:cNvPr>
          <p:cNvSpPr txBox="1"/>
          <p:nvPr userDrawn="1">
            <p:custDataLst>
              <p:tags r:id="rId11"/>
            </p:custDataLst>
          </p:nvPr>
        </p:nvSpPr>
        <p:spPr bwMode="auto">
          <a:xfrm>
            <a:off x="453306" y="9833798"/>
            <a:ext cx="612000" cy="2880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de-DE" sz="800" kern="0">
                <a:solidFill>
                  <a:srgbClr val="928285"/>
                </a:solidFill>
                <a:latin typeface="Arial" panose="020B0604020202020204" pitchFamily="34" charset="0"/>
                <a:ea typeface="Verdana" pitchFamily="34" charset="0"/>
                <a:cs typeface="Arial" panose="020B0604020202020204" pitchFamily="34" charset="0"/>
              </a:rPr>
              <a:t>2025-09-03</a:t>
            </a:r>
            <a:endParaRPr lang="de-DE" sz="800" kern="0" dirty="0">
              <a:solidFill>
                <a:srgbClr val="928285"/>
              </a:solidFill>
              <a:latin typeface="Arial" panose="020B0604020202020204" pitchFamily="34" charset="0"/>
              <a:ea typeface="Verdana" pitchFamily="34" charset="0"/>
              <a:cs typeface="Arial" panose="020B0604020202020204" pitchFamily="34" charset="0"/>
            </a:endParaRPr>
          </a:p>
        </p:txBody>
      </p:sp>
      <p:pic>
        <p:nvPicPr>
          <p:cNvPr id="32" name="Logo"/>
          <p:cNvPicPr>
            <a:picLocks noChangeAspect="1" noChangeArrowheads="1"/>
          </p:cNvPicPr>
          <p:nvPr/>
        </p:nvPicPr>
        <p:blipFill>
          <a:blip r:embed="rId12" cstate="print"/>
          <a:srcRect/>
          <a:stretch>
            <a:fillRect/>
          </a:stretch>
        </p:blipFill>
        <p:spPr bwMode="auto">
          <a:xfrm>
            <a:off x="5657072" y="295163"/>
            <a:ext cx="880886" cy="419422"/>
          </a:xfrm>
          <a:prstGeom prst="rect">
            <a:avLst/>
          </a:prstGeom>
          <a:noFill/>
          <a:ln w="9525">
            <a:noFill/>
            <a:miter lim="800000"/>
            <a:headEnd/>
            <a:tailEnd/>
          </a:ln>
          <a:effectLst/>
        </p:spPr>
      </p:pic>
    </p:spTree>
    <p:extLst>
      <p:ext uri="{BB962C8B-B14F-4D97-AF65-F5344CB8AC3E}">
        <p14:creationId xmlns:p14="http://schemas.microsoft.com/office/powerpoint/2010/main" val="123004185"/>
      </p:ext>
    </p:extLst>
  </p:cSld>
  <p:clrMap bg1="lt1" tx1="dk1" bg2="lt2" tx2="dk2" accent1="accent1" accent2="accent2" accent3="accent3" accent4="accent4" accent5="accent5" accent6="accent6" hlink="hlink" folHlink="folHlink"/>
  <p:hf/>
  <p:notesStyle>
    <a:lvl1pPr algn="l" rtl="0" fontAlgn="base">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609585" algn="l" rtl="0" fontAlgn="base">
      <a:spcBef>
        <a:spcPct val="30000"/>
      </a:spcBef>
      <a:spcAft>
        <a:spcPct val="0"/>
      </a:spcAft>
      <a:defRPr sz="1600" kern="1200">
        <a:solidFill>
          <a:srgbClr val="00214A"/>
        </a:solidFill>
        <a:latin typeface="Verdana" pitchFamily="34" charset="0"/>
        <a:ea typeface="+mn-ea"/>
        <a:cs typeface="+mn-cs"/>
      </a:defRPr>
    </a:lvl2pPr>
    <a:lvl3pPr marL="1219170" algn="l" rtl="0" fontAlgn="base">
      <a:spcBef>
        <a:spcPct val="30000"/>
      </a:spcBef>
      <a:spcAft>
        <a:spcPct val="0"/>
      </a:spcAft>
      <a:defRPr sz="1600" kern="1200">
        <a:solidFill>
          <a:srgbClr val="00214A"/>
        </a:solidFill>
        <a:latin typeface="Verdana" pitchFamily="34" charset="0"/>
        <a:ea typeface="+mn-ea"/>
        <a:cs typeface="+mn-cs"/>
      </a:defRPr>
    </a:lvl3pPr>
    <a:lvl4pPr marL="1828754" algn="l" rtl="0" fontAlgn="base">
      <a:spcBef>
        <a:spcPct val="30000"/>
      </a:spcBef>
      <a:spcAft>
        <a:spcPct val="0"/>
      </a:spcAft>
      <a:defRPr sz="1600" kern="1200">
        <a:solidFill>
          <a:srgbClr val="00214A"/>
        </a:solidFill>
        <a:latin typeface="Verdana" pitchFamily="34" charset="0"/>
        <a:ea typeface="+mn-ea"/>
        <a:cs typeface="+mn-cs"/>
      </a:defRPr>
    </a:lvl4pPr>
    <a:lvl5pPr marL="2438339" algn="l" rtl="0" fontAlgn="base">
      <a:spcBef>
        <a:spcPct val="30000"/>
      </a:spcBef>
      <a:spcAft>
        <a:spcPct val="0"/>
      </a:spcAft>
      <a:defRPr sz="1600" kern="1200">
        <a:solidFill>
          <a:srgbClr val="00214A"/>
        </a:solidFill>
        <a:latin typeface="Verdana"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1</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43626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29285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200" dirty="0">
              <a:solidFill>
                <a:schemeClr val="dk1"/>
              </a:solidFill>
              <a:latin typeface="Calibri"/>
              <a:ea typeface="Calibri"/>
              <a:cs typeface="Calibri"/>
              <a:sym typeface="Calibri"/>
            </a:endParaRPr>
          </a:p>
        </p:txBody>
      </p:sp>
      <p:sp>
        <p:nvSpPr>
          <p:cNvPr id="310" name="Google Shape;31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4" name="Google Shape;33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3" name="Google Shape;36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364" name="Google Shape;364;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1200"/>
              <a:buFont typeface="Calibri"/>
              <a:buNone/>
            </a:pPr>
            <a:fld id="{00000000-1234-1234-1234-123412341234}" type="slidenum">
              <a:rPr lang="en"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10: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1" name="Google Shape;461;p10:notes"/>
          <p:cNvSpPr txBox="1">
            <a:spLocks noGrp="1"/>
          </p:cNvSpPr>
          <p:nvPr>
            <p:ph type="body" idx="1"/>
          </p:nvPr>
        </p:nvSpPr>
        <p:spPr>
          <a:xfrm>
            <a:off x="731520" y="4560569"/>
            <a:ext cx="5852100" cy="4320600"/>
          </a:xfrm>
          <a:prstGeom prst="rect">
            <a:avLst/>
          </a:prstGeom>
          <a:noFill/>
          <a:ln>
            <a:noFill/>
          </a:ln>
        </p:spPr>
        <p:txBody>
          <a:bodyPr spcFirstLastPara="1" wrap="square" lIns="96650" tIns="48325" rIns="96650" bIns="4832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a:p>
        </p:txBody>
      </p:sp>
      <p:sp>
        <p:nvSpPr>
          <p:cNvPr id="462" name="Google Shape;462;p10:notes"/>
          <p:cNvSpPr txBox="1">
            <a:spLocks noGrp="1"/>
          </p:cNvSpPr>
          <p:nvPr>
            <p:ph type="sldNum" idx="12"/>
          </p:nvPr>
        </p:nvSpPr>
        <p:spPr>
          <a:xfrm>
            <a:off x="4143587" y="9119474"/>
            <a:ext cx="3169800" cy="480000"/>
          </a:xfrm>
          <a:prstGeom prst="rect">
            <a:avLst/>
          </a:prstGeom>
          <a:noFill/>
          <a:ln>
            <a:noFill/>
          </a:ln>
        </p:spPr>
        <p:txBody>
          <a:bodyPr spcFirstLastPara="1" wrap="square" lIns="96650" tIns="48325" rIns="96650" bIns="48325" anchor="b" anchorCtr="0">
            <a:noAutofit/>
          </a:bodyPr>
          <a:lstStyle/>
          <a:p>
            <a:pPr marL="0" marR="0" lvl="0" indent="0" algn="r" rtl="0">
              <a:lnSpc>
                <a:spcPct val="100000"/>
              </a:lnSpc>
              <a:spcBef>
                <a:spcPts val="0"/>
              </a:spcBef>
              <a:spcAft>
                <a:spcPts val="0"/>
              </a:spcAft>
              <a:buClr>
                <a:srgbClr val="000000"/>
              </a:buClr>
              <a:buSzPts val="1300"/>
              <a:buFont typeface="Calibri"/>
              <a:buNone/>
            </a:pPr>
            <a:fld id="{00000000-1234-1234-1234-123412341234}" type="slidenum">
              <a:rPr lang="en" sz="1300" b="0" i="0" u="none" strike="noStrike" cap="none">
                <a:solidFill>
                  <a:srgbClr val="000000"/>
                </a:solidFill>
                <a:latin typeface="Calibri"/>
                <a:ea typeface="Calibri"/>
                <a:cs typeface="Calibri"/>
                <a:sym typeface="Calibri"/>
              </a:rPr>
              <a:t>10</a:t>
            </a:fld>
            <a:endParaRPr sz="13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Temperature, hall effect, humidity, air quality, gyro, infrared array, accelerometer, magnetometer, pressure, fingerprint, light, heartrate, time of flight, gas, …</a:t>
            </a: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
                <a:solidFill>
                  <a:schemeClr val="dk1"/>
                </a:solidFill>
              </a:rPr>
              <a:t>111 Sensors as of 2022/11/1</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7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Calibri"/>
              <a:buNone/>
            </a:pPr>
            <a:endParaRPr sz="1200" b="0" i="0" u="none" strike="noStrike" cap="none">
              <a:solidFill>
                <a:schemeClr val="dk1"/>
              </a:solidFill>
              <a:latin typeface="Calibri"/>
              <a:ea typeface="Calibri"/>
              <a:cs typeface="Calibri"/>
              <a:sym typeface="Calibri"/>
            </a:endParaRPr>
          </a:p>
        </p:txBody>
      </p:sp>
      <p:sp>
        <p:nvSpPr>
          <p:cNvPr id="1240" name="Google Shape;1240;p7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0" name="Google Shape;490;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dirty="0"/>
              <a:t>This is the full Zephyr stack, bottom to top: Hardware Platform, then the Hardware Abstraction Layer, Architecture Interface, Kernel, Low-level OS Services, Connectivity, High-level APIs, and your Application on top. Walk it once bottom-up: the kernel gives you a scheduler, memory management, and timing; OS services add things like file system, settings, crypto, and watchdog; connectivity adds the full protocol ladder from 802.15.4 and BLE up through CoAP, MQTT, and LWM2M; and your application only ever talks to stable high-level APIs above that.</a:t>
            </a:r>
          </a:p>
          <a:p>
            <a:endParaRPr dirty="0"/>
          </a:p>
          <a:p>
            <a:r>
              <a:rPr dirty="0"/>
              <a:t>The row to point at for this audience is the Hardware Abstraction Layer, labeled 'SoC vendors' right on the diagram, sitting directly on top of the Hardware Platform row (MCU/MPU, Sensors, Radios, Crypto/Security HW). This is exactly where Infineon plugs in, and it's not just a marketing claim -- the upstream zephyr/soc/</a:t>
            </a:r>
            <a:r>
              <a:rPr dirty="0" err="1"/>
              <a:t>infineon</a:t>
            </a:r>
            <a:r>
              <a:rPr dirty="0"/>
              <a:t> tree currently has seven family directories (cat1a, cat1b, cat1c, cat3, edge, psoc4, plus a shared common layer), each mapping to a real product line: PSOC 6, PSOC Control, PSOC Edge, XMC7000, and PSOC 4 all show up at this layer as board and SoC support, not as forks of the OS. Every layer above it, kernel, services, connectivity, is unchanged no matter which Infineon family you're on.</a:t>
            </a:r>
          </a:p>
          <a:p>
            <a:endParaRPr dirty="0"/>
          </a:p>
          <a:p>
            <a:r>
              <a:rPr dirty="0"/>
              <a:t>If there's time, briefly name the five ecosystem pillars shown around the architecture (Governing Board/TSC/Contributors, Applications &amp; Middleware, Firmware &amp; Libraries, Development Tools, Training &amp; Consulting) -- Infineon participates as both a contributor at the governance/TSC level and as a downstream silicon vendor shipping board support into the Firmware &amp; Libraries layer.</a:t>
            </a:r>
          </a:p>
        </p:txBody>
      </p:sp>
    </p:spTree>
    <p:extLst>
      <p:ext uri="{BB962C8B-B14F-4D97-AF65-F5344CB8AC3E}">
        <p14:creationId xmlns:p14="http://schemas.microsoft.com/office/powerpoint/2010/main" val="2600030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4" name="Google Shape;684;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Devicetree is how Zephyr describes what hardware actually exists on a board: pins, peripherals, addresses, and how they're wired together, all before any application code runs. The payoff is decoupling: the same driver and the same application code can target different boards because the board's devicetree, not the source code, is what changes.</a:t>
            </a:r>
          </a:p>
          <a:p>
            <a:endParaRPr/>
          </a:p>
          <a:p>
            <a:r>
              <a:t>Infineon angle: in today's advanced labs you will edit a devicetree overlay yourselves. On PSOC Control, the overlay claims the potentiometer's ADC channel and aliases the onboard LED's PWM node so your code can reach them. On PSOC Edge, the overlay is how the display and touch controller get wired up for the LVGL lab. Same mechanism, different peripherals -- this is touchpoint #1 of three you'll hit in both labs.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7" name="Google Shape;697;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dirty="0"/>
              <a:t>Zephyr ships a very wide connectivity menu out of the box: link layers like 802.15.4, Thread, LoRa, BLE, and CAN bus; core IP protocols (IPv4/IPv6, UDP/TCP, ICMP); security via TLS/DTLS; and application-level protocols for cloud and device management (MQTT, CoAP, HTTP, OTA, OMA LwM2M). The point to land: you are not choosing an RTOS and separately shopping for a network stack -- it's already integrated and tested together.</a:t>
            </a:r>
          </a:p>
          <a:p>
            <a:endParaRPr dirty="0"/>
          </a:p>
          <a:p>
            <a:r>
              <a:rPr dirty="0"/>
              <a:t>Infineon angle: CAN bus support is one of the more active, broadly maintained areas in the upstream repo for Infineon silicon specifically -- about two dozen merged PRs carry both the 'platform: Infineon' and 'area: CAN' labels, spanning multiple families, not just one board. Today's PSOC Control lab is one concrete example (board-to-board command/telemetry over CAN FD), but the same CAN controller driver is relevant anywhere Infineon ships CAN peripherals -- which, given the automotive/industrial motor-control focus of several families, is a lot of the portfolio, not a one-board special case. BLE and Ethernet/TSN are the other two to call out if time allows: BLE via the AIROC CYW20829 BLE MCU, and Ethernet/TSN via XMC7000's native Ethernet MAC hardware.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3" name="Google Shape;70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This is Zephyr's own IP stack, not a third-party add-on: dual-mode IPv4/IPv6, the usual autoconfiguration protocols (DHCPv4, SLAAC, DNS), multiple network interfaces at once, a BSD Sockets API so networking code looks familiar, and IP offloading so chips with their own on-board IP stack (common on Wi-Fi/cellular modules) can be used transparently through the same socket calls.</a:t>
            </a:r>
          </a:p>
          <a:p>
            <a:endParaRPr/>
          </a:p>
          <a:p>
            <a:r>
              <a:t>Infineon angle: the Time Sensitive Networking support called out here is directly relevant to XMC7000's native Ethernet hardware -- TSN and precision time protocol are squarely in the industrial Ethernet and motor-control networking space Infineon targets with that family. Whether you get there over AIROC Wi-Fi or XMC Ethernet, it's the same socket API and the same IP stack underneath.</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6" name="Google Shape;71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Zephyr includes one of only a handful of open-source Bluetooth Controller stacks in the industry, 5.3 compliant, supporting multiple radio hardware architectures with unlimited roles and connections, and built to run multi-protocol concurrently (BLE alongside 802.15.4 on the same radio, for example).</a:t>
            </a:r>
          </a:p>
          <a:p>
            <a:endParaRPr/>
          </a:p>
          <a:p>
            <a:r>
              <a:t>Infineon angle: this isn't abstract -- the AIROC CYW20829 BLE MCU on the board list in this deck is a concrete example of this exact open-source controller running on Infineon silicon. If anyone asks 'does Infineon actually ship boards that use Zephyr's own BLE stack, not a vendor blob,' CYW920829M2EVK-02 is the answer.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2" name="Google Shape;722;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USB 2.0 and USB-C support, a broad set of standard device classes (CDC, Mass Storage, HID, DFU, Bluetooth HCI over USB, USB Audio), and -- a nice developer-experience detail -- native execution support, so you can develop and test USB device code on native_posix on your Linux dev machine before ever touching real hardware.</a:t>
            </a:r>
          </a:p>
          <a:p>
            <a:endParaRPr/>
          </a:p>
          <a:p>
            <a:r>
              <a:t>Infineon angle -- this slide's own bullet list (STM32, Kinetis, nRF, SAM) is generic Zephyr marketing collateral and was out of date for an Infineon-hosted session, but the underlying driver support is further along than that bullet list suggests and changed very recently: PR #106841 enabled the shared USB Device Controller (UDC) driver on Infineon PSE84 (PSOC Edge E84) devices, merged April 2026; and PR #113279 added the vendor quirk for the XMC4xxx SoC family to the same udc_dwc2 driver, merged September 12, 2026, about four weeks before this training. Both ride the shared Synopsys DWC2 USB device controller driver plus a small Infineon-specific 'vendor quirk' layer -- the same shared-core-plus-vendor-glue pattern you saw in the architecture slide. Net effect: this is genuinely two Infineon families with real, current USB device support, and it's worth saying on stage that the slide bullet text just hasn't caught up with the repo yet -- a good one-line credibility moment: 'this changed a month ago, the slide hasn't caught up, the repo has.'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Two cooperating layers: System Power Management runs the idle thread and only wakes for registered events (a tickless kernel, so there's no periodic timer tick burning power for nothing), and Device Power Management lets individual drivers react to PM state changes so peripherals can be suspended independently of the whole system. Both are handled by the kernel by default but fully customizable, and Zephyr has automated power regression testing via the Twister Power Harness.</a:t>
            </a:r>
          </a:p>
          <a:p>
            <a:endParaRPr/>
          </a:p>
          <a:p>
            <a:r>
              <a:t>Infineon angle: power management is a cross-portfolio concern, not a PSOC Edge-only story -- every battery- or line-powered Infineon design cares about idle/active duty cycling, from PSOC 4's ultra-low-power niche to PSOC Edge's bursty AI/ML inference workloads to motor control's duty-cycled sensing on PSOC Control. Concretely, as of this week there's an open (not yet merged) upstream PR (#121163) adding KIT_PSC3M5_EVK, today's lab board, to Zephyr's own tests/subsys/pm/power_mgmt_soc test suite, targeting the v4.6.0 LTS milestone -- a sign this is active, current work, not a finished/forgotten feature. I'd present power management as broadly applicable and keep any numbers qualitative on stage rather than quoting specific microamp figures unless those are independently verified for the exact board in front of you.</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a:extLst>
            <a:ext uri="{FF2B5EF4-FFF2-40B4-BE49-F238E27FC236}">
              <a16:creationId xmlns:a16="http://schemas.microsoft.com/office/drawing/2014/main" id="{E17E24C8-B91C-7DD8-F94C-DC38330C61AA}"/>
            </a:ext>
          </a:extLst>
        </p:cNvPr>
        <p:cNvGrpSpPr/>
        <p:nvPr/>
      </p:nvGrpSpPr>
      <p:grpSpPr>
        <a:xfrm>
          <a:off x="0" y="0"/>
          <a:ext cx="0" cy="0"/>
          <a:chOff x="0" y="0"/>
          <a:chExt cx="0" cy="0"/>
        </a:xfrm>
      </p:grpSpPr>
      <p:sp>
        <p:nvSpPr>
          <p:cNvPr id="733" name="Google Shape;733;p38:notes">
            <a:extLst>
              <a:ext uri="{FF2B5EF4-FFF2-40B4-BE49-F238E27FC236}">
                <a16:creationId xmlns:a16="http://schemas.microsoft.com/office/drawing/2014/main" id="{EBDDE1C7-6AC3-9CF9-929D-FF37331529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4" name="Google Shape;734;p38:notes">
            <a:extLst>
              <a:ext uri="{FF2B5EF4-FFF2-40B4-BE49-F238E27FC236}">
                <a16:creationId xmlns:a16="http://schemas.microsoft.com/office/drawing/2014/main" id="{8CAD43A7-6EFE-097C-BB8A-6B43DB6BDA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Zephyr leverages MCUboot as its secure bootloader: application images can be signed and/or encrypted, optionally backed by hardware keys, with downgrade prevention, dependency checks, and reset/failure recovery built in. On top of that sits the OTA update ecosystem: OMA LwM2M, Eclipse hawkBit, and various vendor-specific offerings.</a:t>
            </a:r>
          </a:p>
          <a:p>
            <a:endParaRPr/>
          </a:p>
          <a:p>
            <a:r>
              <a:t>Infineon angle -- this is a live update, not the same status as when this lab was being scoped: MCUboot support for the PSOC Control board family (PSC3M5) was earlier blocked by a TRNG-init hang. That blocker is now resolved -- PR #115553, 'Add MCUboot support and partition fixes' for KIT_PSC3M5_EVK, merged September 23, 2026 (about three weeks before this training), removed the conflicting MXCRYPTOLITE crypto dependency that was deadlocking TRNG init, added sysbuild MCUboot integration, and fixed the flash partition layout. Today's lab still deliberately uses a plain west flash rather than a signed MCUboot image -- that's a 60-minute classroom scope choice, not a technical limitation anymore, and it's worth flagging back to the lab-prep effort as something that could be added in a future revision now that it's unblocked. Good talking point either way: Zephyr's upstream velocity on Infineon support is fast enough that status call-outs in training content need to be re-checked every few weeks, not treated as fixed facts.</a:t>
            </a:r>
          </a:p>
        </p:txBody>
      </p:sp>
    </p:spTree>
    <p:extLst>
      <p:ext uri="{BB962C8B-B14F-4D97-AF65-F5344CB8AC3E}">
        <p14:creationId xmlns:p14="http://schemas.microsoft.com/office/powerpoint/2010/main" val="2419234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0" name="Google Shape;74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rPr dirty="0"/>
              <a:t>Zephyr provides a common crypto API surface, backed either by hardware crypto accelerators where present or by a software implementation (</a:t>
            </a:r>
            <a:r>
              <a:rPr dirty="0" err="1"/>
              <a:t>TinyCrypt</a:t>
            </a:r>
            <a:r>
              <a:rPr dirty="0"/>
              <a:t>) where they're not, plus Trusted Firmware integration, firmware verification/encryption, device attestation, and secure management of device secrets.</a:t>
            </a:r>
          </a:p>
          <a:p>
            <a:endParaRPr dirty="0"/>
          </a:p>
          <a:p>
            <a:r>
              <a:rPr dirty="0"/>
              <a:t>Infineon angle: Infineon has a long heritage in secure elements and HSMs (OPTIGA, TPM), which is a natural brand fit for this layer of the stack. </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3" name="Google Shape;603;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4" name="Google Shape;644;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r>
              <a:t>Data freshness: stars/forks and commit activity both change weekly. Before presenting, pull current numbers from api.github.com/repos/zephyrproject-rtos/zephyr (stars, forks) and .../zephyr/stats/participation (weekly commit activity), then re-run the chart-rebuild script with the refreshed figures and today's date as the anchor month. The x-axis labels on the commit-activity chart are calendar months anchored to the presentation date, not a live formula, so they need to be regenerated at the same time as the data.</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answers 'why does Zephyr matter in the market' with external perception data, not just GitHub activity: Zephyr Project held 60% share of voice in January, spiked to 79% in February (likely a specific news/release event worth checking with the Zephyr marketing contact before naming one on stage), then fell back to 45% in March as FreeRTOS's own mentions jumped sharply (35% to 42%) while Zephyr's raw mention count also dropped (984 to 662). Total market conversation volume also shrank March-over-February (1,379 to 1,462 total mentions is roughly flat, but Zephyr's share fell while FreeRTOS's rose) -- call this a trend to watch, not a settled story, and avoid over-interpreting a single quarter's swing without knowing what drove the February spike or the March narrowing.</a:t>
            </a:r>
          </a:p>
          <a:p>
            <a:endParaRPr/>
          </a:p>
          <a:p>
            <a:r>
              <a:t>This data was provided directly by the Zephyr Project team from their own search/social-listening tool (exact platform not confirmed on this end). Unlike the GitHub stars/forks/commit-activity slide earlier in this section, there is no public API to self-refresh this -- if this slide is reused in a future quarter, request an updated export from the Zephyr marketing contact rather than estimating or reusing stale Q1 2026 numbers.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27</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510487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1"/>
        <p:cNvGrpSpPr/>
        <p:nvPr/>
      </p:nvGrpSpPr>
      <p:grpSpPr>
        <a:xfrm>
          <a:off x="0" y="0"/>
          <a:ext cx="0" cy="0"/>
          <a:chOff x="0" y="0"/>
          <a:chExt cx="0" cy="0"/>
        </a:xfrm>
      </p:grpSpPr>
      <p:sp>
        <p:nvSpPr>
          <p:cNvPr id="932" name="Google Shape;932;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3" name="Google Shape;933;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100"/>
              <a:buNone/>
            </a:pPr>
            <a:endParaRPr/>
          </a:p>
        </p:txBody>
      </p:sp>
      <p:sp>
        <p:nvSpPr>
          <p:cNvPr id="934" name="Google Shape;934;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200"/>
              <a:buFont typeface="Calibri"/>
              <a:buNone/>
            </a:pPr>
            <a:fld id="{00000000-1234-1234-1234-123412341234}" type="slidenum">
              <a:rPr lang="en" sz="1400" b="0" i="0" u="none" strike="noStrike" cap="none">
                <a:solidFill>
                  <a:srgbClr val="000000"/>
                </a:solidFill>
                <a:latin typeface="Arial"/>
                <a:ea typeface="Arial"/>
                <a:cs typeface="Arial"/>
                <a:sym typeface="Arial"/>
              </a:rPr>
              <a:t>28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Pip install line updated 2026-10: the manifest repo now ships its own requirements-devcon.txt at the repo root, which chains Zephyr's own requirements-base.txt (devicetree/Kconfig/west tooling) plus imgtool (MCUboot image signing - also pulls in the cryptography stack TF-M needs) plus jinja2/setuptools. Deliberately NOT zephyr/scripts/requirements.txt - that is Zephyr's own CI umbrella file and pulls in opencv-python, scipy, numpy, pyocd, spsdk, Pillow, plotly, mypy, pylint, clang-format - about 184 MB of wheels this training never uses. If anyone asks why there are two requirements files in a Zephyr workspace, that's why.</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sz="100" dirty="0"/>
          </a:p>
        </p:txBody>
      </p:sp>
      <p:sp>
        <p:nvSpPr>
          <p:cNvPr id="5" name="Footer Placeholder 4"/>
          <p:cNvSpPr>
            <a:spLocks noGrp="1"/>
          </p:cNvSpPr>
          <p:nvPr>
            <p:ph type="ftr" sz="quarter" idx="4"/>
          </p:nvPr>
        </p:nvSpPr>
        <p:spPr/>
        <p:txBody>
          <a:bodyPr/>
          <a:lstStyle/>
          <a:p>
            <a:r>
              <a:rPr lang="en-US">
                <a:latin typeface="Arial" panose="020B0604020202020204" pitchFamily="34" charset="0"/>
                <a:cs typeface="Arial" panose="020B0604020202020204" pitchFamily="34" charset="0"/>
              </a:rPr>
              <a:t>Copyright © Infineon Technologies AG 2020. All rights reserved.</a:t>
            </a:r>
          </a:p>
          <a:p>
            <a:r>
              <a:rPr lang="en-US" b="1">
                <a:latin typeface="Arial" panose="020B0604020202020204" pitchFamily="34" charset="0"/>
                <a:cs typeface="Arial" panose="020B0604020202020204" pitchFamily="34" charset="0"/>
              </a:rPr>
              <a:t>restricted</a:t>
            </a:r>
            <a:endParaRPr lang="en-US" b="1" dirty="0">
              <a:latin typeface="Arial" panose="020B0604020202020204" pitchFamily="34" charset="0"/>
              <a:cs typeface="Arial" panose="020B0604020202020204" pitchFamily="34" charset="0"/>
            </a:endParaRPr>
          </a:p>
        </p:txBody>
      </p:sp>
      <p:sp>
        <p:nvSpPr>
          <p:cNvPr id="6" name="Date Placeholder 5"/>
          <p:cNvSpPr>
            <a:spLocks noGrp="1"/>
          </p:cNvSpPr>
          <p:nvPr>
            <p:ph type="dt" idx="1"/>
          </p:nvPr>
        </p:nvSpPr>
        <p:spPr/>
        <p:txBody>
          <a:bodyPr/>
          <a:lstStyle/>
          <a:p>
            <a:r>
              <a:rPr lang="en-US"/>
              <a:t>2020-09-28</a:t>
            </a:r>
          </a:p>
          <a:p>
            <a:endParaRPr lang="en-US" dirty="0"/>
          </a:p>
        </p:txBody>
      </p:sp>
      <p:sp>
        <p:nvSpPr>
          <p:cNvPr id="7" name="Slide Number Placeholder 6"/>
          <p:cNvSpPr>
            <a:spLocks noGrp="1"/>
          </p:cNvSpPr>
          <p:nvPr>
            <p:ph type="sldNum" sz="quarter" idx="5"/>
          </p:nvPr>
        </p:nvSpPr>
        <p:spPr/>
        <p:txBody>
          <a:bodyPr/>
          <a:lstStyle/>
          <a:p>
            <a:fld id="{4165D906-55BD-49C5-997D-27A40DB53D15}" type="slidenum">
              <a:rPr lang="en-US" smtClean="0">
                <a:latin typeface="Arial" panose="020B0604020202020204" pitchFamily="34" charset="0"/>
                <a:cs typeface="Arial" panose="020B0604020202020204" pitchFamily="34" charset="0"/>
              </a:rPr>
              <a:pPr/>
              <a:t>35</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69475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separate things combine into a working Zephyr setup, and it's worth knowing what each one is actually for before we start building.</a:t>
            </a:r>
          </a:p>
          <a:p>
            <a:r>
              <a:t>West is the meta-tool and package manager - it reads a manifest file and fetches or updates everything else below it.</a:t>
            </a:r>
          </a:p>
          <a:p>
            <a:r>
              <a:t>The west manifest, west.yml, pins exact versions: the Zephyr repo itself, plus every HAL and module it depends on, like hal_infineon and mbedtls.</a:t>
            </a:r>
          </a:p>
          <a:p>
            <a:r>
              <a:t>The Zephyr repo is the RTOS source itself - kernel, subsystems, drivers, board and SoC definitions, samples. This is what west init and west update fetch.</a:t>
            </a:r>
          </a:p>
          <a:p>
            <a:r>
              <a:t>The Zephyr SDK is a separate download via west sdk install - cross-compilers, binutils, host debug tools. It is NOT fetched by west update; it's its own step, and a common gotcha for first-time setups.</a:t>
            </a:r>
          </a:p>
          <a:p>
            <a:r>
              <a:t>Python and pip packages matter too - west itself is a pip package, and build-time scripts for devicetree tooling, Kconfig tooling, and imgtool need their own requirements-base.txt install.</a:t>
            </a:r>
          </a:p>
          <a:p>
            <a:r>
              <a:t>How it all ties together: west build drives CMake and Ninja, which call the Python codegen scripts and the SDK toolchain to turn your source, devicetree, and Kconfig choices into one flashable image. That's the single sentence to anchor the whole diagram.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folder-level map of the Zephyr tree attendees already have checked out from the intro session - point at the actual folder in VS Code's explorer if you have it open.</a:t>
            </a:r>
          </a:p>
          <a:p>
            <a:r>
              <a:t>boards/&lt;vendor&gt;/&lt;board&gt;/ is the board-level support - literally what you plug the USB cable into. Every board we use this week (KIT_PSC3M5_EVK, PSOC Edge boards) lives under boards/infineon/.</a:t>
            </a:r>
          </a:p>
          <a:p>
            <a:r>
              <a:t>soc/&lt;vendor&gt;/&lt;family&gt;/ is SoC-level support - the chip itself, shared across every board that uses that chip family, separate from the board wiring.</a:t>
            </a:r>
          </a:p>
          <a:p>
            <a:r>
              <a:t>dts/bindings/ is the schema for every devicetree property a driver understands - this is what makes a property like io-channels valid or invalid, and it's worth a quick look before the devicetree touchpoint lab.</a:t>
            </a:r>
          </a:p>
          <a:p>
            <a:r>
              <a:t>drivers/ holds the actual peripheral drivers - adc, pwm, can, gpio, sensor, and so on - used by any board that exposes that peripheral.</a:t>
            </a:r>
          </a:p>
          <a:p>
            <a:r>
              <a:t>subsys/ is everything built on top of the driver layer: Bluetooth, networking, logging, shell, file systems, device management.</a:t>
            </a:r>
          </a:p>
          <a:p>
            <a:r>
              <a:t>samples/ and tests/ are the ready-to-build example applications and the automated test suite - the next slide is a guided tour of the samples folder specifically.</a:t>
            </a:r>
          </a:p>
          <a:p>
            <a:r>
              <a:t>include/zephyr/ is the public API headers every application #includes - this is the header set IntelliSense/clangd will index.</a:t>
            </a:r>
          </a:p>
          <a:p>
            <a:r>
              <a:t>scripts/ is the Python tooling behind west, Kconfig, and devicetree generation - this is what's actually running under the hood every time you type west build.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board folder, boards/infineon/&lt;board&gt;/, is the same handful of files no matter which board you pick - once you've seen one BSP you can navigate any of them.</a:t>
            </a:r>
          </a:p>
          <a:p>
            <a:r>
              <a:t>board.yml is pure identity: board name, vendor, and which SoC or SoCs it carries.</a:t>
            </a:r>
          </a:p>
          <a:p>
            <a:r>
              <a:t>&lt;board&gt;_defconfig (or Kconfig.defconfig) is the Kconfig choices this specific board turns on by default - these are the board-level defaults that get merged in later, on the Kconfig tracing slide.</a:t>
            </a:r>
          </a:p>
          <a:p>
            <a:r>
              <a:t>&lt;board&gt;.dts plus &lt;board&gt;-pinctrl.dtsi is the devicetree: what hardware physically exists on the board and how pins are muxed to peripherals.</a:t>
            </a:r>
          </a:p>
          <a:p>
            <a:r>
              <a:t>board.cmake tells west which runner flashes and debugs this board - jlink, openocd, and so on - and how.</a:t>
            </a:r>
          </a:p>
          <a:p>
            <a:r>
              <a:t>doc/index.rst is the board's own Getting Started page in the Zephyr docs - worth bookmarking per board.</a:t>
            </a:r>
          </a:p>
          <a:p>
            <a:r>
              <a:t>The key point to land here: your lab's boards/&lt;board&gt;.overlay is YOUR application adding to this file set, not replacing it. The overlay is applied on top of the board's existing devicetree, which is exactly what the devicetree touchpoint does this afternoon.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lab you build this week, on either board, follows the exact same four-file shape - this is worth memorizing because it never changes.</a:t>
            </a:r>
          </a:p>
          <a:p>
            <a:r>
              <a:t>CMakeLists.txt tells the build system where your source lives - usually just a one-line target_sources call.</a:t>
            </a:r>
          </a:p>
          <a:p>
            <a:r>
              <a:t>prj.conf is your application's own Kconfig choices - which subsystems are turned on, independent of what the board or SoC already defaults to.</a:t>
            </a:r>
          </a:p>
          <a:p>
            <a:r>
              <a:t>boards/&lt;board&gt;.overlay is your devicetree additions for this specific board - this is the file the devicetree touchpoint edits this afternoon.</a:t>
            </a:r>
          </a:p>
          <a:p>
            <a:r>
              <a:t>src/ is your actual application code - main.c and anything else you add.</a:t>
            </a:r>
          </a:p>
          <a:p>
            <a:r>
              <a:t>Land the takeaway clearly: nothing here is Infineon-specific. This is the same shape for every Zephyr application, on every board, from any vendor. Once attendees know this shape, they can read any sample in zephyr/samples/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zephyr/samples/ ships hundreds of ready-to-build examples. Most are not relevant to us today, but a handful are worth knowing by name because they build on almost any board, Infineon boards included.</a:t>
            </a:r>
          </a:p>
          <a:p>
            <a:r>
              <a:t>hello_world exercises the entire lab flow - west build, west flash - with zero peripheral dependencies. It's the fastest way to prove your toolchain and flash chain work at all.</a:t>
            </a:r>
          </a:p>
          <a:p>
            <a:r>
              <a:t>basic/blinky drives one GPIO LED - the 'did my board/toolchain/flash chain work at all' smoke test, one step up from hello_world.</a:t>
            </a:r>
          </a:p>
          <a:p>
            <a:r>
              <a:t>basic/button is blinky's counterpart on the input side - GPIO input instead of output.</a:t>
            </a:r>
          </a:p>
          <a:p>
            <a:r>
              <a:t>basic/fade_led is PWM output - this is structurally what this afternoon's lab builds on, so it's worth a quick look before the lab starts.</a:t>
            </a:r>
          </a:p>
          <a:p>
            <a:r>
              <a:t>subsys/shell/shell_module gives you an interactive command shell over the console UART - works on virtually every board, and useful for poking at a running system without rebuilding.</a:t>
            </a:r>
          </a:p>
          <a:p>
            <a:r>
              <a:t>drivers/adc and drivers/can are the two samples closest to today's lab content - ADC read and CAN send/receive - on any board that has those peripherals.</a:t>
            </a:r>
          </a:p>
          <a:p>
            <a:r>
              <a:t>If you want to go further on your own: every sample's sample.yaml lists which boards and platforms it's known to build on, via the platform_allow key - that's the fastest way to confirm a sample will build on your specific board before you try it.</a:t>
            </a:r>
          </a:p>
          <a:p>
            <a:endParaRPr/>
          </a:p>
          <a:p>
            <a:r>
              <a:t>Broadened 2026-10 with more of the catalog beyond basic/: sensor/ ships around 75 samples, almost all vendor-specific drivers for a named part (bme280, lsm6dso, etc.), but sensor_shell is generic - it talks to whatever sensor the board's devicetree exposes, which makes it the fastest way to confirm a sensor is alive on any board, Infineon's included. subsys/ also has usb, usb_c, fs, settings, zbus and modbus samples worth knowing by name even though none are in today's lab. bluetooth/ is the single largest sample category in the tree, around 90 samples covering central, peripheral and mesh roles - call out that most Infineon boards with a BLE radio can run these directly. net/ demonstrates the full networking stack (sockets, MQTT, CoAP, an HTTP client and server) for anyone whose board has an Ethernet or WiFi interface - not relevant to the CAN lab, but worth knowing it's there. boards/infineon/ is worth a specific callout: Zephyr ships at least one sample contributed by Infineon itself (autanalog, an autonomous analog subsystem demo) - proof the vendor samples tree isn't purely upstream community work.</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a deliberate recap, not new content - the goal is for attendees to recognize the pattern they just saw across the last three slides, named explicitly, before they go build it for real.</a:t>
            </a:r>
          </a:p>
          <a:p>
            <a:r>
              <a:t>Every lab this week, PSOC Control and PSOC Edge alike, hits the same three touchpoints: devicetree - edit an overlay node to claim a peripheral; module import - add the Kconfig for a driver subsystem; code - write the real application logic that uses them.</a:t>
            </a:r>
          </a:p>
          <a:p>
            <a:r>
              <a:t>Land the close explicitly: you just saw all three in miniature, on this screen, over the last three slides. This afternoon, you'll do them for real, on your own board. This is the bridge sentence into the hands-on lab - use it as the transition cue to move attendees from slides to hardware.</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touchpoint one of three for every lab this week. The distinction to land clearly: the board's own devicetree describes what hardware physically exists; your overlay describes what your specific application actually uses from that hardware.</a:t>
            </a:r>
          </a:p>
          <a:p>
            <a:r>
              <a:t>What's on screen is the literal skeleton attendees will edit this afternoon for the PSOC Control CAN lab - walk through each TODO: uncommenting the ADC channel claims the potentiometer, uncommenting the PWM alias and the pwmleds block claims the onboard LED for PWM brightness control.</a:t>
            </a:r>
          </a:p>
          <a:p>
            <a:r>
              <a:t>Use the diagram on the right to walk the full chain: your board.dts plus your overlay, merged against the dts/bindings/ schema, produces the merged devicetree at build/zephyr/zephyr.dts, which generates the DT_* macros in devicetree.h, which your driver and application code actually calls against - e.g. adc_channel_setup(). If something doesn't build, this is the chain to walk backwards through.</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touchpoint two. Kconfig controls which driver subsystems and OS features actually get compiled into your image - it's a different axis from devicetree: devicetree says what hardware exists, Kconfig says what software support you're turning on for it.</a:t>
            </a:r>
          </a:p>
          <a:p>
            <a:r>
              <a:t>prj.conf is your application's own Kconfig choices, merged with the board's defaults at build time - we'll see exactly how that merge happens on the next slide.</a:t>
            </a:r>
          </a:p>
          <a:p>
            <a:r>
              <a:t>Walk the real example from this week's PSOC Control lab on screen: CONFIG_CAN=y is already enabled as the shared baseline both roles need. CONFIG_ADC=y and CONFIG_PWM=y are each a TODO - attendees need to add these themselves to read the potentiometer and drive the PWM brightness output. This is the Kconfig/driver-import touchpoint in the three-touchpoint framing.</a:t>
            </a:r>
          </a:p>
          <a:p>
            <a:r>
              <a:t>Close with the practical tool: menuconfig or guiconfig let you browse and search every CONFIG_ symbol and its dependencies interactively - show it live if you have a terminal up, it's worth attendees seeing the real TUI before they need it themselves.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touchpoint three: Code. Devicetree says what hardware exists, Kconfig says what software support is compiled in, and this is where attendees write the application logic that actually uses both.</a:t>
            </a:r>
          </a:p>
          <a:p>
            <a:endParaRPr/>
          </a:p>
          <a:p>
            <a:r>
              <a:t>Start with where to look things up: docs.zephyrproject.org/latest has the full Doxygen API reference plus subsystem guides, and is the fastest way to find a function signature without grepping. The headers under include/zephyr/&lt;subsystem&gt;/ are the ground truth if the docs are ever behind - worth telling attendees to open the header, not just the web page, when in doubt.</a:t>
            </a:r>
          </a:p>
          <a:p>
            <a:endParaRPr/>
          </a:p>
          <a:p>
            <a:r>
              <a:t>The code on screen is the real pattern from this week's PSOC(TM) Control CAN lab (command_node.c): get a handle with DEVICE_DT_GET at compile time, confirm it actually initialized with device_is_ready() at runtime, then call the driver API. This get-handle / check-ready / call pattern is the same shape for every Zephyr driver, not just CAN.</a:t>
            </a:r>
          </a:p>
          <a:p>
            <a:endParaRPr/>
          </a:p>
          <a:p>
            <a:r>
              <a:t>Close on two habits that save debugging time: use the logging subsystem (LOG_INF/WRN/ERR) instead of printk once code leaves the toy-example stage, and always check the return value - nearly every Zephyr API returns a negative errno on failure, and a silently-dropped error code is the single most common cause of 'it built fine but did nothing' bug reports.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FXSHAPE"/>
          <p:cNvSpPr>
            <a:spLocks noGrp="1" noRot="1" noChangeAspect="1"/>
          </p:cNvSpPr>
          <p:nvPr>
            <p:ph type="sldImg"/>
          </p:nvPr>
        </p:nvSpPr>
        <p:spPr>
          <a:xfrm>
            <a:off x="454025" y="1012825"/>
            <a:ext cx="6191250" cy="3482975"/>
          </a:xfrm>
        </p:spPr>
      </p:sp>
      <p:sp>
        <p:nvSpPr>
          <p:cNvPr id="3" name="IFXSHAPE"/>
          <p:cNvSpPr>
            <a:spLocks noGrp="1"/>
          </p:cNvSpPr>
          <p:nvPr>
            <p:ph type="body" idx="1"/>
          </p:nvPr>
        </p:nvSpPr>
        <p:spPr/>
        <p:txBody>
          <a:bodyPr/>
          <a:lstStyle/>
          <a:p>
            <a:endParaRPr lang="en-US"/>
          </a:p>
        </p:txBody>
      </p:sp>
      <p:sp>
        <p:nvSpPr>
          <p:cNvPr id="4" name="IFXSHAPE"/>
          <p:cNvSpPr>
            <a:spLocks noGrp="1"/>
          </p:cNvSpPr>
          <p:nvPr>
            <p:ph type="hdr" sz="quarter"/>
          </p:nvPr>
        </p:nvSpPr>
        <p:spPr/>
        <p:txBody>
          <a:bodyPr/>
          <a:lstStyle/>
          <a:p>
            <a:pPr marL="0" marR="0" lvl="0" indent="0" algn="l" defTabSz="955819"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 name="IFXSHAPE"/>
          <p:cNvSpPr>
            <a:spLocks noGrp="1"/>
          </p:cNvSpPr>
          <p:nvPr>
            <p:ph type="ftr" sz="quarter" idx="4"/>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Verdana" pitchFamily="34" charset="0"/>
                <a:cs typeface="Arial" panose="020B0604020202020204" pitchFamily="34" charset="0"/>
              </a:rPr>
              <a:t>Copyright © Infineon Technologies AG 2022. All rights reserved.</a:t>
            </a:r>
            <a:endParaRPr kumimoji="0" lang="en-US" sz="800" b="1" i="0" u="none" strike="noStrike" kern="1200" cap="none" spc="0" normalizeH="0" baseline="0" noProof="0" dirty="0">
              <a:ln>
                <a:noFill/>
              </a:ln>
              <a:solidFill>
                <a:srgbClr val="E30034"/>
              </a:solidFill>
              <a:effectLst/>
              <a:uLnTx/>
              <a:uFillTx/>
              <a:latin typeface="Arial" panose="020B0604020202020204" pitchFamily="34" charset="0"/>
              <a:ea typeface="Verdana" pitchFamily="34" charset="0"/>
              <a:cs typeface="Arial" panose="020B0604020202020204" pitchFamily="34" charset="0"/>
            </a:endParaRPr>
          </a:p>
        </p:txBody>
      </p:sp>
      <p:sp>
        <p:nvSpPr>
          <p:cNvPr id="6" name="IFXSHAPE"/>
          <p:cNvSpPr>
            <a:spLocks noGrp="1"/>
          </p:cNvSpPr>
          <p:nvPr>
            <p:ph type="dt" idx="1"/>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panose="020B0604020202020204" pitchFamily="34" charset="0"/>
                <a:ea typeface="Verdana" pitchFamily="34" charset="0"/>
                <a:cs typeface="Arial" panose="020B0604020202020204" pitchFamily="34" charset="0"/>
              </a:rPr>
              <a:t>2022-05-24</a:t>
            </a:r>
          </a:p>
        </p:txBody>
      </p:sp>
      <p:sp>
        <p:nvSpPr>
          <p:cNvPr id="7" name="IFXSHAPE"/>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15EF2C5-4BFC-4108-9387-E4CBD3555AB3}" type="slidenum">
              <a:rPr kumimoji="0" lang="en-US" sz="800" b="0" i="0" u="none" strike="noStrike" kern="1200" cap="none" spc="0" normalizeH="0" baseline="0" noProof="0" smtClean="0">
                <a:ln>
                  <a:noFill/>
                </a:ln>
                <a:solidFill>
                  <a:srgbClr val="000000"/>
                </a:solidFill>
                <a:effectLst/>
                <a:uLnTx/>
                <a:uFillTx/>
                <a:latin typeface="Arial" panose="020B0604020202020204" pitchFamily="34" charset="0"/>
                <a:ea typeface="Verdana" pitchFamily="34" charset="0"/>
                <a:cs typeface="Arial" panose="020B0604020202020204" pitchFamily="34" charset="0"/>
              </a:rPr>
              <a:t>45</a:t>
            </a:fld>
            <a:endParaRPr kumimoji="0" lang="en-US" sz="800" b="0" i="0" u="none" strike="noStrike" kern="1200" cap="none" spc="0" normalizeH="0" baseline="0" noProof="0">
              <a:ln>
                <a:noFill/>
              </a:ln>
              <a:solidFill>
                <a:srgbClr val="000000"/>
              </a:solidFill>
              <a:effectLst/>
              <a:uLnTx/>
              <a:uFillTx/>
              <a:latin typeface="Arial" panose="020B0604020202020204" pitchFamily="34" charset="0"/>
              <a:ea typeface="Verdana" pitchFamily="34" charset="0"/>
              <a:cs typeface="Arial" panose="020B0604020202020204" pitchFamily="34" charset="0"/>
            </a:endParaRPr>
          </a:p>
        </p:txBody>
      </p:sp>
    </p:spTree>
    <p:extLst>
      <p:ext uri="{BB962C8B-B14F-4D97-AF65-F5344CB8AC3E}">
        <p14:creationId xmlns:p14="http://schemas.microsoft.com/office/powerpoint/2010/main" val="167732481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3.xml"/><Relationship Id="rId3" Type="http://schemas.openxmlformats.org/officeDocument/2006/relationships/tags" Target="../tags/tag8.xml"/><Relationship Id="rId7" Type="http://schemas.openxmlformats.org/officeDocument/2006/relationships/tags" Target="../tags/tag12.xml"/><Relationship Id="rId12" Type="http://schemas.openxmlformats.org/officeDocument/2006/relationships/image" Target="../media/image1.png"/><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11" Type="http://schemas.openxmlformats.org/officeDocument/2006/relationships/image" Target="../media/image2.jpg"/><Relationship Id="rId5" Type="http://schemas.openxmlformats.org/officeDocument/2006/relationships/tags" Target="../tags/tag10.xml"/><Relationship Id="rId10" Type="http://schemas.openxmlformats.org/officeDocument/2006/relationships/slideMaster" Target="../slideMasters/slideMaster1.xml"/><Relationship Id="rId4" Type="http://schemas.openxmlformats.org/officeDocument/2006/relationships/tags" Target="../tags/tag9.xml"/><Relationship Id="rId9" Type="http://schemas.openxmlformats.org/officeDocument/2006/relationships/tags" Target="../tags/tag14.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5.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4.sv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3.jpeg"/><Relationship Id="rId5" Type="http://schemas.openxmlformats.org/officeDocument/2006/relationships/tags" Target="../tags/tag19.xml"/><Relationship Id="rId10" Type="http://schemas.openxmlformats.org/officeDocument/2006/relationships/slideMaster" Target="../slideMasters/slideMaster1.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1.xml"/><Relationship Id="rId3" Type="http://schemas.openxmlformats.org/officeDocument/2006/relationships/tags" Target="../tags/tag26.xml"/><Relationship Id="rId7" Type="http://schemas.openxmlformats.org/officeDocument/2006/relationships/tags" Target="../tags/tag30.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png"/><Relationship Id="rId5" Type="http://schemas.openxmlformats.org/officeDocument/2006/relationships/tags" Target="../tags/tag28.xml"/><Relationship Id="rId10" Type="http://schemas.openxmlformats.org/officeDocument/2006/relationships/image" Target="../media/image7.jpg"/><Relationship Id="rId4" Type="http://schemas.openxmlformats.org/officeDocument/2006/relationships/tags" Target="../tags/tag27.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9.xml"/><Relationship Id="rId13" Type="http://schemas.openxmlformats.org/officeDocument/2006/relationships/image" Target="../media/image6.png"/><Relationship Id="rId3" Type="http://schemas.openxmlformats.org/officeDocument/2006/relationships/tags" Target="../tags/tag34.xml"/><Relationship Id="rId7" Type="http://schemas.openxmlformats.org/officeDocument/2006/relationships/tags" Target="../tags/tag38.xml"/><Relationship Id="rId12" Type="http://schemas.openxmlformats.org/officeDocument/2006/relationships/image" Target="../media/image5.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11" Type="http://schemas.openxmlformats.org/officeDocument/2006/relationships/image" Target="../media/image4.svg"/><Relationship Id="rId5" Type="http://schemas.openxmlformats.org/officeDocument/2006/relationships/tags" Target="../tags/tag36.xml"/><Relationship Id="rId10" Type="http://schemas.openxmlformats.org/officeDocument/2006/relationships/image" Target="../media/image8.jpeg"/><Relationship Id="rId4" Type="http://schemas.openxmlformats.org/officeDocument/2006/relationships/tags" Target="../tags/tag35.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7.xml"/><Relationship Id="rId3" Type="http://schemas.openxmlformats.org/officeDocument/2006/relationships/tags" Target="../tags/tag42.xml"/><Relationship Id="rId7" Type="http://schemas.openxmlformats.org/officeDocument/2006/relationships/tags" Target="../tags/tag46.xml"/><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1.png"/><Relationship Id="rId5" Type="http://schemas.openxmlformats.org/officeDocument/2006/relationships/tags" Target="../tags/tag44.xml"/><Relationship Id="rId10" Type="http://schemas.openxmlformats.org/officeDocument/2006/relationships/slideMaster" Target="../slideMasters/slideMaster1.xml"/><Relationship Id="rId4" Type="http://schemas.openxmlformats.org/officeDocument/2006/relationships/tags" Target="../tags/tag43.xml"/><Relationship Id="rId9" Type="http://schemas.openxmlformats.org/officeDocument/2006/relationships/tags" Target="../tags/tag48.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6.xml"/><Relationship Id="rId13" Type="http://schemas.openxmlformats.org/officeDocument/2006/relationships/slideMaster" Target="../slideMasters/slideMaster1.xml"/><Relationship Id="rId3" Type="http://schemas.openxmlformats.org/officeDocument/2006/relationships/tags" Target="../tags/tag51.xml"/><Relationship Id="rId7" Type="http://schemas.openxmlformats.org/officeDocument/2006/relationships/tags" Target="../tags/tag55.xml"/><Relationship Id="rId12" Type="http://schemas.openxmlformats.org/officeDocument/2006/relationships/tags" Target="../tags/tag60.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tags" Target="../tags/tag59.xml"/><Relationship Id="rId5" Type="http://schemas.openxmlformats.org/officeDocument/2006/relationships/tags" Target="../tags/tag53.xml"/><Relationship Id="rId10" Type="http://schemas.openxmlformats.org/officeDocument/2006/relationships/tags" Target="../tags/tag58.xml"/><Relationship Id="rId4" Type="http://schemas.openxmlformats.org/officeDocument/2006/relationships/tags" Target="../tags/tag52.xml"/><Relationship Id="rId9" Type="http://schemas.openxmlformats.org/officeDocument/2006/relationships/tags" Target="../tags/tag57.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8.xml"/><Relationship Id="rId13" Type="http://schemas.openxmlformats.org/officeDocument/2006/relationships/slideMaster" Target="../slideMasters/slideMaster1.xml"/><Relationship Id="rId3" Type="http://schemas.openxmlformats.org/officeDocument/2006/relationships/tags" Target="../tags/tag63.xml"/><Relationship Id="rId7" Type="http://schemas.openxmlformats.org/officeDocument/2006/relationships/tags" Target="../tags/tag67.xml"/><Relationship Id="rId12" Type="http://schemas.openxmlformats.org/officeDocument/2006/relationships/tags" Target="../tags/tag72.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tags" Target="../tags/tag66.xml"/><Relationship Id="rId11" Type="http://schemas.openxmlformats.org/officeDocument/2006/relationships/tags" Target="../tags/tag71.xml"/><Relationship Id="rId5" Type="http://schemas.openxmlformats.org/officeDocument/2006/relationships/tags" Target="../tags/tag65.xml"/><Relationship Id="rId10" Type="http://schemas.openxmlformats.org/officeDocument/2006/relationships/tags" Target="../tags/tag70.xml"/><Relationship Id="rId4" Type="http://schemas.openxmlformats.org/officeDocument/2006/relationships/tags" Target="../tags/tag64.xml"/><Relationship Id="rId9" Type="http://schemas.openxmlformats.org/officeDocument/2006/relationships/tags" Target="../tags/tag6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Master" Target="../slideMasters/slideMaster1.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5" Type="http://schemas.openxmlformats.org/officeDocument/2006/relationships/slideMaster" Target="../slideMasters/slideMaster1.xml"/><Relationship Id="rId4" Type="http://schemas.openxmlformats.org/officeDocument/2006/relationships/tags" Target="../tags/tag88.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5" Type="http://schemas.openxmlformats.org/officeDocument/2006/relationships/image" Target="../media/image9.png"/><Relationship Id="rId4"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9.xml"/><Relationship Id="rId13" Type="http://schemas.openxmlformats.org/officeDocument/2006/relationships/slideMaster" Target="../slideMasters/slideMaster1.xml"/><Relationship Id="rId3" Type="http://schemas.openxmlformats.org/officeDocument/2006/relationships/tags" Target="../tags/tag94.xml"/><Relationship Id="rId7" Type="http://schemas.openxmlformats.org/officeDocument/2006/relationships/tags" Target="../tags/tag98.xml"/><Relationship Id="rId12" Type="http://schemas.openxmlformats.org/officeDocument/2006/relationships/tags" Target="../tags/tag103.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tags" Target="../tags/tag97.xml"/><Relationship Id="rId11" Type="http://schemas.openxmlformats.org/officeDocument/2006/relationships/tags" Target="../tags/tag102.xml"/><Relationship Id="rId5" Type="http://schemas.openxmlformats.org/officeDocument/2006/relationships/tags" Target="../tags/tag96.xml"/><Relationship Id="rId10" Type="http://schemas.openxmlformats.org/officeDocument/2006/relationships/tags" Target="../tags/tag101.xml"/><Relationship Id="rId4" Type="http://schemas.openxmlformats.org/officeDocument/2006/relationships/tags" Target="../tags/tag95.xml"/><Relationship Id="rId9" Type="http://schemas.openxmlformats.org/officeDocument/2006/relationships/tags" Target="../tags/tag100.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111.xml"/><Relationship Id="rId13" Type="http://schemas.openxmlformats.org/officeDocument/2006/relationships/slideMaster" Target="../slideMasters/slideMaster1.xml"/><Relationship Id="rId3" Type="http://schemas.openxmlformats.org/officeDocument/2006/relationships/tags" Target="../tags/tag106.xml"/><Relationship Id="rId7" Type="http://schemas.openxmlformats.org/officeDocument/2006/relationships/tags" Target="../tags/tag110.xml"/><Relationship Id="rId12" Type="http://schemas.openxmlformats.org/officeDocument/2006/relationships/tags" Target="../tags/tag115.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tags" Target="../tags/tag114.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23.xml"/><Relationship Id="rId13" Type="http://schemas.openxmlformats.org/officeDocument/2006/relationships/slideMaster" Target="../slideMasters/slideMaster1.xml"/><Relationship Id="rId3" Type="http://schemas.openxmlformats.org/officeDocument/2006/relationships/tags" Target="../tags/tag118.xml"/><Relationship Id="rId7" Type="http://schemas.openxmlformats.org/officeDocument/2006/relationships/tags" Target="../tags/tag122.xml"/><Relationship Id="rId12" Type="http://schemas.openxmlformats.org/officeDocument/2006/relationships/tags" Target="../tags/tag127.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tags" Target="../tags/tag121.xml"/><Relationship Id="rId11" Type="http://schemas.openxmlformats.org/officeDocument/2006/relationships/tags" Target="../tags/tag126.xml"/><Relationship Id="rId5" Type="http://schemas.openxmlformats.org/officeDocument/2006/relationships/tags" Target="../tags/tag120.xml"/><Relationship Id="rId10" Type="http://schemas.openxmlformats.org/officeDocument/2006/relationships/tags" Target="../tags/tag125.xml"/><Relationship Id="rId4" Type="http://schemas.openxmlformats.org/officeDocument/2006/relationships/tags" Target="../tags/tag119.xml"/><Relationship Id="rId9" Type="http://schemas.openxmlformats.org/officeDocument/2006/relationships/tags" Target="../tags/tag124.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slideMaster" Target="../slideMasters/slideMaster1.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tags" Target="../tags/tag139.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slideMaster" Target="../slideMasters/slideMaster1.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2" Type="http://schemas.openxmlformats.org/officeDocument/2006/relationships/tags" Target="../tags/tag14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0" Type="http://schemas.openxmlformats.org/officeDocument/2006/relationships/tags" Target="../tags/tag149.xml"/><Relationship Id="rId4" Type="http://schemas.openxmlformats.org/officeDocument/2006/relationships/tags" Target="../tags/tag143.xml"/><Relationship Id="rId9" Type="http://schemas.openxmlformats.org/officeDocument/2006/relationships/tags" Target="../tags/tag148.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59.xml"/><Relationship Id="rId13" Type="http://schemas.openxmlformats.org/officeDocument/2006/relationships/slideMaster" Target="../slideMasters/slideMaster1.xml"/><Relationship Id="rId3" Type="http://schemas.openxmlformats.org/officeDocument/2006/relationships/tags" Target="../tags/tag154.xml"/><Relationship Id="rId7" Type="http://schemas.openxmlformats.org/officeDocument/2006/relationships/tags" Target="../tags/tag158.xml"/><Relationship Id="rId12" Type="http://schemas.openxmlformats.org/officeDocument/2006/relationships/tags" Target="../tags/tag163.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tags" Target="../tags/tag157.xml"/><Relationship Id="rId11" Type="http://schemas.openxmlformats.org/officeDocument/2006/relationships/tags" Target="../tags/tag162.xml"/><Relationship Id="rId5" Type="http://schemas.openxmlformats.org/officeDocument/2006/relationships/tags" Target="../tags/tag156.xml"/><Relationship Id="rId10" Type="http://schemas.openxmlformats.org/officeDocument/2006/relationships/tags" Target="../tags/tag161.xml"/><Relationship Id="rId4" Type="http://schemas.openxmlformats.org/officeDocument/2006/relationships/tags" Target="../tags/tag155.xml"/><Relationship Id="rId9" Type="http://schemas.openxmlformats.org/officeDocument/2006/relationships/tags" Target="../tags/tag160.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71.xml"/><Relationship Id="rId13" Type="http://schemas.openxmlformats.org/officeDocument/2006/relationships/slideMaster" Target="../slideMasters/slideMaster1.xml"/><Relationship Id="rId3" Type="http://schemas.openxmlformats.org/officeDocument/2006/relationships/tags" Target="../tags/tag166.xml"/><Relationship Id="rId7" Type="http://schemas.openxmlformats.org/officeDocument/2006/relationships/tags" Target="../tags/tag170.xml"/><Relationship Id="rId12" Type="http://schemas.openxmlformats.org/officeDocument/2006/relationships/tags" Target="../tags/tag175.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tags" Target="../tags/tag169.xml"/><Relationship Id="rId11" Type="http://schemas.openxmlformats.org/officeDocument/2006/relationships/tags" Target="../tags/tag174.xml"/><Relationship Id="rId5" Type="http://schemas.openxmlformats.org/officeDocument/2006/relationships/tags" Target="../tags/tag168.xml"/><Relationship Id="rId10" Type="http://schemas.openxmlformats.org/officeDocument/2006/relationships/tags" Target="../tags/tag173.xml"/><Relationship Id="rId4" Type="http://schemas.openxmlformats.org/officeDocument/2006/relationships/tags" Target="../tags/tag167.xml"/><Relationship Id="rId9" Type="http://schemas.openxmlformats.org/officeDocument/2006/relationships/tags" Target="../tags/tag172.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slideMaster" Target="../slideMasters/slideMaster1.xml"/><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tags" Target="../tags/tag186.xml"/><Relationship Id="rId5" Type="http://schemas.openxmlformats.org/officeDocument/2006/relationships/tags" Target="../tags/tag180.xml"/><Relationship Id="rId10" Type="http://schemas.openxmlformats.org/officeDocument/2006/relationships/tags" Target="../tags/tag185.xml"/><Relationship Id="rId4" Type="http://schemas.openxmlformats.org/officeDocument/2006/relationships/tags" Target="../tags/tag179.xml"/><Relationship Id="rId9" Type="http://schemas.openxmlformats.org/officeDocument/2006/relationships/tags" Target="../tags/tag184.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89.xml"/><Relationship Id="rId2" Type="http://schemas.openxmlformats.org/officeDocument/2006/relationships/tags" Target="../tags/tag188.xml"/><Relationship Id="rId1" Type="http://schemas.openxmlformats.org/officeDocument/2006/relationships/tags" Target="../tags/tag187.xml"/><Relationship Id="rId4"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92.xml"/><Relationship Id="rId7" Type="http://schemas.openxmlformats.org/officeDocument/2006/relationships/image" Target="../media/image1.png"/><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slideMaster" Target="../slideMasters/slideMaster1.xml"/><Relationship Id="rId5" Type="http://schemas.openxmlformats.org/officeDocument/2006/relationships/tags" Target="../tags/tag194.xml"/><Relationship Id="rId4" Type="http://schemas.openxmlformats.org/officeDocument/2006/relationships/tags" Target="../tags/tag19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1">
    <p:bg>
      <p:bgPr>
        <a:solidFill>
          <a:schemeClr val="bg1"/>
        </a:solidFill>
        <a:effectLst/>
      </p:bgPr>
    </p:bg>
    <p:spTree>
      <p:nvGrpSpPr>
        <p:cNvPr id="1" name=""/>
        <p:cNvGrpSpPr/>
        <p:nvPr/>
      </p:nvGrpSpPr>
      <p:grpSpPr>
        <a:xfrm>
          <a:off x="0" y="0"/>
          <a:ext cx="0" cy="0"/>
          <a:chOff x="0" y="0"/>
          <a:chExt cx="0" cy="0"/>
        </a:xfrm>
      </p:grpSpPr>
      <p:sp>
        <p:nvSpPr>
          <p:cNvPr id="6" name="LOGO PROTECTION" hidden="1">
            <a:extLst>
              <a:ext uri="{FF2B5EF4-FFF2-40B4-BE49-F238E27FC236}">
                <a16:creationId xmlns:a16="http://schemas.microsoft.com/office/drawing/2014/main" id="{193C101A-31DD-4FCB-8E69-ED3C115F16E0}"/>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3" name="Crystal Picture Placeholder">
            <a:extLst>
              <a:ext uri="{FF2B5EF4-FFF2-40B4-BE49-F238E27FC236}">
                <a16:creationId xmlns:a16="http://schemas.microsoft.com/office/drawing/2014/main" id="{5805FCC4-D045-0733-8C95-81CAFF95804B}"/>
              </a:ext>
            </a:extLst>
          </p:cNvPr>
          <p:cNvSpPr>
            <a:spLocks noGrp="1"/>
          </p:cNvSpPr>
          <p:nvPr>
            <p:ph type="pic" sz="quarter" idx="15"/>
          </p:nvPr>
        </p:nvSpPr>
        <p:spPr>
          <a:xfrm>
            <a:off x="3" y="2"/>
            <a:ext cx="12191999" cy="3743997"/>
          </a:xfrm>
          <a:custGeom>
            <a:avLst/>
            <a:gdLst>
              <a:gd name="connsiteX0" fmla="*/ 0 w 12191999"/>
              <a:gd name="connsiteY0" fmla="*/ 0 h 3743997"/>
              <a:gd name="connsiteX1" fmla="*/ 12191999 w 12191999"/>
              <a:gd name="connsiteY1" fmla="*/ 0 h 3743997"/>
              <a:gd name="connsiteX2" fmla="*/ 12191999 w 12191999"/>
              <a:gd name="connsiteY2" fmla="*/ 3726156 h 3743997"/>
              <a:gd name="connsiteX3" fmla="*/ 3063660 w 12191999"/>
              <a:gd name="connsiteY3" fmla="*/ 2179105 h 3743997"/>
              <a:gd name="connsiteX4" fmla="*/ 387 w 12191999"/>
              <a:gd name="connsiteY4" fmla="*/ 3726157 h 3743997"/>
              <a:gd name="connsiteX5" fmla="*/ 387 w 12191999"/>
              <a:gd name="connsiteY5" fmla="*/ 3743997 h 3743997"/>
              <a:gd name="connsiteX6" fmla="*/ 0 w 12191999"/>
              <a:gd name="connsiteY6" fmla="*/ 3743997 h 374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743997">
                <a:moveTo>
                  <a:pt x="0" y="0"/>
                </a:moveTo>
                <a:lnTo>
                  <a:pt x="12191999" y="0"/>
                </a:lnTo>
                <a:lnTo>
                  <a:pt x="12191999" y="3726156"/>
                </a:lnTo>
                <a:lnTo>
                  <a:pt x="3063660" y="2179105"/>
                </a:lnTo>
                <a:lnTo>
                  <a:pt x="387" y="3726157"/>
                </a:lnTo>
                <a:lnTo>
                  <a:pt x="387" y="3743997"/>
                </a:lnTo>
                <a:lnTo>
                  <a:pt x="0" y="3743997"/>
                </a:lnTo>
                <a:close/>
              </a:path>
            </a:pathLst>
          </a:custGeom>
          <a:blipFill>
            <a:blip r:embed="rId11"/>
            <a:stretch>
              <a:fillRect/>
            </a:stretch>
          </a:blipFill>
        </p:spPr>
        <p:txBody>
          <a:bodyPr wrap="square" tIns="1296000">
            <a:noAutofit/>
          </a:bodyPr>
          <a:lstStyle>
            <a:lvl1pPr marL="0" indent="0" algn="ctr">
              <a:buNone/>
              <a:defRPr/>
            </a:lvl1pPr>
          </a:lstStyle>
          <a:p>
            <a:r>
              <a:rPr lang="en-US"/>
              <a:t>Click icon to add picture</a:t>
            </a:r>
            <a:endParaRPr lang="de-DE"/>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370ED20-2DD7-4652-95B4-6C73AD11EB7F}"/>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55361232"/>
      </p:ext>
    </p:extLst>
  </p:cSld>
  <p:clrMapOvr>
    <a:masterClrMapping/>
  </p:clrMapOvr>
  <p:hf sldNum="0" hdr="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4">
    <p:bg>
      <p:bgPr>
        <a:solidFill>
          <a:schemeClr val="bg1"/>
        </a:solidFill>
        <a:effectLst/>
      </p:bgPr>
    </p:bg>
    <p:spTree>
      <p:nvGrpSpPr>
        <p:cNvPr id="1" name=""/>
        <p:cNvGrpSpPr/>
        <p:nvPr/>
      </p:nvGrpSpPr>
      <p:grpSpPr>
        <a:xfrm>
          <a:off x="0" y="0"/>
          <a:ext cx="0" cy="0"/>
          <a:chOff x="0" y="0"/>
          <a:chExt cx="0" cy="0"/>
        </a:xfrm>
      </p:grpSpPr>
      <p:sp>
        <p:nvSpPr>
          <p:cNvPr id="6" name="LOGO PROTECTION">
            <a:extLst>
              <a:ext uri="{FF2B5EF4-FFF2-40B4-BE49-F238E27FC236}">
                <a16:creationId xmlns:a16="http://schemas.microsoft.com/office/drawing/2014/main" id="{193C101A-31DD-4FCB-8E69-ED3C115F16E0}"/>
              </a:ext>
            </a:extLst>
          </p:cNvPr>
          <p:cNvSpPr/>
          <p:nvPr>
            <p:custDataLst>
              <p:tags r:id="rId1"/>
            </p:custDataLst>
          </p:nvPr>
        </p:nvSpPr>
        <p:spPr bwMode="auto">
          <a:xfrm>
            <a:off x="9912424"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8" name="Background White">
            <a:extLst>
              <a:ext uri="{FF2B5EF4-FFF2-40B4-BE49-F238E27FC236}">
                <a16:creationId xmlns:a16="http://schemas.microsoft.com/office/drawing/2014/main" id="{9FD1694A-5725-40E5-AC10-2A7A68B981E5}"/>
              </a:ext>
            </a:extLst>
          </p:cNvPr>
          <p:cNvSpPr>
            <a:spLocks noGrp="1" noRot="1" noMove="1" noResize="1" noEditPoints="1" noAdjustHandles="1" noChangeArrowheads="1" noChangeShapeType="1"/>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30" name="Subtitle"/>
          <p:cNvSpPr>
            <a:spLocks noGrp="1"/>
          </p:cNvSpPr>
          <p:nvPr>
            <p:ph type="subTitle" idx="1" hasCustomPrompt="1"/>
          </p:nvPr>
        </p:nvSpPr>
        <p:spPr>
          <a:xfrm>
            <a:off x="624000" y="5641951"/>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26638A09-FAF0-40AC-917E-C2B12C875E5A}"/>
              </a:ext>
            </a:extLst>
          </p:cNvPr>
          <p:cNvSpPr>
            <a:spLocks noGrp="1"/>
          </p:cNvSpPr>
          <p:nvPr>
            <p:ph type="ctrTitle" hasCustomPrompt="1"/>
            <p:custDataLst>
              <p:tags r:id="rId2"/>
            </p:custDataLst>
          </p:nvPr>
        </p:nvSpPr>
        <p:spPr>
          <a:xfrm>
            <a:off x="624000" y="4163051"/>
            <a:ext cx="8280000" cy="1118901"/>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13" name="Crystal Shape">
            <a:extLst>
              <a:ext uri="{FF2B5EF4-FFF2-40B4-BE49-F238E27FC236}">
                <a16:creationId xmlns:a16="http://schemas.microsoft.com/office/drawing/2014/main" id="{A4208110-E884-BAAA-527C-E592A2F7FA29}"/>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blipFill>
            <a:blip r:embed="rId11" cstate="screen">
              <a:extLst>
                <a:ext uri="{28A0092B-C50C-407E-A947-70E740481C1C}">
                  <a14:useLocalDpi xmlns:a14="http://schemas.microsoft.com/office/drawing/2010/main"/>
                </a:ext>
              </a:extLst>
            </a:blip>
            <a:srcRect/>
            <a:stretch>
              <a:fillRect/>
            </a:stretch>
          </a:blip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9" name="empower_classification_attention_placeholder" hidden="1">
            <a:extLst>
              <a:ext uri="{FF2B5EF4-FFF2-40B4-BE49-F238E27FC236}">
                <a16:creationId xmlns:a16="http://schemas.microsoft.com/office/drawing/2014/main" id="{542ADA73-329E-4D35-A040-712B75800F88}"/>
              </a:ext>
            </a:extLst>
          </p:cNvPr>
          <p:cNvSpPr txBox="1"/>
          <p:nvPr>
            <p:custDataLst>
              <p:tags r:id="rId3"/>
            </p:custDataLst>
          </p:nvPr>
        </p:nvSpPr>
        <p:spPr bwMode="auto">
          <a:xfrm>
            <a:off x="5411800" y="6500314"/>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endParaRPr lang="en-US" sz="800" b="1" kern="0" baseline="0" noProof="0" dirty="0">
              <a:solidFill>
                <a:schemeClr val="tx2"/>
              </a:solidFill>
              <a:latin typeface="+mn-lt"/>
              <a:ea typeface="+mn-ea"/>
              <a:cs typeface="+mn-cs"/>
            </a:endParaRPr>
          </a:p>
        </p:txBody>
      </p:sp>
      <p:sp>
        <p:nvSpPr>
          <p:cNvPr id="10" name="empower_classification_placeholder">
            <a:extLst>
              <a:ext uri="{FF2B5EF4-FFF2-40B4-BE49-F238E27FC236}">
                <a16:creationId xmlns:a16="http://schemas.microsoft.com/office/drawing/2014/main" id="{2D16A7B9-CA23-4C66-B2AF-3682EAAE8159}"/>
              </a:ext>
            </a:extLst>
          </p:cNvPr>
          <p:cNvSpPr txBox="1"/>
          <p:nvPr>
            <p:custDataLst>
              <p:tags r:id="rId4"/>
            </p:custDataLst>
          </p:nvPr>
        </p:nvSpPr>
        <p:spPr bwMode="auto">
          <a:xfrm>
            <a:off x="5412000" y="6500314"/>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FE25D73-2664-463A-AF80-DF3E4E2CB8B6}"/>
              </a:ext>
            </a:extLst>
          </p:cNvPr>
          <p:cNvSpPr txBox="1"/>
          <p:nvPr>
            <p:custDataLst>
              <p:tags r:id="rId5"/>
            </p:custDataLst>
          </p:nvPr>
        </p:nvSpPr>
        <p:spPr bwMode="auto">
          <a:xfrm>
            <a:off x="624000" y="6500314"/>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2" name="empower_draft_placeholder" hidden="1">
            <a:extLst>
              <a:ext uri="{FF2B5EF4-FFF2-40B4-BE49-F238E27FC236}">
                <a16:creationId xmlns:a16="http://schemas.microsoft.com/office/drawing/2014/main" id="{9769B1E2-E46B-4957-AEBB-2CD1EAF09328}"/>
              </a:ext>
            </a:extLst>
          </p:cNvPr>
          <p:cNvSpPr txBox="1"/>
          <p:nvPr>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2" name="MIO_AGENDA_IGNORE_NAVIGATION" hidden="1">
            <a:extLst>
              <a:ext uri="{FF2B5EF4-FFF2-40B4-BE49-F238E27FC236}">
                <a16:creationId xmlns:a16="http://schemas.microsoft.com/office/drawing/2014/main" id="{03AF05FD-8ED3-440D-B616-18664CA13DD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6" name="MIO_AGENDA_IGNORE_CHAPTER_REFERENCE" hidden="1">
            <a:extLst>
              <a:ext uri="{FF2B5EF4-FFF2-40B4-BE49-F238E27FC236}">
                <a16:creationId xmlns:a16="http://schemas.microsoft.com/office/drawing/2014/main" id="{E0053FF2-2ADB-4CE0-850C-04ADE25DFF5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17" name="Date Placeholder 16" hidden="1">
            <a:extLst>
              <a:ext uri="{FF2B5EF4-FFF2-40B4-BE49-F238E27FC236}">
                <a16:creationId xmlns:a16="http://schemas.microsoft.com/office/drawing/2014/main" id="{B19EA23C-BCB4-4E72-A8B3-AFF05FD396BC}"/>
              </a:ext>
            </a:extLst>
          </p:cNvPr>
          <p:cNvSpPr>
            <a:spLocks noGrp="1"/>
          </p:cNvSpPr>
          <p:nvPr>
            <p:ph type="dt" sz="half" idx="10"/>
            <p:custDataLst>
              <p:tags r:id="rId7"/>
            </p:custDataLst>
          </p:nvPr>
        </p:nvSpPr>
        <p:spPr/>
        <p:txBody>
          <a:bodyPr/>
          <a:lstStyle/>
          <a:p>
            <a:r>
              <a:rPr lang="en-US" b="1"/>
              <a:t> </a:t>
            </a:r>
            <a:endParaRPr lang="en-US" b="1" dirty="0"/>
          </a:p>
        </p:txBody>
      </p:sp>
      <p:sp>
        <p:nvSpPr>
          <p:cNvPr id="18" name="Footer Placeholder 17" hidden="1">
            <a:extLst>
              <a:ext uri="{FF2B5EF4-FFF2-40B4-BE49-F238E27FC236}">
                <a16:creationId xmlns:a16="http://schemas.microsoft.com/office/drawing/2014/main" id="{271BB539-26D3-4B9C-9F13-4E382668BE89}"/>
              </a:ext>
            </a:extLst>
          </p:cNvPr>
          <p:cNvSpPr>
            <a:spLocks noGrp="1"/>
          </p:cNvSpPr>
          <p:nvPr>
            <p:ph type="ftr" sz="quarter" idx="11"/>
            <p:custDataLst>
              <p:tags r:id="rId8"/>
            </p:custDataLst>
          </p:nvPr>
        </p:nvSpPr>
        <p:spPr/>
        <p:txBody>
          <a:bodyPr/>
          <a:lstStyle/>
          <a:p>
            <a:endParaRPr lang="en-US" dirty="0"/>
          </a:p>
        </p:txBody>
      </p:sp>
      <p:sp>
        <p:nvSpPr>
          <p:cNvPr id="19" name="Slide Number Placeholder 18" hidden="1">
            <a:extLst>
              <a:ext uri="{FF2B5EF4-FFF2-40B4-BE49-F238E27FC236}">
                <a16:creationId xmlns:a16="http://schemas.microsoft.com/office/drawing/2014/main" id="{970E7400-5A78-4596-8A13-DC8308CA511D}"/>
              </a:ext>
            </a:extLst>
          </p:cNvPr>
          <p:cNvSpPr>
            <a:spLocks noGrp="1"/>
          </p:cNvSpPr>
          <p:nvPr>
            <p:ph type="sldNum" sz="quarter" idx="12"/>
            <p:custDataLst>
              <p:tags r:id="rId9"/>
            </p:custDataLst>
          </p:nvPr>
        </p:nvSpPr>
        <p:spPr/>
        <p:txBody>
          <a:bodyPr/>
          <a:lstStyle/>
          <a:p>
            <a:r>
              <a:rPr lang="en-US"/>
              <a:t> </a:t>
            </a:r>
            <a:endParaRPr lang="en-US" dirty="0"/>
          </a:p>
        </p:txBody>
      </p:sp>
      <p:sp>
        <p:nvSpPr>
          <p:cNvPr id="3" name="MIO_Placeholder_Mapping">
            <a:extLst>
              <a:ext uri="{FF2B5EF4-FFF2-40B4-BE49-F238E27FC236}">
                <a16:creationId xmlns:a16="http://schemas.microsoft.com/office/drawing/2014/main" id="{C370ED20-2DD7-4652-95B4-6C73AD11EB7F}"/>
              </a:ext>
            </a:extLst>
          </p:cNvPr>
          <p:cNvSpPr/>
          <p:nvPr userDrawn="1"/>
        </p:nvSpPr>
        <p:spPr bwMode="auto">
          <a:xfrm>
            <a:off x="0" y="18864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92DC6926-96FF-4BB1-823E-5F2FFE796E76}"/>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rcRect/>
          <a:stretch/>
        </p:blipFill>
        <p:spPr>
          <a:xfrm>
            <a:off x="9994175" y="353272"/>
            <a:ext cx="1574433" cy="687428"/>
          </a:xfrm>
          <a:prstGeom prst="rect">
            <a:avLst/>
          </a:prstGeom>
        </p:spPr>
      </p:pic>
      <p:pic>
        <p:nvPicPr>
          <p:cNvPr id="22" name="LOGO Award Innovation" descr="Ein Bild, das Text, Screenshot, Schrift, Kreis enthält.&#10;&#10;KI-generierte Inhalte können fehlerhaft sein.">
            <a:extLst>
              <a:ext uri="{FF2B5EF4-FFF2-40B4-BE49-F238E27FC236}">
                <a16:creationId xmlns:a16="http://schemas.microsoft.com/office/drawing/2014/main" id="{5C8094CB-6CA5-4C8C-A34D-E405220AEA8F}"/>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3" name="LOGO Award Sustainability" descr="Ein Bild, das Schwarz, Dunkelheit enthält.&#10;&#10;Automatisch generierte Beschreibung">
            <a:extLst>
              <a:ext uri="{FF2B5EF4-FFF2-40B4-BE49-F238E27FC236}">
                <a16:creationId xmlns:a16="http://schemas.microsoft.com/office/drawing/2014/main" id="{2580F642-116E-41DC-881C-366C1DFCA471}"/>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4062692289"/>
      </p:ext>
    </p:extLst>
  </p:cSld>
  <p:clrMapOvr>
    <a:masterClrMapping/>
  </p:clrMapOvr>
  <p:hf sldNum="0" hdr="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2">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501C1CF0-6452-4D4E-9BC7-65EADBD5EEC4}"/>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sp>
        <p:nvSpPr>
          <p:cNvPr id="27" name="Crystal Picture Placeholder">
            <a:extLst>
              <a:ext uri="{FF2B5EF4-FFF2-40B4-BE49-F238E27FC236}">
                <a16:creationId xmlns:a16="http://schemas.microsoft.com/office/drawing/2014/main" id="{2B034C47-A659-3457-E1A7-79A7F521356A}"/>
              </a:ext>
            </a:extLst>
          </p:cNvPr>
          <p:cNvSpPr>
            <a:spLocks noGrp="1"/>
          </p:cNvSpPr>
          <p:nvPr>
            <p:ph type="pic" sz="quarter" idx="22"/>
          </p:nvPr>
        </p:nvSpPr>
        <p:spPr>
          <a:xfrm>
            <a:off x="-1" y="0"/>
            <a:ext cx="5205158" cy="6858000"/>
          </a:xfrm>
          <a:custGeom>
            <a:avLst/>
            <a:gdLst>
              <a:gd name="connsiteX0" fmla="*/ 0 w 5205158"/>
              <a:gd name="connsiteY0" fmla="*/ 0 h 6858000"/>
              <a:gd name="connsiteX1" fmla="*/ 4377139 w 5205158"/>
              <a:gd name="connsiteY1" fmla="*/ 0 h 6858000"/>
              <a:gd name="connsiteX2" fmla="*/ 5205158 w 5205158"/>
              <a:gd name="connsiteY2" fmla="*/ 1713978 h 6858000"/>
              <a:gd name="connsiteX3" fmla="*/ 4370092 w 5205158"/>
              <a:gd name="connsiteY3" fmla="*/ 6858000 h 6858000"/>
              <a:gd name="connsiteX4" fmla="*/ 0 w 5205158"/>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05158" h="6858000">
                <a:moveTo>
                  <a:pt x="0" y="0"/>
                </a:moveTo>
                <a:lnTo>
                  <a:pt x="4377139" y="0"/>
                </a:lnTo>
                <a:lnTo>
                  <a:pt x="5205158" y="1713978"/>
                </a:lnTo>
                <a:lnTo>
                  <a:pt x="4370092" y="6858000"/>
                </a:lnTo>
                <a:lnTo>
                  <a:pt x="0" y="6858000"/>
                </a:lnTo>
                <a:close/>
              </a:path>
            </a:pathLst>
          </a:custGeom>
          <a:blipFill>
            <a:blip r:embed="rId10"/>
            <a:stretch>
              <a:fillRect/>
            </a:stretch>
          </a:blipFill>
        </p:spPr>
        <p:txBody>
          <a:bodyPr wrap="square" tIns="2700000">
            <a:noAutofit/>
          </a:bodyPr>
          <a:lstStyle>
            <a:lvl1pPr marL="0" indent="0" algn="ctr" rtl="0">
              <a:buNone/>
              <a:defRPr/>
            </a:lvl1pPr>
          </a:lstStyle>
          <a:p>
            <a:r>
              <a:rPr lang="en-US"/>
              <a:t>Click icon to add picture</a:t>
            </a:r>
            <a:endParaRPr lang="de-DE"/>
          </a:p>
        </p:txBody>
      </p:sp>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A2558C1A-A4CE-495C-941B-21CFE7DE6C24}"/>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4192423285"/>
      </p:ext>
    </p:extLst>
  </p:cSld>
  <p:clrMapOvr>
    <a:masterClrMapping/>
  </p:clrMapOvr>
  <p:hf sldNum="0" hdr="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5">
    <p:bg>
      <p:bgPr>
        <a:solidFill>
          <a:schemeClr val="bg1"/>
        </a:solidFill>
        <a:effectLst/>
      </p:bgPr>
    </p:bg>
    <p:spTree>
      <p:nvGrpSpPr>
        <p:cNvPr id="1" name=""/>
        <p:cNvGrpSpPr/>
        <p:nvPr/>
      </p:nvGrpSpPr>
      <p:grpSpPr>
        <a:xfrm>
          <a:off x="0" y="0"/>
          <a:ext cx="0" cy="0"/>
          <a:chOff x="0" y="0"/>
          <a:chExt cx="0" cy="0"/>
        </a:xfrm>
      </p:grpSpPr>
      <p:sp>
        <p:nvSpPr>
          <p:cNvPr id="4" name="LOGO PROTECTION">
            <a:extLst>
              <a:ext uri="{FF2B5EF4-FFF2-40B4-BE49-F238E27FC236}">
                <a16:creationId xmlns:a16="http://schemas.microsoft.com/office/drawing/2014/main" id="{4DCE96B1-83D3-EAE7-D992-044F49F60C08}"/>
              </a:ext>
            </a:extLst>
          </p:cNvPr>
          <p:cNvSpPr/>
          <p:nvPr userDrawn="1">
            <p:custDataLst>
              <p:tags r:id="rId1"/>
            </p:custDataLst>
          </p:nvPr>
        </p:nvSpPr>
        <p:spPr bwMode="auto">
          <a:xfrm>
            <a:off x="263352" y="236633"/>
            <a:ext cx="1772684" cy="960119"/>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dirty="0">
              <a:latin typeface="+mn-lt"/>
              <a:ea typeface="+mn-ea"/>
              <a:cs typeface="+mn-cs"/>
            </a:endParaRPr>
          </a:p>
        </p:txBody>
      </p:sp>
      <p:sp>
        <p:nvSpPr>
          <p:cNvPr id="7" name="Background White">
            <a:extLst>
              <a:ext uri="{FF2B5EF4-FFF2-40B4-BE49-F238E27FC236}">
                <a16:creationId xmlns:a16="http://schemas.microsoft.com/office/drawing/2014/main" id="{FBA286CB-2DB7-49EA-ABB9-E63BB6315EDB}"/>
              </a:ext>
            </a:extLst>
          </p:cNvPr>
          <p:cNvSpPr/>
          <p:nvPr/>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dirty="0">
              <a:latin typeface="+mn-lt"/>
              <a:ea typeface="+mn-ea"/>
              <a:cs typeface="+mn-cs"/>
            </a:endParaRPr>
          </a:p>
        </p:txBody>
      </p:sp>
      <p:pic>
        <p:nvPicPr>
          <p:cNvPr id="2" name="Picture 1" descr="A close-up of a plant&#10;&#10;Description automatically generated">
            <a:extLst>
              <a:ext uri="{FF2B5EF4-FFF2-40B4-BE49-F238E27FC236}">
                <a16:creationId xmlns:a16="http://schemas.microsoft.com/office/drawing/2014/main" id="{D8A43A75-D6CE-2257-415C-1E0787C2AD10}"/>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0" y="0"/>
            <a:ext cx="5206538" cy="6858000"/>
          </a:xfrm>
          <a:prstGeom prst="rect">
            <a:avLst/>
          </a:prstGeom>
        </p:spPr>
      </p:pic>
      <p:sp>
        <p:nvSpPr>
          <p:cNvPr id="35" name="Subtitle"/>
          <p:cNvSpPr>
            <a:spLocks noGrp="1"/>
          </p:cNvSpPr>
          <p:nvPr>
            <p:ph type="subTitle" idx="1" hasCustomPrompt="1"/>
          </p:nvPr>
        </p:nvSpPr>
        <p:spPr>
          <a:xfrm>
            <a:off x="5808608" y="3790101"/>
            <a:ext cx="576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5" name="Title">
            <a:extLst>
              <a:ext uri="{FF2B5EF4-FFF2-40B4-BE49-F238E27FC236}">
                <a16:creationId xmlns:a16="http://schemas.microsoft.com/office/drawing/2014/main" id="{0926292C-4FD6-404F-8149-3EB0B4DF87BE}"/>
              </a:ext>
            </a:extLst>
          </p:cNvPr>
          <p:cNvSpPr>
            <a:spLocks noGrp="1"/>
          </p:cNvSpPr>
          <p:nvPr>
            <p:ph type="title" hasCustomPrompt="1"/>
            <p:custDataLst>
              <p:tags r:id="rId2"/>
            </p:custDataLst>
          </p:nvPr>
        </p:nvSpPr>
        <p:spPr>
          <a:xfrm>
            <a:off x="5808608" y="1757203"/>
            <a:ext cx="5760000" cy="1672899"/>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275E4ACD-2699-4EB4-B72E-2EBE63C205D6}"/>
              </a:ext>
            </a:extLst>
          </p:cNvPr>
          <p:cNvSpPr txBox="1"/>
          <p:nvPr>
            <p:custDataLst>
              <p:tags r:id="rId3"/>
            </p:custDataLst>
          </p:nvPr>
        </p:nvSpPr>
        <p:spPr bwMode="auto">
          <a:xfrm>
            <a:off x="5808608"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2E1A11AC-1395-4E21-827C-BF03F1350E73}"/>
              </a:ext>
            </a:extLst>
          </p:cNvPr>
          <p:cNvSpPr txBox="1"/>
          <p:nvPr>
            <p:custDataLst>
              <p:tags r:id="rId4"/>
            </p:custDataLst>
          </p:nvPr>
        </p:nvSpPr>
        <p:spPr bwMode="auto">
          <a:xfrm>
            <a:off x="5808608"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endParaRPr lang="en-US" sz="800" kern="0" baseline="0" noProof="0" dirty="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8A1DAB4F-0FA1-4116-AD11-2FAD7B4CA74A}"/>
              </a:ext>
            </a:extLst>
          </p:cNvPr>
          <p:cNvSpPr txBox="1"/>
          <p:nvPr>
            <p:custDataLst>
              <p:tags r:id="rId5"/>
            </p:custDataLst>
          </p:nvPr>
        </p:nvSpPr>
        <p:spPr bwMode="auto">
          <a:xfrm>
            <a:off x="8328521"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algn="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endParaRPr lang="en-US" sz="800" kern="0" baseline="0" noProof="0" dirty="0">
              <a:solidFill>
                <a:schemeClr val="tx1"/>
              </a:solidFill>
              <a:latin typeface="+mn-lt"/>
              <a:ea typeface="+mn-ea"/>
              <a:cs typeface="+mn-cs"/>
            </a:endParaRPr>
          </a:p>
        </p:txBody>
      </p:sp>
      <p:sp>
        <p:nvSpPr>
          <p:cNvPr id="19" name="empower_draft_placeholder" hidden="1">
            <a:extLst>
              <a:ext uri="{FF2B5EF4-FFF2-40B4-BE49-F238E27FC236}">
                <a16:creationId xmlns:a16="http://schemas.microsoft.com/office/drawing/2014/main" id="{6199DA7C-0CA0-4D66-B211-C7E7EAED8246}"/>
              </a:ext>
            </a:extLst>
          </p:cNvPr>
          <p:cNvSpPr txBox="1"/>
          <p:nvPr userDrawn="1">
            <p:custDataLst>
              <p:tags r:id="rId6"/>
            </p:custDataLst>
          </p:nvPr>
        </p:nvSpPr>
        <p:spPr bwMode="auto">
          <a:xfrm>
            <a:off x="7464565"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77B7EDDE-B2BF-41DF-B12E-29C55B064D28}"/>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6" name="MIO_AGENDA_IGNORE_CHAPTER_REFERENCE" hidden="1">
            <a:extLst>
              <a:ext uri="{FF2B5EF4-FFF2-40B4-BE49-F238E27FC236}">
                <a16:creationId xmlns:a16="http://schemas.microsoft.com/office/drawing/2014/main" id="{77CD087C-DFE1-43D5-AF8C-29BB0B90F672}"/>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8A2B950C-C584-4156-BAA9-284D4A5BB0F4}"/>
              </a:ext>
            </a:extLst>
          </p:cNvPr>
          <p:cNvSpPr>
            <a:spLocks noGrp="1"/>
          </p:cNvSpPr>
          <p:nvPr>
            <p:ph type="dt" sz="half" idx="19"/>
            <p:custDataLst>
              <p:tags r:id="rId7"/>
            </p:custDataLst>
          </p:nvPr>
        </p:nvSpPr>
        <p:spPr/>
        <p:txBody>
          <a:bodyPr/>
          <a:lstStyle/>
          <a:p>
            <a:r>
              <a:rPr lang="en-US" b="1"/>
              <a:t> </a:t>
            </a:r>
            <a:endParaRPr lang="en-US" b="1" dirty="0"/>
          </a:p>
        </p:txBody>
      </p:sp>
      <p:sp>
        <p:nvSpPr>
          <p:cNvPr id="18" name="Slide Number Placeholder 17" hidden="1">
            <a:extLst>
              <a:ext uri="{FF2B5EF4-FFF2-40B4-BE49-F238E27FC236}">
                <a16:creationId xmlns:a16="http://schemas.microsoft.com/office/drawing/2014/main" id="{237973C6-0D90-4AEE-BB6E-AE4A8B5BA26B}"/>
              </a:ext>
            </a:extLst>
          </p:cNvPr>
          <p:cNvSpPr>
            <a:spLocks noGrp="1"/>
          </p:cNvSpPr>
          <p:nvPr>
            <p:ph type="sldNum" sz="quarter" idx="21"/>
            <p:custDataLst>
              <p:tags r:id="rId8"/>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D727B4D6-DF5E-49B7-A837-D207551F22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12" name="LOGO">
            <a:extLst>
              <a:ext uri="{FF2B5EF4-FFF2-40B4-BE49-F238E27FC236}">
                <a16:creationId xmlns:a16="http://schemas.microsoft.com/office/drawing/2014/main" id="{1807AF6D-9E64-2C4F-72B8-8E1B696F07B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rcRect/>
          <a:stretch/>
        </p:blipFill>
        <p:spPr>
          <a:xfrm>
            <a:off x="334800" y="353272"/>
            <a:ext cx="1574433" cy="687428"/>
          </a:xfrm>
          <a:prstGeom prst="rect">
            <a:avLst/>
          </a:prstGeom>
        </p:spPr>
      </p:pic>
      <p:pic>
        <p:nvPicPr>
          <p:cNvPr id="20" name="LOGO Award Innovation" descr="Ein Bild, das Text, Screenshot, Schrift, Kreis enthält.&#10;&#10;KI-generierte Inhalte können fehlerhaft sein.">
            <a:extLst>
              <a:ext uri="{FF2B5EF4-FFF2-40B4-BE49-F238E27FC236}">
                <a16:creationId xmlns:a16="http://schemas.microsoft.com/office/drawing/2014/main" id="{B9B3D97A-9BFB-40A0-9441-80DA943DDD7F}"/>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9178096" y="5583917"/>
            <a:ext cx="1388241" cy="670382"/>
          </a:xfrm>
          <a:prstGeom prst="rect">
            <a:avLst/>
          </a:prstGeom>
        </p:spPr>
      </p:pic>
      <p:pic>
        <p:nvPicPr>
          <p:cNvPr id="21" name="LOGO Award Sustainability" descr="Ein Bild, das Schwarz, Dunkelheit enthält.&#10;&#10;Automatisch generierte Beschreibung">
            <a:extLst>
              <a:ext uri="{FF2B5EF4-FFF2-40B4-BE49-F238E27FC236}">
                <a16:creationId xmlns:a16="http://schemas.microsoft.com/office/drawing/2014/main" id="{19FCA7E8-3379-4D22-BCD2-3178461C8B7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897966" y="5583917"/>
            <a:ext cx="670034" cy="670034"/>
          </a:xfrm>
          <a:prstGeom prst="rect">
            <a:avLst/>
          </a:prstGeom>
        </p:spPr>
      </p:pic>
    </p:spTree>
    <p:extLst>
      <p:ext uri="{BB962C8B-B14F-4D97-AF65-F5344CB8AC3E}">
        <p14:creationId xmlns:p14="http://schemas.microsoft.com/office/powerpoint/2010/main" val="50627589"/>
      </p:ext>
    </p:extLst>
  </p:cSld>
  <p:clrMapOvr>
    <a:masterClrMapping/>
  </p:clrMapOvr>
  <p:hf sldNum="0" hdr="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ation title 3">
    <p:bg>
      <p:bgPr>
        <a:solidFill>
          <a:schemeClr val="bg1"/>
        </a:solidFill>
        <a:effectLst/>
      </p:bgPr>
    </p:bg>
    <p:spTree>
      <p:nvGrpSpPr>
        <p:cNvPr id="1" name=""/>
        <p:cNvGrpSpPr/>
        <p:nvPr/>
      </p:nvGrpSpPr>
      <p:grpSpPr>
        <a:xfrm>
          <a:off x="0" y="0"/>
          <a:ext cx="0" cy="0"/>
          <a:chOff x="0" y="0"/>
          <a:chExt cx="0" cy="0"/>
        </a:xfrm>
      </p:grpSpPr>
      <p:sp>
        <p:nvSpPr>
          <p:cNvPr id="5" name="LOGO PROTECTION" hidden="1">
            <a:extLst>
              <a:ext uri="{FF2B5EF4-FFF2-40B4-BE49-F238E27FC236}">
                <a16:creationId xmlns:a16="http://schemas.microsoft.com/office/drawing/2014/main" id="{D04A951B-0B3C-4A20-86D2-B3C8F8FB9563}"/>
              </a:ext>
            </a:extLst>
          </p:cNvPr>
          <p:cNvSpPr/>
          <p:nvPr>
            <p:custDataLst>
              <p:tags r:id="rId1"/>
            </p:custDataLst>
          </p:nvPr>
        </p:nvSpPr>
        <p:spPr bwMode="auto">
          <a:xfrm>
            <a:off x="9624391" y="5337212"/>
            <a:ext cx="2060717" cy="1116123"/>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Background White">
            <a:extLst>
              <a:ext uri="{FF2B5EF4-FFF2-40B4-BE49-F238E27FC236}">
                <a16:creationId xmlns:a16="http://schemas.microsoft.com/office/drawing/2014/main" id="{1FBC75BD-957B-1EC7-B3A9-8C67FC480706}"/>
              </a:ext>
            </a:extLst>
          </p:cNvPr>
          <p:cNvSpPr/>
          <p:nvPr userDrawn="1"/>
        </p:nvSpPr>
        <p:spPr bwMode="auto">
          <a:xfrm>
            <a:off x="0" y="0"/>
            <a:ext cx="12193200" cy="6858000"/>
          </a:xfrm>
          <a:prstGeom prst="rect">
            <a:avLst/>
          </a:prstGeom>
          <a:solidFill>
            <a:schemeClr val="bg1"/>
          </a:solidFill>
          <a:ln w="9525">
            <a:noFill/>
            <a:miter lim="800000"/>
            <a:headEnd/>
            <a:tailEnd/>
          </a:ln>
        </p:spPr>
        <p:txBody>
          <a:bodyPr wrap="square" lIns="96000" tIns="96000" rIns="96000" bIns="96000" rtlCol="0" anchor="ctr"/>
          <a:lstStyle/>
          <a:p>
            <a:pPr algn="ctr" rtl="0" eaLnBrk="0" hangingPunct="0"/>
            <a:endParaRPr lang="en-US" sz="2133" baseline="0" noProof="0">
              <a:latin typeface="+mn-lt"/>
              <a:ea typeface="+mn-ea"/>
              <a:cs typeface="+mn-cs"/>
            </a:endParaRPr>
          </a:p>
        </p:txBody>
      </p:sp>
      <p:sp>
        <p:nvSpPr>
          <p:cNvPr id="3" name="Crystal Shape">
            <a:extLst>
              <a:ext uri="{FF2B5EF4-FFF2-40B4-BE49-F238E27FC236}">
                <a16:creationId xmlns:a16="http://schemas.microsoft.com/office/drawing/2014/main" id="{2EA7ACC0-9174-0F6F-0B3E-9FE773D0A408}"/>
              </a:ext>
            </a:extLst>
          </p:cNvPr>
          <p:cNvSpPr/>
          <p:nvPr userDrawn="1"/>
        </p:nvSpPr>
        <p:spPr bwMode="auto">
          <a:xfrm>
            <a:off x="2" y="1"/>
            <a:ext cx="12191999" cy="3932241"/>
          </a:xfrm>
          <a:custGeom>
            <a:avLst/>
            <a:gdLst>
              <a:gd name="connsiteX0" fmla="*/ 0 w 12191999"/>
              <a:gd name="connsiteY0" fmla="*/ 0 h 3932241"/>
              <a:gd name="connsiteX1" fmla="*/ 12191999 w 12191999"/>
              <a:gd name="connsiteY1" fmla="*/ 0 h 3932241"/>
              <a:gd name="connsiteX2" fmla="*/ 12191999 w 12191999"/>
              <a:gd name="connsiteY2" fmla="*/ 3726156 h 3932241"/>
              <a:gd name="connsiteX3" fmla="*/ 3063660 w 12191999"/>
              <a:gd name="connsiteY3" fmla="*/ 2179105 h 3932241"/>
              <a:gd name="connsiteX4" fmla="*/ 387 w 12191999"/>
              <a:gd name="connsiteY4" fmla="*/ 3726157 h 3932241"/>
              <a:gd name="connsiteX5" fmla="*/ 387 w 12191999"/>
              <a:gd name="connsiteY5" fmla="*/ 3932241 h 3932241"/>
              <a:gd name="connsiteX6" fmla="*/ 0 w 12191999"/>
              <a:gd name="connsiteY6" fmla="*/ 3932241 h 3932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9" h="3932241">
                <a:moveTo>
                  <a:pt x="0" y="0"/>
                </a:moveTo>
                <a:lnTo>
                  <a:pt x="12191999" y="0"/>
                </a:lnTo>
                <a:lnTo>
                  <a:pt x="12191999" y="3726156"/>
                </a:lnTo>
                <a:lnTo>
                  <a:pt x="3063660" y="2179105"/>
                </a:lnTo>
                <a:lnTo>
                  <a:pt x="387" y="3726157"/>
                </a:lnTo>
                <a:lnTo>
                  <a:pt x="387" y="3932241"/>
                </a:lnTo>
                <a:lnTo>
                  <a:pt x="0" y="3932241"/>
                </a:lnTo>
                <a:close/>
              </a:path>
            </a:pathLst>
          </a:custGeom>
          <a:solidFill>
            <a:srgbClr val="0A8276"/>
          </a:solidFill>
          <a:ln w="9525">
            <a:noFill/>
            <a:miter lim="800000"/>
            <a:headEnd/>
            <a:tailEnd/>
          </a:ln>
        </p:spPr>
        <p:txBody>
          <a:bodyPr wrap="square" lIns="72000" tIns="72000" rIns="72000" bIns="72000" rtlCol="0" anchor="ctr">
            <a:noAutofit/>
          </a:bodyPr>
          <a:lstStyle/>
          <a:p>
            <a:pPr algn="ctr" defTabSz="576000" rtl="0" eaLnBrk="0" hangingPunct="0">
              <a:lnSpc>
                <a:spcPct val="120000"/>
              </a:lnSpc>
            </a:pPr>
            <a:endParaRPr lang="de-DE" sz="1600" baseline="0" dirty="0">
              <a:solidFill>
                <a:schemeClr val="bg1"/>
              </a:solidFill>
              <a:latin typeface="+mn-lt"/>
              <a:ea typeface="+mn-ea"/>
              <a:cs typeface="+mn-cs"/>
            </a:endParaRPr>
          </a:p>
        </p:txBody>
      </p:sp>
      <p:sp>
        <p:nvSpPr>
          <p:cNvPr id="36" name="Subtitle"/>
          <p:cNvSpPr>
            <a:spLocks noGrp="1"/>
          </p:cNvSpPr>
          <p:nvPr>
            <p:ph type="subTitle" idx="1" hasCustomPrompt="1"/>
          </p:nvPr>
        </p:nvSpPr>
        <p:spPr>
          <a:xfrm>
            <a:off x="624000" y="5641200"/>
            <a:ext cx="8280000" cy="612000"/>
          </a:xfrm>
          <a:prstGeom prst="rect">
            <a:avLst/>
          </a:prstGeom>
        </p:spPr>
        <p:txBody>
          <a:bodyPr vert="horz" wrap="square" lIns="0" tIns="0" rIns="0" bIns="0" rtlCol="0" anchor="b" anchorCtr="0">
            <a:noAutofit/>
          </a:bodyPr>
          <a:lstStyle>
            <a:lvl1pPr marL="0" indent="0" algn="l">
              <a:spcAft>
                <a:spcPts val="0"/>
              </a:spcAft>
              <a:buNone/>
              <a:defRPr lang="en-GB" sz="1800" baseline="0" noProof="0" dirty="0">
                <a:solidFill>
                  <a:schemeClr val="tx1"/>
                </a:solidFill>
                <a:latin typeface="+mn-lt"/>
                <a:ea typeface="+mn-ea"/>
                <a:cs typeface="+mn-cs"/>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pPr lvl="0"/>
            <a:r>
              <a:rPr lang="en-US" noProof="0" dirty="0"/>
              <a:t>Author (department)</a:t>
            </a:r>
            <a:br>
              <a:rPr lang="en-US" noProof="0" dirty="0"/>
            </a:br>
            <a:r>
              <a:rPr lang="en-US" noProof="0" dirty="0"/>
              <a:t>Date</a:t>
            </a:r>
          </a:p>
        </p:txBody>
      </p:sp>
      <p:sp>
        <p:nvSpPr>
          <p:cNvPr id="16" name="Title">
            <a:extLst>
              <a:ext uri="{FF2B5EF4-FFF2-40B4-BE49-F238E27FC236}">
                <a16:creationId xmlns:a16="http://schemas.microsoft.com/office/drawing/2014/main" id="{DDFB9099-E080-4657-A124-1583A7385081}"/>
              </a:ext>
            </a:extLst>
          </p:cNvPr>
          <p:cNvSpPr>
            <a:spLocks noGrp="1"/>
          </p:cNvSpPr>
          <p:nvPr>
            <p:ph type="title" hasCustomPrompt="1"/>
            <p:custDataLst>
              <p:tags r:id="rId2"/>
            </p:custDataLst>
          </p:nvPr>
        </p:nvSpPr>
        <p:spPr>
          <a:xfrm>
            <a:off x="624001" y="4161599"/>
            <a:ext cx="8280000" cy="1119600"/>
          </a:xfrm>
        </p:spPr>
        <p:txBody>
          <a:bodyPr bIns="0" anchor="b">
            <a:normAutofit/>
          </a:bodyPr>
          <a:lstStyle>
            <a:lvl1pPr algn="l">
              <a:defRPr sz="3600" baseline="0">
                <a:latin typeface="+mj-lt"/>
                <a:ea typeface="+mj-ea"/>
                <a:cs typeface="+mj-cs"/>
              </a:defRPr>
            </a:lvl1pPr>
          </a:lstStyle>
          <a:p>
            <a:r>
              <a:rPr lang="en-US" noProof="0" dirty="0"/>
              <a:t>Please type in title</a:t>
            </a:r>
          </a:p>
        </p:txBody>
      </p:sp>
      <p:sp>
        <p:nvSpPr>
          <p:cNvPr id="8" name="empower_classification_attention_placeholder" hidden="1">
            <a:extLst>
              <a:ext uri="{FF2B5EF4-FFF2-40B4-BE49-F238E27FC236}">
                <a16:creationId xmlns:a16="http://schemas.microsoft.com/office/drawing/2014/main" id="{597455C0-1C86-4D66-BC01-C39FC0636301}"/>
              </a:ext>
            </a:extLst>
          </p:cNvPr>
          <p:cNvSpPr txBox="1"/>
          <p:nvPr>
            <p:custDataLst>
              <p:tags r:id="rId3"/>
            </p:custDataLst>
          </p:nvPr>
        </p:nvSpPr>
        <p:spPr bwMode="auto">
          <a:xfrm>
            <a:off x="5411800" y="6501600"/>
            <a:ext cx="1368401"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9" name="empower_classification_placeholder">
            <a:extLst>
              <a:ext uri="{FF2B5EF4-FFF2-40B4-BE49-F238E27FC236}">
                <a16:creationId xmlns:a16="http://schemas.microsoft.com/office/drawing/2014/main" id="{F2A69E30-B66A-4640-A0FD-5D2C3EE160B0}"/>
              </a:ext>
            </a:extLst>
          </p:cNvPr>
          <p:cNvSpPr txBox="1"/>
          <p:nvPr>
            <p:custDataLst>
              <p:tags r:id="rId4"/>
            </p:custDataLst>
          </p:nvPr>
        </p:nvSpPr>
        <p:spPr bwMode="auto">
          <a:xfrm>
            <a:off x="5412000" y="6501600"/>
            <a:ext cx="1368000" cy="288925"/>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restricted</a:t>
            </a:r>
          </a:p>
        </p:txBody>
      </p:sp>
      <p:sp>
        <p:nvSpPr>
          <p:cNvPr id="10" name="empower_document_placeholder" hidden="1">
            <a:extLst>
              <a:ext uri="{FF2B5EF4-FFF2-40B4-BE49-F238E27FC236}">
                <a16:creationId xmlns:a16="http://schemas.microsoft.com/office/drawing/2014/main" id="{96E39437-30C8-4D2C-BDE0-D743E3FA80DD}"/>
              </a:ext>
            </a:extLst>
          </p:cNvPr>
          <p:cNvSpPr txBox="1"/>
          <p:nvPr>
            <p:custDataLst>
              <p:tags r:id="rId5"/>
            </p:custDataLst>
          </p:nvPr>
        </p:nvSpPr>
        <p:spPr bwMode="auto">
          <a:xfrm>
            <a:off x="624000" y="6501600"/>
            <a:ext cx="3240087" cy="2889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[Owner:   Doc ID:   Vers.: ]</a:t>
            </a:r>
          </a:p>
        </p:txBody>
      </p:sp>
      <p:sp>
        <p:nvSpPr>
          <p:cNvPr id="19" name="empower_draft_placeholder" hidden="1">
            <a:extLst>
              <a:ext uri="{FF2B5EF4-FFF2-40B4-BE49-F238E27FC236}">
                <a16:creationId xmlns:a16="http://schemas.microsoft.com/office/drawing/2014/main" id="{4B8FCDCD-762A-43C6-901A-F85ED8B716CE}"/>
              </a:ext>
            </a:extLst>
          </p:cNvPr>
          <p:cNvSpPr txBox="1"/>
          <p:nvPr userDrawn="1">
            <p:custDataLst>
              <p:tags r:id="rId6"/>
            </p:custDataLst>
          </p:nvPr>
        </p:nvSpPr>
        <p:spPr bwMode="auto">
          <a:xfrm>
            <a:off x="4350044" y="6501239"/>
            <a:ext cx="576000" cy="2880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6" name="MIO_AGENDA_IGNORE_NAVIGATION" hidden="1">
            <a:extLst>
              <a:ext uri="{FF2B5EF4-FFF2-40B4-BE49-F238E27FC236}">
                <a16:creationId xmlns:a16="http://schemas.microsoft.com/office/drawing/2014/main" id="{E1EDD075-E4C7-4D42-B9EA-266CAA36278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CHAPTER_REFERENCE" hidden="1">
            <a:extLst>
              <a:ext uri="{FF2B5EF4-FFF2-40B4-BE49-F238E27FC236}">
                <a16:creationId xmlns:a16="http://schemas.microsoft.com/office/drawing/2014/main" id="{69714F47-DD62-4063-BF75-AE10B75ACD2F}"/>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1" name="Date Placeholder 10" hidden="1">
            <a:extLst>
              <a:ext uri="{FF2B5EF4-FFF2-40B4-BE49-F238E27FC236}">
                <a16:creationId xmlns:a16="http://schemas.microsoft.com/office/drawing/2014/main" id="{C4801112-C226-4D1B-8109-89A1EA6E6950}"/>
              </a:ext>
            </a:extLst>
          </p:cNvPr>
          <p:cNvSpPr>
            <a:spLocks noGrp="1"/>
          </p:cNvSpPr>
          <p:nvPr>
            <p:ph type="dt" sz="half" idx="15"/>
            <p:custDataLst>
              <p:tags r:id="rId7"/>
            </p:custDataLst>
          </p:nvPr>
        </p:nvSpPr>
        <p:spPr/>
        <p:txBody>
          <a:bodyPr/>
          <a:lstStyle/>
          <a:p>
            <a:r>
              <a:rPr lang="en-US" b="1"/>
              <a:t> </a:t>
            </a:r>
            <a:endParaRPr lang="en-US" b="1" dirty="0"/>
          </a:p>
        </p:txBody>
      </p:sp>
      <p:sp>
        <p:nvSpPr>
          <p:cNvPr id="17" name="Footer Placeholder 16" hidden="1">
            <a:extLst>
              <a:ext uri="{FF2B5EF4-FFF2-40B4-BE49-F238E27FC236}">
                <a16:creationId xmlns:a16="http://schemas.microsoft.com/office/drawing/2014/main" id="{4A132925-95FA-4753-A3A8-100A8B4A5840}"/>
              </a:ext>
            </a:extLst>
          </p:cNvPr>
          <p:cNvSpPr>
            <a:spLocks noGrp="1"/>
          </p:cNvSpPr>
          <p:nvPr>
            <p:ph type="ftr" sz="quarter" idx="16"/>
            <p:custDataLst>
              <p:tags r:id="rId8"/>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90BC69B8-D726-4EBC-AE1A-053251677C8B}"/>
              </a:ext>
            </a:extLst>
          </p:cNvPr>
          <p:cNvSpPr>
            <a:spLocks noGrp="1"/>
          </p:cNvSpPr>
          <p:nvPr>
            <p:ph type="sldNum" sz="quarter" idx="17"/>
            <p:custDataLst>
              <p:tags r:id="rId9"/>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3B046A58-B894-4C62-9312-C4EF9EDFF3F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20" name="LOGO">
            <a:extLst>
              <a:ext uri="{FF2B5EF4-FFF2-40B4-BE49-F238E27FC236}">
                <a16:creationId xmlns:a16="http://schemas.microsoft.com/office/drawing/2014/main" id="{0090C8BE-0F32-4CF4-BB5D-F435E6072DCB}"/>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9738355" y="5453288"/>
            <a:ext cx="1830253" cy="800431"/>
          </a:xfrm>
          <a:prstGeom prst="rect">
            <a:avLst/>
          </a:prstGeom>
        </p:spPr>
      </p:pic>
    </p:spTree>
    <p:extLst>
      <p:ext uri="{BB962C8B-B14F-4D97-AF65-F5344CB8AC3E}">
        <p14:creationId xmlns:p14="http://schemas.microsoft.com/office/powerpoint/2010/main" val="2281391533"/>
      </p:ext>
    </p:extLst>
  </p:cSld>
  <p:clrMapOvr>
    <a:masterClrMapping/>
  </p:clrMapOvr>
  <p:hf sldNum="0" hdr="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empower_additionalText_placeholder" hidden="1">
            <a:extLst>
              <a:ext uri="{FF2B5EF4-FFF2-40B4-BE49-F238E27FC236}">
                <a16:creationId xmlns:a16="http://schemas.microsoft.com/office/drawing/2014/main" id="{93F7048C-8316-453D-8883-8716B78B0306}"/>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19AD8A63-6441-49F3-BD90-8D4DF9E47EE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7EE7D08-6A4F-4583-B0FB-2642238529C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BBB3932D-D47B-4955-93EE-467AC52E4E27}"/>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BB857729-3B9C-45BF-8F44-236D56EED406}"/>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ED12D396-6789-4220-B5FF-8F4E755A3C76}"/>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7C1E426-F34B-4FFB-A688-C9E251A8BC0B}"/>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6976A686-032A-4DD8-ACB2-F6323D2BEB1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2025-09-03</a:t>
            </a:r>
            <a:endParaRPr lang="en-US" sz="800" kern="0" baseline="0" noProof="0" dirty="0">
              <a:solidFill>
                <a:schemeClr val="tx1"/>
              </a:solidFill>
              <a:latin typeface="+mn-lt"/>
              <a:ea typeface="+mn-ea"/>
              <a:cs typeface="+mn-cs"/>
            </a:endParaRPr>
          </a:p>
        </p:txBody>
      </p:sp>
      <p:sp>
        <p:nvSpPr>
          <p:cNvPr id="6" name="Title">
            <a:extLst>
              <a:ext uri="{FF2B5EF4-FFF2-40B4-BE49-F238E27FC236}">
                <a16:creationId xmlns:a16="http://schemas.microsoft.com/office/drawing/2014/main" id="{4807386D-5007-41B0-8720-8A575EEBAF4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F5FE3C92-21D9-4EC7-8208-A5BA097E9D7D}"/>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D1F9AA12-4C8C-4488-AF38-E06943B19AAF}"/>
              </a:ext>
            </a:extLst>
          </p:cNvPr>
          <p:cNvSpPr>
            <a:spLocks noGrp="1"/>
          </p:cNvSpPr>
          <p:nvPr>
            <p:ph type="dt" sz="half" idx="10"/>
            <p:custDataLst>
              <p:tags r:id="rId10"/>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971F8BAB-E178-4122-ADFD-FE4894CC864F}"/>
              </a:ext>
            </a:extLst>
          </p:cNvPr>
          <p:cNvSpPr>
            <a:spLocks noGrp="1"/>
          </p:cNvSpPr>
          <p:nvPr>
            <p:ph type="ftr" sz="quarter" idx="11"/>
            <p:custDataLst>
              <p:tags r:id="rId11"/>
            </p:custDataLst>
          </p:nvPr>
        </p:nvSpPr>
        <p:spPr/>
        <p:txBody>
          <a:bodyPr/>
          <a:lstStyle/>
          <a:p>
            <a:endParaRPr lang="en-US" dirty="0"/>
          </a:p>
        </p:txBody>
      </p:sp>
      <p:sp>
        <p:nvSpPr>
          <p:cNvPr id="11" name="Slide Number Placeholder 10" hidden="1">
            <a:extLst>
              <a:ext uri="{FF2B5EF4-FFF2-40B4-BE49-F238E27FC236}">
                <a16:creationId xmlns:a16="http://schemas.microsoft.com/office/drawing/2014/main" id="{F4BB077B-5178-4306-A596-17CDBFA21A56}"/>
              </a:ext>
            </a:extLst>
          </p:cNvPr>
          <p:cNvSpPr>
            <a:spLocks noGrp="1"/>
          </p:cNvSpPr>
          <p:nvPr>
            <p:ph type="sldNum" sz="quarter" idx="12"/>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D23B78-ED4D-4135-B16E-F5097554D30C}"/>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2" orient="horz" pos="4020">
          <p15:clr>
            <a:srgbClr val="FBAE40"/>
          </p15:clr>
        </p15:guide>
        <p15:guide id="3" pos="7469">
          <p15:clr>
            <a:srgbClr val="FBAE40"/>
          </p15:clr>
        </p15:guide>
        <p15:guide id="4" pos="211">
          <p15:clr>
            <a:srgbClr val="FBAE40"/>
          </p15:clr>
        </p15:guide>
        <p15:guide id="15" orient="horz" pos="7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8" name="empower_additionalText_placeholder" hidden="1">
            <a:extLst>
              <a:ext uri="{FF2B5EF4-FFF2-40B4-BE49-F238E27FC236}">
                <a16:creationId xmlns:a16="http://schemas.microsoft.com/office/drawing/2014/main" id="{9D9C4037-B0BC-4E62-B476-A41D0440655D}"/>
              </a:ext>
            </a:extLst>
          </p:cNvPr>
          <p:cNvSpPr txBox="1">
            <a:spLocks/>
          </p:cNvSpPr>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1" name="empower_document_placeholder" hidden="1">
            <a:extLst>
              <a:ext uri="{FF2B5EF4-FFF2-40B4-BE49-F238E27FC236}">
                <a16:creationId xmlns:a16="http://schemas.microsoft.com/office/drawing/2014/main" id="{7BEA6DD0-FBBB-494B-9C03-C447E71492A5}"/>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3" name="empower_proprietary_placeholder" hidden="1">
            <a:extLst>
              <a:ext uri="{FF2B5EF4-FFF2-40B4-BE49-F238E27FC236}">
                <a16:creationId xmlns:a16="http://schemas.microsoft.com/office/drawing/2014/main" id="{295E96AB-B6AB-4A8B-A097-6438B2DA5C51}"/>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5" name="empower_draft_placeholder" hidden="1">
            <a:extLst>
              <a:ext uri="{FF2B5EF4-FFF2-40B4-BE49-F238E27FC236}">
                <a16:creationId xmlns:a16="http://schemas.microsoft.com/office/drawing/2014/main" id="{0B3EC6CF-5868-40BD-BF1B-882B13F49F5C}"/>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7" name="empower_footer_placeholder">
            <a:extLst>
              <a:ext uri="{FF2B5EF4-FFF2-40B4-BE49-F238E27FC236}">
                <a16:creationId xmlns:a16="http://schemas.microsoft.com/office/drawing/2014/main" id="{FE09BAC5-F3BC-4C51-A794-098F4099C052}"/>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9" name="empower_classification_attention_placeholder" hidden="1">
            <a:extLst>
              <a:ext uri="{FF2B5EF4-FFF2-40B4-BE49-F238E27FC236}">
                <a16:creationId xmlns:a16="http://schemas.microsoft.com/office/drawing/2014/main" id="{E695FB18-B641-433F-A03A-D58B93F377B4}"/>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1" name="empower_classification_placeholder">
            <a:extLst>
              <a:ext uri="{FF2B5EF4-FFF2-40B4-BE49-F238E27FC236}">
                <a16:creationId xmlns:a16="http://schemas.microsoft.com/office/drawing/2014/main" id="{6F76DDB4-3F8E-4A82-B473-4784C9B20BC1}"/>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3" name="empower_date_placeholder">
            <a:extLst>
              <a:ext uri="{FF2B5EF4-FFF2-40B4-BE49-F238E27FC236}">
                <a16:creationId xmlns:a16="http://schemas.microsoft.com/office/drawing/2014/main" id="{2C326E6F-F54B-4E77-BCF5-73E6B02466B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endParaRPr lang="en-US" sz="800" kern="0" noProof="0" dirty="0">
              <a:solidFill>
                <a:schemeClr val="tx1"/>
              </a:solidFill>
              <a:latin typeface="+mn-lt"/>
              <a:ea typeface="+mn-ea"/>
              <a:cs typeface="+mn-cs"/>
            </a:endParaRPr>
          </a:p>
        </p:txBody>
      </p:sp>
      <p:sp>
        <p:nvSpPr>
          <p:cNvPr id="7" name="Content"/>
          <p:cNvSpPr>
            <a:spLocks noGrp="1"/>
          </p:cNvSpPr>
          <p:nvPr>
            <p:ph sz="quarter" idx="13" hasCustomPrompt="1"/>
          </p:nvPr>
        </p:nvSpPr>
        <p:spPr>
          <a:xfrm>
            <a:off x="334800" y="1268414"/>
            <a:ext cx="11520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2209D2CA-FDE2-4B12-9D75-213CCFE3FA9C}"/>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9" name="LOGO PROTECTION" hidden="1">
            <a:extLst>
              <a:ext uri="{FF2B5EF4-FFF2-40B4-BE49-F238E27FC236}">
                <a16:creationId xmlns:a16="http://schemas.microsoft.com/office/drawing/2014/main" id="{DF1FB678-4F92-45E5-9B25-2B5FE93A0952}"/>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B8A1C3-E607-4E28-91A1-A973183FE78F}"/>
              </a:ext>
            </a:extLst>
          </p:cNvPr>
          <p:cNvSpPr>
            <a:spLocks noGrp="1"/>
          </p:cNvSpPr>
          <p:nvPr>
            <p:ph type="dt" sz="half" idx="14"/>
            <p:custDataLst>
              <p:tags r:id="rId10"/>
            </p:custDataLst>
          </p:nvPr>
        </p:nvSpPr>
        <p:spPr/>
        <p:txBody>
          <a:bodyPr/>
          <a:lstStyle/>
          <a:p>
            <a:r>
              <a:rPr lang="en-US" b="1"/>
              <a:t> </a:t>
            </a:r>
            <a:endParaRPr lang="en-US" b="1" dirty="0"/>
          </a:p>
        </p:txBody>
      </p:sp>
      <p:sp>
        <p:nvSpPr>
          <p:cNvPr id="10" name="Footer Placeholder 9" hidden="1">
            <a:extLst>
              <a:ext uri="{FF2B5EF4-FFF2-40B4-BE49-F238E27FC236}">
                <a16:creationId xmlns:a16="http://schemas.microsoft.com/office/drawing/2014/main" id="{6B901E0B-D453-4CEB-8C35-51C25A27F89D}"/>
              </a:ext>
            </a:extLst>
          </p:cNvPr>
          <p:cNvSpPr>
            <a:spLocks noGrp="1"/>
          </p:cNvSpPr>
          <p:nvPr>
            <p:ph type="ftr" sz="quarter" idx="15"/>
            <p:custDataLst>
              <p:tags r:id="rId11"/>
            </p:custDataLst>
          </p:nvPr>
        </p:nvSpPr>
        <p:spPr/>
        <p:txBody>
          <a:bodyPr/>
          <a:lstStyle/>
          <a:p>
            <a:endParaRPr lang="en-US" dirty="0"/>
          </a:p>
        </p:txBody>
      </p:sp>
      <p:sp>
        <p:nvSpPr>
          <p:cNvPr id="12" name="Slide Number Placeholder 11" hidden="1">
            <a:extLst>
              <a:ext uri="{FF2B5EF4-FFF2-40B4-BE49-F238E27FC236}">
                <a16:creationId xmlns:a16="http://schemas.microsoft.com/office/drawing/2014/main" id="{212E0C1A-F772-4C8C-B2E7-03887DA46ED9}"/>
              </a:ext>
            </a:extLst>
          </p:cNvPr>
          <p:cNvSpPr>
            <a:spLocks noGrp="1"/>
          </p:cNvSpPr>
          <p:nvPr>
            <p:ph type="sldNum" sz="quarter" idx="16"/>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0BE19B5-FA3E-481C-ACF3-046C2AA8A91D}"/>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7469">
          <p15:clr>
            <a:srgbClr val="FBAE40"/>
          </p15:clr>
        </p15:guide>
        <p15:guide id="2" pos="211">
          <p15:clr>
            <a:srgbClr val="FBAE40"/>
          </p15:clr>
        </p15:guide>
        <p15:guide id="3" orient="horz" pos="799">
          <p15:clr>
            <a:srgbClr val="FBAE40"/>
          </p15:clr>
        </p15:guide>
        <p15:guide id="4" orient="horz" pos="402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2 content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FD35C554-56A1-4651-98F3-FC19B8770A8A}"/>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2" name="empower_document_placeholder" hidden="1">
            <a:extLst>
              <a:ext uri="{FF2B5EF4-FFF2-40B4-BE49-F238E27FC236}">
                <a16:creationId xmlns:a16="http://schemas.microsoft.com/office/drawing/2014/main" id="{4FA374A8-328C-4586-BEF8-CF0921FBF7D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4" name="empower_proprietary_placeholder" hidden="1">
            <a:extLst>
              <a:ext uri="{FF2B5EF4-FFF2-40B4-BE49-F238E27FC236}">
                <a16:creationId xmlns:a16="http://schemas.microsoft.com/office/drawing/2014/main" id="{AEB670C2-21D6-4210-BA37-DF3C9B9933BC}"/>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endParaRPr lang="en-US" sz="800" b="1" kern="0" noProof="0" dirty="0">
              <a:solidFill>
                <a:schemeClr val="tx1"/>
              </a:solidFill>
              <a:latin typeface="+mn-lt"/>
              <a:ea typeface="+mn-ea"/>
              <a:cs typeface="+mn-cs"/>
            </a:endParaRPr>
          </a:p>
        </p:txBody>
      </p:sp>
      <p:sp>
        <p:nvSpPr>
          <p:cNvPr id="16" name="empower_draft_placeholder" hidden="1">
            <a:extLst>
              <a:ext uri="{FF2B5EF4-FFF2-40B4-BE49-F238E27FC236}">
                <a16:creationId xmlns:a16="http://schemas.microsoft.com/office/drawing/2014/main" id="{21B71886-0324-4B36-AA82-C90CF46385B2}"/>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8" name="empower_footer_placeholder">
            <a:extLst>
              <a:ext uri="{FF2B5EF4-FFF2-40B4-BE49-F238E27FC236}">
                <a16:creationId xmlns:a16="http://schemas.microsoft.com/office/drawing/2014/main" id="{DC9834AE-8B30-477E-8C87-5F8E7D7B17A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0" name="empower_classification_attention_placeholder" hidden="1">
            <a:extLst>
              <a:ext uri="{FF2B5EF4-FFF2-40B4-BE49-F238E27FC236}">
                <a16:creationId xmlns:a16="http://schemas.microsoft.com/office/drawing/2014/main" id="{B5FD8F85-4CB3-489A-86B2-4ABCB308F30D}"/>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2" name="empower_classification_placeholder">
            <a:extLst>
              <a:ext uri="{FF2B5EF4-FFF2-40B4-BE49-F238E27FC236}">
                <a16:creationId xmlns:a16="http://schemas.microsoft.com/office/drawing/2014/main" id="{A254D557-505E-4B08-8C5B-DEA083728C5A}"/>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endParaRPr lang="en-US" sz="800" b="1" kern="0" noProof="0" dirty="0">
              <a:solidFill>
                <a:schemeClr val="tx1"/>
              </a:solidFill>
              <a:latin typeface="+mn-lt"/>
              <a:ea typeface="+mn-ea"/>
              <a:cs typeface="+mn-cs"/>
            </a:endParaRPr>
          </a:p>
        </p:txBody>
      </p:sp>
      <p:sp>
        <p:nvSpPr>
          <p:cNvPr id="24" name="empower_date_placeholder">
            <a:extLst>
              <a:ext uri="{FF2B5EF4-FFF2-40B4-BE49-F238E27FC236}">
                <a16:creationId xmlns:a16="http://schemas.microsoft.com/office/drawing/2014/main" id="{6E3D16E2-B858-4F89-B7A0-119FBFC70810}"/>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endParaRPr lang="en-US" sz="800" kern="0" noProof="0" dirty="0">
              <a:solidFill>
                <a:schemeClr val="tx1"/>
              </a:solidFill>
              <a:latin typeface="+mn-lt"/>
              <a:ea typeface="+mn-ea"/>
              <a:cs typeface="+mn-cs"/>
            </a:endParaRPr>
          </a:p>
        </p:txBody>
      </p:sp>
      <p:sp>
        <p:nvSpPr>
          <p:cNvPr id="7" name="Content Left"/>
          <p:cNvSpPr>
            <a:spLocks noGrp="1"/>
          </p:cNvSpPr>
          <p:nvPr>
            <p:ph sz="quarter" idx="13" hasCustomPrompt="1"/>
          </p:nvPr>
        </p:nvSpPr>
        <p:spPr>
          <a:xfrm>
            <a:off x="334800" y="1268414"/>
            <a:ext cx="5688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Right"/>
          <p:cNvSpPr>
            <a:spLocks noGrp="1"/>
          </p:cNvSpPr>
          <p:nvPr>
            <p:ph sz="quarter" idx="14" hasCustomPrompt="1"/>
          </p:nvPr>
        </p:nvSpPr>
        <p:spPr>
          <a:xfrm>
            <a:off x="6167439" y="1268414"/>
            <a:ext cx="5689202"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a:extLst>
              <a:ext uri="{FF2B5EF4-FFF2-40B4-BE49-F238E27FC236}">
                <a16:creationId xmlns:a16="http://schemas.microsoft.com/office/drawing/2014/main" id="{373E7DFD-EB78-498B-97A4-CE06BA4BEC4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D623209F-EEBF-4451-AF99-363F6EA35F67}"/>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9850AB63-C5F5-4BA2-A73E-BB668324B70F}"/>
              </a:ext>
            </a:extLst>
          </p:cNvPr>
          <p:cNvSpPr>
            <a:spLocks noGrp="1"/>
          </p:cNvSpPr>
          <p:nvPr>
            <p:ph type="dt" sz="half" idx="15"/>
            <p:custDataLst>
              <p:tags r:id="rId10"/>
            </p:custDataLst>
          </p:nvPr>
        </p:nvSpPr>
        <p:spPr/>
        <p:txBody>
          <a:bodyPr/>
          <a:lstStyle/>
          <a:p>
            <a:r>
              <a:rPr lang="en-US" b="1"/>
              <a:t> </a:t>
            </a:r>
            <a:endParaRPr lang="en-US" b="1" dirty="0"/>
          </a:p>
        </p:txBody>
      </p:sp>
      <p:sp>
        <p:nvSpPr>
          <p:cNvPr id="11" name="Footer Placeholder 10" hidden="1">
            <a:extLst>
              <a:ext uri="{FF2B5EF4-FFF2-40B4-BE49-F238E27FC236}">
                <a16:creationId xmlns:a16="http://schemas.microsoft.com/office/drawing/2014/main" id="{ED18627F-EDFA-45CA-A572-C60F0E37473A}"/>
              </a:ext>
            </a:extLst>
          </p:cNvPr>
          <p:cNvSpPr>
            <a:spLocks noGrp="1"/>
          </p:cNvSpPr>
          <p:nvPr>
            <p:ph type="ftr" sz="quarter" idx="16"/>
            <p:custDataLst>
              <p:tags r:id="rId11"/>
            </p:custDataLst>
          </p:nvPr>
        </p:nvSpPr>
        <p:spPr/>
        <p:txBody>
          <a:bodyPr/>
          <a:lstStyle/>
          <a:p>
            <a:endParaRPr lang="en-US" dirty="0"/>
          </a:p>
        </p:txBody>
      </p:sp>
      <p:sp>
        <p:nvSpPr>
          <p:cNvPr id="13" name="Slide Number Placeholder 12" hidden="1">
            <a:extLst>
              <a:ext uri="{FF2B5EF4-FFF2-40B4-BE49-F238E27FC236}">
                <a16:creationId xmlns:a16="http://schemas.microsoft.com/office/drawing/2014/main" id="{E2FA0071-6D08-45B0-AF4E-22BFCF09E76B}"/>
              </a:ext>
            </a:extLst>
          </p:cNvPr>
          <p:cNvSpPr>
            <a:spLocks noGrp="1"/>
          </p:cNvSpPr>
          <p:nvPr>
            <p:ph type="sldNum" sz="quarter" idx="17"/>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673026AB-61DE-4BDA-8F8E-CCC68BAAE095}"/>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885">
          <p15:clr>
            <a:srgbClr val="FBAE40"/>
          </p15:clr>
        </p15:guide>
        <p15:guide id="2" pos="7469">
          <p15:clr>
            <a:srgbClr val="FBAE40"/>
          </p15:clr>
        </p15:guide>
        <p15:guide id="3" pos="3795">
          <p15:clr>
            <a:srgbClr val="FBAE40"/>
          </p15:clr>
        </p15:guide>
        <p15:guide id="4" pos="211">
          <p15:clr>
            <a:srgbClr val="FBAE40"/>
          </p15:clr>
        </p15:guide>
        <p15:guide id="5" orient="horz" pos="799">
          <p15:clr>
            <a:srgbClr val="FBAE40"/>
          </p15:clr>
        </p15:guide>
        <p15:guide id="6" orient="horz" pos="402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1">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2" name="Crystal Shape">
            <a:extLst>
              <a:ext uri="{FF2B5EF4-FFF2-40B4-BE49-F238E27FC236}">
                <a16:creationId xmlns:a16="http://schemas.microsoft.com/office/drawing/2014/main" id="{3FBBF7BF-BA7F-647C-39AB-CEDA0092AA91}"/>
              </a:ext>
            </a:extLst>
          </p:cNvPr>
          <p:cNvSpPr/>
          <p:nvPr userDrawn="1"/>
        </p:nvSpPr>
        <p:spPr>
          <a:xfrm rot="5400000">
            <a:off x="1207129" y="-1234005"/>
            <a:ext cx="6878637" cy="9330464"/>
          </a:xfrm>
          <a:custGeom>
            <a:avLst/>
            <a:gdLst>
              <a:gd name="connsiteX0" fmla="*/ 0 w 6870543"/>
              <a:gd name="connsiteY0" fmla="*/ 727877 h 5591944"/>
              <a:gd name="connsiteX1" fmla="*/ 1726296 w 6870543"/>
              <a:gd name="connsiteY1" fmla="*/ 0 h 5591944"/>
              <a:gd name="connsiteX2" fmla="*/ 6870543 w 6870543"/>
              <a:gd name="connsiteY2" fmla="*/ 1136853 h 5591944"/>
              <a:gd name="connsiteX3" fmla="*/ 6870543 w 6870543"/>
              <a:gd name="connsiteY3" fmla="*/ 5591944 h 5591944"/>
              <a:gd name="connsiteX4" fmla="*/ 0 w 6870543"/>
              <a:gd name="connsiteY4" fmla="*/ 5591944 h 5591944"/>
              <a:gd name="connsiteX5" fmla="*/ 0 w 6870543"/>
              <a:gd name="connsiteY5" fmla="*/ 727877 h 5591944"/>
              <a:gd name="connsiteX0" fmla="*/ 0 w 6870545"/>
              <a:gd name="connsiteY0" fmla="*/ 727877 h 9322375"/>
              <a:gd name="connsiteX1" fmla="*/ 1726296 w 6870545"/>
              <a:gd name="connsiteY1" fmla="*/ 0 h 9322375"/>
              <a:gd name="connsiteX2" fmla="*/ 6870543 w 6870545"/>
              <a:gd name="connsiteY2" fmla="*/ 1136853 h 9322375"/>
              <a:gd name="connsiteX3" fmla="*/ 6870545 w 6870545"/>
              <a:gd name="connsiteY3" fmla="*/ 9322375 h 9322375"/>
              <a:gd name="connsiteX4" fmla="*/ 0 w 6870545"/>
              <a:gd name="connsiteY4" fmla="*/ 5591944 h 9322375"/>
              <a:gd name="connsiteX5" fmla="*/ 0 w 6870545"/>
              <a:gd name="connsiteY5" fmla="*/ 727877 h 9322375"/>
              <a:gd name="connsiteX0" fmla="*/ 8092 w 6878637"/>
              <a:gd name="connsiteY0" fmla="*/ 727877 h 9330464"/>
              <a:gd name="connsiteX1" fmla="*/ 1734388 w 6878637"/>
              <a:gd name="connsiteY1" fmla="*/ 0 h 9330464"/>
              <a:gd name="connsiteX2" fmla="*/ 6878635 w 6878637"/>
              <a:gd name="connsiteY2" fmla="*/ 1136853 h 9330464"/>
              <a:gd name="connsiteX3" fmla="*/ 6878637 w 6878637"/>
              <a:gd name="connsiteY3" fmla="*/ 9322375 h 9330464"/>
              <a:gd name="connsiteX4" fmla="*/ 0 w 6878637"/>
              <a:gd name="connsiteY4" fmla="*/ 9330464 h 9330464"/>
              <a:gd name="connsiteX5" fmla="*/ 8092 w 6878637"/>
              <a:gd name="connsiteY5" fmla="*/ 727877 h 933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78637" h="9330464">
                <a:moveTo>
                  <a:pt x="8092" y="727877"/>
                </a:moveTo>
                <a:lnTo>
                  <a:pt x="1734388" y="0"/>
                </a:lnTo>
                <a:lnTo>
                  <a:pt x="6878635" y="1136853"/>
                </a:lnTo>
                <a:cubicBezTo>
                  <a:pt x="6878636" y="3865360"/>
                  <a:pt x="6878636" y="6593868"/>
                  <a:pt x="6878637" y="9322375"/>
                </a:cubicBezTo>
                <a:lnTo>
                  <a:pt x="0" y="9330464"/>
                </a:lnTo>
                <a:cubicBezTo>
                  <a:pt x="2697" y="6462935"/>
                  <a:pt x="5395" y="3595406"/>
                  <a:pt x="8092" y="727877"/>
                </a:cubicBezTo>
                <a:close/>
              </a:path>
            </a:pathLst>
          </a:custGeom>
          <a:solidFill>
            <a:srgbClr val="0A8276"/>
          </a:solidFill>
          <a:ln w="11542" cap="flat">
            <a:noFill/>
            <a:prstDash val="solid"/>
            <a:miter/>
          </a:ln>
        </p:spPr>
        <p:txBody>
          <a:bodyPr rtlCol="0" anchor="ctr"/>
          <a:lstStyle/>
          <a:p>
            <a:endParaRPr lang="de-DE"/>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bg1"/>
                </a:solidFill>
                <a:latin typeface="+mj-lt"/>
                <a:ea typeface="+mj-ea"/>
                <a:cs typeface="+mj-cs"/>
              </a:defRPr>
            </a:lvl1pPr>
          </a:lstStyle>
          <a:p>
            <a:r>
              <a:rPr lang="en-US" noProof="0" dirty="0"/>
              <a:t>Click to enter Section</a:t>
            </a:r>
          </a:p>
        </p:txBody>
      </p:sp>
      <p:sp>
        <p:nvSpPr>
          <p:cNvPr id="5" name="LOGO PROTECTION" hidden="1">
            <a:extLst>
              <a:ext uri="{FF2B5EF4-FFF2-40B4-BE49-F238E27FC236}">
                <a16:creationId xmlns:a16="http://schemas.microsoft.com/office/drawing/2014/main" id="{D0048F1C-4756-47EC-8B66-DB56E576453D}"/>
              </a:ext>
            </a:extLst>
          </p:cNvPr>
          <p:cNvSpPr/>
          <p:nvPr>
            <p:custDataLst>
              <p:tags r:id="rId1"/>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2"/>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3"/>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4"/>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E4554E90-4FD5-45B2-A49A-214245B7F6D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987074326"/>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2">
    <p:spTree>
      <p:nvGrpSpPr>
        <p:cNvPr id="1" name=""/>
        <p:cNvGrpSpPr/>
        <p:nvPr/>
      </p:nvGrpSpPr>
      <p:grpSpPr>
        <a:xfrm>
          <a:off x="0" y="0"/>
          <a:ext cx="0" cy="0"/>
          <a:chOff x="0" y="0"/>
          <a:chExt cx="0" cy="0"/>
        </a:xfrm>
      </p:grpSpPr>
      <p:sp>
        <p:nvSpPr>
          <p:cNvPr id="6" name="Background White"/>
          <p:cNvSpPr/>
          <p:nvPr/>
        </p:nvSpPr>
        <p:spPr bwMode="auto">
          <a:xfrm>
            <a:off x="0" y="810000"/>
            <a:ext cx="12191998" cy="6048000"/>
          </a:xfrm>
          <a:prstGeom prst="rect">
            <a:avLst/>
          </a:prstGeom>
          <a:solidFill>
            <a:schemeClr val="bg1"/>
          </a:solidFill>
          <a:ln w="9525">
            <a:noFill/>
            <a:miter lim="800000"/>
            <a:headEnd/>
            <a:tailEnd/>
          </a:ln>
        </p:spPr>
        <p:txBody>
          <a:bodyPr wrap="square" lIns="96000" tIns="96000" rIns="96000" bIns="96000" rtlCol="0" anchor="ctr"/>
          <a:lstStyle/>
          <a:p>
            <a:pPr algn="ctr" eaLnBrk="0" hangingPunct="0"/>
            <a:endParaRPr lang="en-US" sz="2133" baseline="0" noProof="0">
              <a:latin typeface="+mn-lt"/>
              <a:ea typeface="+mn-ea"/>
              <a:cs typeface="+mn-cs"/>
            </a:endParaRPr>
          </a:p>
        </p:txBody>
      </p:sp>
      <p:sp>
        <p:nvSpPr>
          <p:cNvPr id="16" name="Crystal Shape">
            <a:extLst>
              <a:ext uri="{FF2B5EF4-FFF2-40B4-BE49-F238E27FC236}">
                <a16:creationId xmlns:a16="http://schemas.microsoft.com/office/drawing/2014/main" id="{63F28C96-D1D9-271E-B326-A1C4DC6BC78F}"/>
              </a:ext>
            </a:extLst>
          </p:cNvPr>
          <p:cNvSpPr/>
          <p:nvPr userDrawn="1"/>
        </p:nvSpPr>
        <p:spPr>
          <a:xfrm rot="16200000">
            <a:off x="6866258" y="1532259"/>
            <a:ext cx="6857999" cy="3793483"/>
          </a:xfrm>
          <a:custGeom>
            <a:avLst/>
            <a:gdLst>
              <a:gd name="connsiteX0" fmla="*/ 6857999 w 6857999"/>
              <a:gd name="connsiteY0" fmla="*/ 1129077 h 3793483"/>
              <a:gd name="connsiteX1" fmla="*/ 6857999 w 6857999"/>
              <a:gd name="connsiteY1" fmla="*/ 3792536 h 3793483"/>
              <a:gd name="connsiteX2" fmla="*/ 0 w 6857999"/>
              <a:gd name="connsiteY2" fmla="*/ 3793483 h 3793483"/>
              <a:gd name="connsiteX3" fmla="*/ 0 w 6857999"/>
              <a:gd name="connsiteY3" fmla="*/ 729579 h 3793483"/>
              <a:gd name="connsiteX4" fmla="*/ 1748945 w 6857999"/>
              <a:gd name="connsiteY4" fmla="*/ 0 h 37934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7999" h="3793483">
                <a:moveTo>
                  <a:pt x="6857999" y="1129077"/>
                </a:moveTo>
                <a:lnTo>
                  <a:pt x="6857999" y="3792536"/>
                </a:lnTo>
                <a:lnTo>
                  <a:pt x="0" y="3793483"/>
                </a:lnTo>
                <a:lnTo>
                  <a:pt x="0" y="729579"/>
                </a:lnTo>
                <a:lnTo>
                  <a:pt x="1748945" y="0"/>
                </a:lnTo>
                <a:close/>
              </a:path>
            </a:pathLst>
          </a:custGeom>
          <a:solidFill>
            <a:srgbClr val="0A8276"/>
          </a:solidFill>
          <a:ln w="11542" cap="flat">
            <a:noFill/>
            <a:prstDash val="solid"/>
            <a:miter/>
          </a:ln>
        </p:spPr>
        <p:txBody>
          <a:bodyPr wrap="square" rtlCol="0" anchor="ctr">
            <a:noAutofit/>
          </a:bodyPr>
          <a:lstStyle/>
          <a:p>
            <a:endParaRPr lang="de-DE" dirty="0"/>
          </a:p>
        </p:txBody>
      </p:sp>
      <p:sp>
        <p:nvSpPr>
          <p:cNvPr id="8" name="Title">
            <a:extLst>
              <a:ext uri="{FF2B5EF4-FFF2-40B4-BE49-F238E27FC236}">
                <a16:creationId xmlns:a16="http://schemas.microsoft.com/office/drawing/2014/main" id="{F95C3DD4-2582-4776-B0CC-687FF5436469}"/>
              </a:ext>
            </a:extLst>
          </p:cNvPr>
          <p:cNvSpPr>
            <a:spLocks noGrp="1"/>
          </p:cNvSpPr>
          <p:nvPr>
            <p:ph type="title" hasCustomPrompt="1"/>
          </p:nvPr>
        </p:nvSpPr>
        <p:spPr>
          <a:xfrm>
            <a:off x="335360" y="2134800"/>
            <a:ext cx="8137525" cy="683369"/>
          </a:xfrm>
        </p:spPr>
        <p:txBody>
          <a:bodyPr bIns="0"/>
          <a:lstStyle>
            <a:lvl1pPr>
              <a:defRPr sz="3600" baseline="0">
                <a:solidFill>
                  <a:schemeClr val="tx2"/>
                </a:solidFill>
                <a:latin typeface="+mj-lt"/>
                <a:ea typeface="+mj-ea"/>
                <a:cs typeface="+mj-cs"/>
              </a:defRPr>
            </a:lvl1pPr>
          </a:lstStyle>
          <a:p>
            <a:r>
              <a:rPr lang="en-US" noProof="0" dirty="0"/>
              <a:t>Click to enter Section</a:t>
            </a:r>
          </a:p>
        </p:txBody>
      </p:sp>
      <p:sp>
        <p:nvSpPr>
          <p:cNvPr id="15" name="MIO_AGENDA_IGNORE_NAVIGATION" hidden="1">
            <a:extLst>
              <a:ext uri="{FF2B5EF4-FFF2-40B4-BE49-F238E27FC236}">
                <a16:creationId xmlns:a16="http://schemas.microsoft.com/office/drawing/2014/main" id="{33FB814B-5214-4193-99B5-0E31D6690784}"/>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9" name="MIO_AGENDA_IGNORE_CHAPTER_REFERENCE" hidden="1">
            <a:extLst>
              <a:ext uri="{FF2B5EF4-FFF2-40B4-BE49-F238E27FC236}">
                <a16:creationId xmlns:a16="http://schemas.microsoft.com/office/drawing/2014/main" id="{524067FF-9067-40E5-ABF5-E79653E2B17D}"/>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Date Placeholder 6" hidden="1">
            <a:extLst>
              <a:ext uri="{FF2B5EF4-FFF2-40B4-BE49-F238E27FC236}">
                <a16:creationId xmlns:a16="http://schemas.microsoft.com/office/drawing/2014/main" id="{0949F6EC-C7FD-4272-87A0-1C0174E09327}"/>
              </a:ext>
            </a:extLst>
          </p:cNvPr>
          <p:cNvSpPr>
            <a:spLocks noGrp="1"/>
          </p:cNvSpPr>
          <p:nvPr>
            <p:ph type="dt" sz="half" idx="10"/>
            <p:custDataLst>
              <p:tags r:id="rId1"/>
            </p:custDataLst>
          </p:nvPr>
        </p:nvSpPr>
        <p:spPr/>
        <p:txBody>
          <a:bodyPr/>
          <a:lstStyle/>
          <a:p>
            <a:r>
              <a:rPr lang="en-US" b="1"/>
              <a:t> </a:t>
            </a:r>
            <a:endParaRPr lang="en-US" b="1" dirty="0"/>
          </a:p>
        </p:txBody>
      </p:sp>
      <p:sp>
        <p:nvSpPr>
          <p:cNvPr id="9" name="Footer Placeholder 8" hidden="1">
            <a:extLst>
              <a:ext uri="{FF2B5EF4-FFF2-40B4-BE49-F238E27FC236}">
                <a16:creationId xmlns:a16="http://schemas.microsoft.com/office/drawing/2014/main" id="{44ED5823-C4CB-420B-B80B-942E31DCE162}"/>
              </a:ext>
            </a:extLst>
          </p:cNvPr>
          <p:cNvSpPr>
            <a:spLocks noGrp="1"/>
          </p:cNvSpPr>
          <p:nvPr>
            <p:ph type="ftr" sz="quarter" idx="11"/>
            <p:custDataLst>
              <p:tags r:id="rId2"/>
            </p:custDataLst>
          </p:nvPr>
        </p:nvSpPr>
        <p:spPr/>
        <p:txBody>
          <a:bodyPr/>
          <a:lstStyle/>
          <a:p>
            <a:endParaRPr lang="en-US" dirty="0"/>
          </a:p>
        </p:txBody>
      </p:sp>
      <p:sp>
        <p:nvSpPr>
          <p:cNvPr id="18" name="Slide Number Placeholder 17" hidden="1">
            <a:extLst>
              <a:ext uri="{FF2B5EF4-FFF2-40B4-BE49-F238E27FC236}">
                <a16:creationId xmlns:a16="http://schemas.microsoft.com/office/drawing/2014/main" id="{4B1B9C5C-1639-4FEF-865D-BFEAD6451E85}"/>
              </a:ext>
            </a:extLst>
          </p:cNvPr>
          <p:cNvSpPr>
            <a:spLocks noGrp="1"/>
          </p:cNvSpPr>
          <p:nvPr>
            <p:ph type="sldNum" sz="quarter" idx="12"/>
            <p:custDataLst>
              <p:tags r:id="rId3"/>
            </p:custDataLst>
          </p:nvPr>
        </p:nvSpPr>
        <p:spPr/>
        <p:txBody>
          <a:bodyPr/>
          <a:lstStyle/>
          <a:p>
            <a:r>
              <a:rPr lang="en-US"/>
              <a:t> </a:t>
            </a:r>
            <a:endParaRPr lang="en-US" dirty="0"/>
          </a:p>
        </p:txBody>
      </p:sp>
      <p:pic>
        <p:nvPicPr>
          <p:cNvPr id="14" name="LOGO">
            <a:extLst>
              <a:ext uri="{FF2B5EF4-FFF2-40B4-BE49-F238E27FC236}">
                <a16:creationId xmlns:a16="http://schemas.microsoft.com/office/drawing/2014/main" id="{E2919660-0784-4B00-9836-7A6951590970}"/>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extLst>
      <p:ext uri="{BB962C8B-B14F-4D97-AF65-F5344CB8AC3E}">
        <p14:creationId xmlns:p14="http://schemas.microsoft.com/office/powerpoint/2010/main" val="114647271"/>
      </p:ext>
    </p:extLst>
  </p:cSld>
  <p:clrMapOvr>
    <a:masterClrMapping/>
  </p:clrMapOvr>
  <p:hf sldNum="0" hdr="0"/>
  <p:extLst>
    <p:ext uri="{DCECCB84-F9BA-43D5-87BE-67443E8EF086}">
      <p15:sldGuideLst xmlns:p15="http://schemas.microsoft.com/office/powerpoint/2012/main">
        <p15:guide id="1" pos="5337">
          <p15:clr>
            <a:srgbClr val="FBAE40"/>
          </p15:clr>
        </p15:guide>
        <p15:guide id="2" pos="211">
          <p15:clr>
            <a:srgbClr val="FBAE40"/>
          </p15:clr>
        </p15:guide>
        <p15:guide id="3" orient="horz" pos="1344">
          <p15:clr>
            <a:srgbClr val="FBAE40"/>
          </p15:clr>
        </p15:guide>
        <p15:guide id="4" orient="horz" pos="177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4 content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8B1B7AE2-264A-4900-9F60-CC5615C90F03}"/>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F2DD26D5-8427-4844-992F-AA5F995450F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879A7BCC-64D2-4276-855E-685546620EF5}"/>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B8FD1BFA-BD00-4A1A-9BEE-984BDA7A138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0C951CC-CB9B-43AC-8395-FB2751814E0F}"/>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0FDEE340-AE14-4EB2-8F0B-840A5F5E2FB9}"/>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rtl="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3F4900C8-0A39-4B02-8E0A-398AAC4831BF}"/>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A1158698-11CA-4310-AAEA-81BFB74C7A4D}"/>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p>
        </p:txBody>
      </p:sp>
      <p:sp>
        <p:nvSpPr>
          <p:cNvPr id="7" name="Content Top Left"/>
          <p:cNvSpPr>
            <a:spLocks noGrp="1"/>
          </p:cNvSpPr>
          <p:nvPr>
            <p:ph sz="quarter" idx="13" hasCustomPrompt="1"/>
          </p:nvPr>
        </p:nvSpPr>
        <p:spPr>
          <a:xfrm>
            <a:off x="334800"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Top Right"/>
          <p:cNvSpPr>
            <a:spLocks noGrp="1"/>
          </p:cNvSpPr>
          <p:nvPr>
            <p:ph sz="quarter" idx="14" hasCustomPrompt="1"/>
          </p:nvPr>
        </p:nvSpPr>
        <p:spPr>
          <a:xfrm>
            <a:off x="6166799" y="1268412"/>
            <a:ext cx="5688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Left"/>
          <p:cNvSpPr>
            <a:spLocks noGrp="1"/>
          </p:cNvSpPr>
          <p:nvPr>
            <p:ph sz="quarter" idx="15"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Content Bottom Right"/>
          <p:cNvSpPr>
            <a:spLocks noGrp="1"/>
          </p:cNvSpPr>
          <p:nvPr>
            <p:ph sz="quarter" idx="16" hasCustomPrompt="1"/>
          </p:nvPr>
        </p:nvSpPr>
        <p:spPr>
          <a:xfrm>
            <a:off x="6166799"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4034893-5E9F-45A3-8C16-98C9F6C02B8F}"/>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4ED1F400-5A94-4F05-84F8-53C80E7C434C}"/>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17C8E721-6FC1-4A4E-9559-94502407157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9885E48-72F6-4042-BF62-A49ACDF10504}"/>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242B527-F278-4C5E-9E24-C19CDFEB73B1}"/>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C4E976BE-C7DE-4FCF-9535-07568046A13E}"/>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795">
          <p15:clr>
            <a:srgbClr val="FBAE40"/>
          </p15:clr>
        </p15:guide>
        <p15:guide id="2" pos="211">
          <p15:clr>
            <a:srgbClr val="FBAE40"/>
          </p15:clr>
        </p15:guide>
        <p15:guide id="3" pos="3885">
          <p15:clr>
            <a:srgbClr val="FBAE40"/>
          </p15:clr>
        </p15:guide>
        <p15:guide id="4" pos="7469">
          <p15:clr>
            <a:srgbClr val="FBAE40"/>
          </p15:clr>
        </p15:guide>
        <p15:guide id="5" orient="horz" pos="799">
          <p15:clr>
            <a:srgbClr val="FBAE40"/>
          </p15:clr>
        </p15:guide>
        <p15:guide id="6" orient="horz" pos="4020">
          <p15:clr>
            <a:srgbClr val="FBAE40"/>
          </p15:clr>
        </p15:guide>
        <p15:guide id="7" orient="horz" pos="2273">
          <p15:clr>
            <a:srgbClr val="FBAE40"/>
          </p15:clr>
        </p15:guide>
        <p15:guide id="8" orient="horz" pos="24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Row | 2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ECAA0892-68E2-4E2E-9B18-4A8DC40F0E11}"/>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D16A0514-897C-427C-A5CD-34FCB4F6BF11}"/>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A6FCF5E5-2935-4FDA-903C-EA43A699BD8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115A00C6-A501-466D-A34B-23C1071DA39E}"/>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0C8DD3BC-73D2-4101-B037-359F1B42B434}"/>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D39CEC28-75A6-43F3-9DE9-2436F3F4D9C6}"/>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FC21F178-EFAA-49DE-A35E-72E2C0CA3B0B}"/>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43B2B732-8EC3-4F44-986D-B5DAC6EA77C1}"/>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endParaRPr lang="en-US" sz="800" kern="0" noProof="0" dirty="0">
              <a:solidFill>
                <a:schemeClr val="tx1"/>
              </a:solidFill>
              <a:latin typeface="+mn-lt"/>
              <a:ea typeface="+mn-ea"/>
              <a:cs typeface="+mn-cs"/>
            </a:endParaRPr>
          </a:p>
        </p:txBody>
      </p:sp>
      <p:sp>
        <p:nvSpPr>
          <p:cNvPr id="7" name="Content Top"/>
          <p:cNvSpPr>
            <a:spLocks noGrp="1"/>
          </p:cNvSpPr>
          <p:nvPr>
            <p:ph sz="quarter" idx="13" hasCustomPrompt="1"/>
          </p:nvPr>
        </p:nvSpPr>
        <p:spPr>
          <a:xfrm>
            <a:off x="334800" y="1268412"/>
            <a:ext cx="11520000" cy="2340000"/>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Bottom Left"/>
          <p:cNvSpPr>
            <a:spLocks noGrp="1"/>
          </p:cNvSpPr>
          <p:nvPr>
            <p:ph sz="quarter" idx="14" hasCustomPrompt="1"/>
          </p:nvPr>
        </p:nvSpPr>
        <p:spPr>
          <a:xfrm>
            <a:off x="334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Bottom Right"/>
          <p:cNvSpPr>
            <a:spLocks noGrp="1"/>
          </p:cNvSpPr>
          <p:nvPr>
            <p:ph sz="quarter" idx="15" hasCustomPrompt="1"/>
          </p:nvPr>
        </p:nvSpPr>
        <p:spPr>
          <a:xfrm>
            <a:off x="6166800" y="3860801"/>
            <a:ext cx="5688000" cy="2520951"/>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3ADACDEE-D42E-4EEF-8504-614B0FC9EF75}"/>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F595BB6-F050-434C-AF4B-533D75C5E5D3}"/>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3ABBB783-BFC3-406F-9AE2-14E6D55F43A3}"/>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7DAA9CDC-CAD4-4554-97D9-7059E95FE638}"/>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07C82FBB-C728-405A-8E31-DE02DA8D9177}"/>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03708507-303A-4696-8A49-D64DA70EAF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2273">
          <p15:clr>
            <a:srgbClr val="FBAE40"/>
          </p15:clr>
        </p15:guide>
        <p15:guide id="2" orient="horz" pos="799">
          <p15:clr>
            <a:srgbClr val="FBAE40"/>
          </p15:clr>
        </p15:guide>
        <p15:guide id="3" orient="horz" pos="4020">
          <p15:clr>
            <a:srgbClr val="FBAE40"/>
          </p15:clr>
        </p15:guide>
        <p15:guide id="4" pos="7469">
          <p15:clr>
            <a:srgbClr val="FBAE40"/>
          </p15:clr>
        </p15:guide>
        <p15:guide id="5" pos="3885">
          <p15:clr>
            <a:srgbClr val="FBAE40"/>
          </p15:clr>
        </p15:guide>
        <p15:guide id="6" pos="3795">
          <p15:clr>
            <a:srgbClr val="FBAE40"/>
          </p15:clr>
        </p15:guide>
        <p15:guide id="7" pos="211">
          <p15:clr>
            <a:srgbClr val="FBAE40"/>
          </p15:clr>
        </p15:guide>
        <p15:guide id="8" orient="horz" pos="243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Row | 2 columns | row">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C812AE9A-81D7-4AE8-BC9F-85686450823C}"/>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A8D3527-E357-41F9-99D1-BCEAEC88D7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3A1A2EC5-F603-4F90-ADD8-B8933F3B810B}"/>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FA03A6F0-5545-409D-93A9-5E09698484A1}"/>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97E57A33-CDFD-4C72-B657-882682DACB1E}"/>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5A896D99-24DF-4F81-9EC3-37F5EF05FFED}"/>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F09BE8EF-EBD2-4B7A-9878-8440DC26C91A}"/>
              </a:ext>
            </a:extLst>
          </p:cNvPr>
          <p:cNvSpPr txBox="1">
            <a:spLocks/>
          </p:cNvSpPr>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99207B66-AFA5-4510-BF1D-29423C34CEF2}"/>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p>
        </p:txBody>
      </p:sp>
      <p:sp>
        <p:nvSpPr>
          <p:cNvPr id="7" name="Content Top"/>
          <p:cNvSpPr>
            <a:spLocks noGrp="1"/>
          </p:cNvSpPr>
          <p:nvPr>
            <p:ph sz="quarter" idx="13" hasCustomPrompt="1"/>
          </p:nvPr>
        </p:nvSpPr>
        <p:spPr>
          <a:xfrm>
            <a:off x="334433" y="1268412"/>
            <a:ext cx="11521280" cy="126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Center Left"/>
          <p:cNvSpPr>
            <a:spLocks noGrp="1"/>
          </p:cNvSpPr>
          <p:nvPr>
            <p:ph sz="quarter" idx="14" hasCustomPrompt="1"/>
          </p:nvPr>
        </p:nvSpPr>
        <p:spPr>
          <a:xfrm>
            <a:off x="334800"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Right"/>
          <p:cNvSpPr>
            <a:spLocks noGrp="1"/>
          </p:cNvSpPr>
          <p:nvPr>
            <p:ph sz="quarter" idx="15" hasCustomPrompt="1"/>
          </p:nvPr>
        </p:nvSpPr>
        <p:spPr>
          <a:xfrm>
            <a:off x="6167437" y="2780913"/>
            <a:ext cx="5688000" cy="1980000"/>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Bottom"/>
          <p:cNvSpPr>
            <a:spLocks noGrp="1"/>
          </p:cNvSpPr>
          <p:nvPr>
            <p:ph sz="quarter" idx="16" hasCustomPrompt="1"/>
          </p:nvPr>
        </p:nvSpPr>
        <p:spPr>
          <a:xfrm>
            <a:off x="334433" y="5085186"/>
            <a:ext cx="11521280" cy="1296567"/>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6" name="Title">
            <a:extLst>
              <a:ext uri="{FF2B5EF4-FFF2-40B4-BE49-F238E27FC236}">
                <a16:creationId xmlns:a16="http://schemas.microsoft.com/office/drawing/2014/main" id="{42CB6C61-472A-4F78-8808-601D74D8D1AD}"/>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878DF235-2AD8-4C82-A0BD-D1BDFC87370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A9104FB9-0912-4A0F-BBB7-DF055F829451}"/>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E424A36D-7777-4A82-B12F-96CE1F877678}"/>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E1CCD2B2-40D2-43D5-80C4-5322AD4033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1235F132-B0A2-4CF3-A146-5DF950DFB464}"/>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3885">
          <p15:clr>
            <a:srgbClr val="FBAE40"/>
          </p15:clr>
        </p15:guide>
        <p15:guide id="2" pos="3795">
          <p15:clr>
            <a:srgbClr val="FBAE40"/>
          </p15:clr>
        </p15:guide>
        <p15:guide id="3" pos="211">
          <p15:clr>
            <a:srgbClr val="FBAE40"/>
          </p15:clr>
        </p15:guide>
        <p15:guide id="4" pos="7469">
          <p15:clr>
            <a:srgbClr val="FBAE40"/>
          </p15:clr>
        </p15:guide>
        <p15:guide id="5" orient="horz" pos="799">
          <p15:clr>
            <a:srgbClr val="FBAE40"/>
          </p15:clr>
        </p15:guide>
        <p15:guide id="6" orient="horz" pos="1593">
          <p15:clr>
            <a:srgbClr val="FBAE40"/>
          </p15:clr>
        </p15:guide>
        <p15:guide id="7" orient="horz" pos="1752">
          <p15:clr>
            <a:srgbClr val="FBAE40"/>
          </p15:clr>
        </p15:guide>
        <p15:guide id="8" orient="horz" pos="2999">
          <p15:clr>
            <a:srgbClr val="FBAE40"/>
          </p15:clr>
        </p15:guide>
        <p15:guide id="9" orient="horz" pos="3203">
          <p15:clr>
            <a:srgbClr val="FBAE40"/>
          </p15:clr>
        </p15:guide>
        <p15:guide id="10" orient="horz" pos="402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AndTx" preserve="1">
  <p:cSld name="3 columns">
    <p:spTree>
      <p:nvGrpSpPr>
        <p:cNvPr id="1" name=""/>
        <p:cNvGrpSpPr/>
        <p:nvPr/>
      </p:nvGrpSpPr>
      <p:grpSpPr>
        <a:xfrm>
          <a:off x="0" y="0"/>
          <a:ext cx="0" cy="0"/>
          <a:chOff x="0" y="0"/>
          <a:chExt cx="0" cy="0"/>
        </a:xfrm>
      </p:grpSpPr>
      <p:sp>
        <p:nvSpPr>
          <p:cNvPr id="10" name="empower_additionalText_placeholder" hidden="1">
            <a:extLst>
              <a:ext uri="{FF2B5EF4-FFF2-40B4-BE49-F238E27FC236}">
                <a16:creationId xmlns:a16="http://schemas.microsoft.com/office/drawing/2014/main" id="{7FB993A8-52D6-439E-9FD7-796FB1371096}"/>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3" name="empower_document_placeholder" hidden="1">
            <a:extLst>
              <a:ext uri="{FF2B5EF4-FFF2-40B4-BE49-F238E27FC236}">
                <a16:creationId xmlns:a16="http://schemas.microsoft.com/office/drawing/2014/main" id="{112013B0-A00B-4A1F-90FB-E2E8B2F86D5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5" name="empower_proprietary_placeholder" hidden="1">
            <a:extLst>
              <a:ext uri="{FF2B5EF4-FFF2-40B4-BE49-F238E27FC236}">
                <a16:creationId xmlns:a16="http://schemas.microsoft.com/office/drawing/2014/main" id="{FC3769D5-91E6-43B0-BC4B-C0040A71CFD6}"/>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7" name="empower_draft_placeholder" hidden="1">
            <a:extLst>
              <a:ext uri="{FF2B5EF4-FFF2-40B4-BE49-F238E27FC236}">
                <a16:creationId xmlns:a16="http://schemas.microsoft.com/office/drawing/2014/main" id="{B0E0CB85-0435-4FEC-B2B6-D19200B62923}"/>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19" name="empower_footer_placeholder">
            <a:extLst>
              <a:ext uri="{FF2B5EF4-FFF2-40B4-BE49-F238E27FC236}">
                <a16:creationId xmlns:a16="http://schemas.microsoft.com/office/drawing/2014/main" id="{557CA6BF-F2F9-417F-A2FD-035F1FC8569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1" name="empower_classification_attention_placeholder" hidden="1">
            <a:extLst>
              <a:ext uri="{FF2B5EF4-FFF2-40B4-BE49-F238E27FC236}">
                <a16:creationId xmlns:a16="http://schemas.microsoft.com/office/drawing/2014/main" id="{8C605CA2-9EAD-450F-BC1B-8D9AF92E5875}"/>
              </a:ext>
            </a:extLst>
          </p:cNvPr>
          <p:cNvSpPr txBox="1">
            <a:spLocks/>
          </p:cNvSpPr>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3" name="empower_classification_placeholder">
            <a:extLst>
              <a:ext uri="{FF2B5EF4-FFF2-40B4-BE49-F238E27FC236}">
                <a16:creationId xmlns:a16="http://schemas.microsoft.com/office/drawing/2014/main" id="{4E82CE8C-8E20-4C1A-B65C-F8A30CF5A153}"/>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5" name="empower_date_placeholder">
            <a:extLst>
              <a:ext uri="{FF2B5EF4-FFF2-40B4-BE49-F238E27FC236}">
                <a16:creationId xmlns:a16="http://schemas.microsoft.com/office/drawing/2014/main" id="{D96F0A90-37BC-4B0D-A29D-8711C51DD447}"/>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p>
        </p:txBody>
      </p:sp>
      <p:sp>
        <p:nvSpPr>
          <p:cNvPr id="7" name="Content Left"/>
          <p:cNvSpPr>
            <a:spLocks noGrp="1"/>
          </p:cNvSpPr>
          <p:nvPr>
            <p:ph sz="quarter" idx="13" hasCustomPrompt="1"/>
          </p:nvPr>
        </p:nvSpPr>
        <p:spPr>
          <a:xfrm>
            <a:off x="334800" y="1268414"/>
            <a:ext cx="3744384"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Center"/>
          <p:cNvSpPr>
            <a:spLocks noGrp="1"/>
          </p:cNvSpPr>
          <p:nvPr>
            <p:ph sz="quarter" idx="14" hasCustomPrompt="1"/>
          </p:nvPr>
        </p:nvSpPr>
        <p:spPr>
          <a:xfrm>
            <a:off x="4262399" y="1268414"/>
            <a:ext cx="3672000"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Right"/>
          <p:cNvSpPr>
            <a:spLocks noGrp="1"/>
          </p:cNvSpPr>
          <p:nvPr>
            <p:ph sz="quarter" idx="15" hasCustomPrompt="1"/>
          </p:nvPr>
        </p:nvSpPr>
        <p:spPr>
          <a:xfrm>
            <a:off x="8113184" y="1268414"/>
            <a:ext cx="3744416" cy="5113337"/>
          </a:xfrm>
          <a:prstGeom prst="rect">
            <a:avLst/>
          </a:prstGeo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7A635AE4-FE20-4282-BFFD-96EBDCED60D9}"/>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96E14A5B-9E91-4287-8D3D-9F9C469D8ECA}"/>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210BD89C-2BAC-459E-A79D-05B6C0B33362}"/>
              </a:ext>
            </a:extLst>
          </p:cNvPr>
          <p:cNvSpPr>
            <a:spLocks noGrp="1"/>
          </p:cNvSpPr>
          <p:nvPr>
            <p:ph type="dt" sz="half" idx="16"/>
            <p:custDataLst>
              <p:tags r:id="rId10"/>
            </p:custDataLst>
          </p:nvPr>
        </p:nvSpPr>
        <p:spPr/>
        <p:txBody>
          <a:bodyPr/>
          <a:lstStyle/>
          <a:p>
            <a:r>
              <a:rPr lang="en-US" b="1"/>
              <a:t> </a:t>
            </a:r>
            <a:endParaRPr lang="en-US" b="1" dirty="0"/>
          </a:p>
        </p:txBody>
      </p:sp>
      <p:sp>
        <p:nvSpPr>
          <p:cNvPr id="12" name="Footer Placeholder 11" hidden="1">
            <a:extLst>
              <a:ext uri="{FF2B5EF4-FFF2-40B4-BE49-F238E27FC236}">
                <a16:creationId xmlns:a16="http://schemas.microsoft.com/office/drawing/2014/main" id="{13A018B2-30A4-435D-A599-2BE57EAB5CBC}"/>
              </a:ext>
            </a:extLst>
          </p:cNvPr>
          <p:cNvSpPr>
            <a:spLocks noGrp="1"/>
          </p:cNvSpPr>
          <p:nvPr>
            <p:ph type="ftr" sz="quarter" idx="17"/>
            <p:custDataLst>
              <p:tags r:id="rId11"/>
            </p:custDataLst>
          </p:nvPr>
        </p:nvSpPr>
        <p:spPr/>
        <p:txBody>
          <a:bodyPr/>
          <a:lstStyle/>
          <a:p>
            <a:endParaRPr lang="en-US" dirty="0"/>
          </a:p>
        </p:txBody>
      </p:sp>
      <p:sp>
        <p:nvSpPr>
          <p:cNvPr id="14" name="Slide Number Placeholder 13" hidden="1">
            <a:extLst>
              <a:ext uri="{FF2B5EF4-FFF2-40B4-BE49-F238E27FC236}">
                <a16:creationId xmlns:a16="http://schemas.microsoft.com/office/drawing/2014/main" id="{B6CA23A5-CFDD-4B39-B853-6A18A878BFBF}"/>
              </a:ext>
            </a:extLst>
          </p:cNvPr>
          <p:cNvSpPr>
            <a:spLocks noGrp="1"/>
          </p:cNvSpPr>
          <p:nvPr>
            <p:ph type="sldNum" sz="quarter" idx="18"/>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226441E8-60EA-42A3-B978-BA612ACACF4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4020">
          <p15:clr>
            <a:srgbClr val="FBAE40"/>
          </p15:clr>
        </p15:guide>
        <p15:guide id="2" orient="horz" pos="799">
          <p15:clr>
            <a:srgbClr val="FBAE40"/>
          </p15:clr>
        </p15:guide>
        <p15:guide id="3" pos="4997">
          <p15:clr>
            <a:srgbClr val="FBAE40"/>
          </p15:clr>
        </p15:guide>
        <p15:guide id="4" pos="2683">
          <p15:clr>
            <a:srgbClr val="FBAE40"/>
          </p15:clr>
        </p15:guide>
        <p15:guide id="5" pos="2570">
          <p15:clr>
            <a:srgbClr val="FBAE40"/>
          </p15:clr>
        </p15:guide>
        <p15:guide id="6" pos="5110">
          <p15:clr>
            <a:srgbClr val="FBAE40"/>
          </p15:clr>
        </p15:guide>
        <p15:guide id="7" pos="211">
          <p15:clr>
            <a:srgbClr val="FBAE40"/>
          </p15:clr>
        </p15:guide>
        <p15:guide id="8" pos="74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objOverTx" preserve="1">
  <p:cSld name="Row | 3 columns">
    <p:spTree>
      <p:nvGrpSpPr>
        <p:cNvPr id="1" name=""/>
        <p:cNvGrpSpPr/>
        <p:nvPr/>
      </p:nvGrpSpPr>
      <p:grpSpPr>
        <a:xfrm>
          <a:off x="0" y="0"/>
          <a:ext cx="0" cy="0"/>
          <a:chOff x="0" y="0"/>
          <a:chExt cx="0" cy="0"/>
        </a:xfrm>
      </p:grpSpPr>
      <p:sp>
        <p:nvSpPr>
          <p:cNvPr id="12" name="empower_additionalText_placeholder" hidden="1">
            <a:extLst>
              <a:ext uri="{FF2B5EF4-FFF2-40B4-BE49-F238E27FC236}">
                <a16:creationId xmlns:a16="http://schemas.microsoft.com/office/drawing/2014/main" id="{488416C1-009C-4276-862C-859A39D89869}"/>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B192327F-A51B-41E2-B3F1-79934B28290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16" name="empower_proprietary_placeholder" hidden="1">
            <a:extLst>
              <a:ext uri="{FF2B5EF4-FFF2-40B4-BE49-F238E27FC236}">
                <a16:creationId xmlns:a16="http://schemas.microsoft.com/office/drawing/2014/main" id="{EE529511-279F-4E8D-B98F-7745CB480D72}"/>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18" name="empower_draft_placeholder" hidden="1">
            <a:extLst>
              <a:ext uri="{FF2B5EF4-FFF2-40B4-BE49-F238E27FC236}">
                <a16:creationId xmlns:a16="http://schemas.microsoft.com/office/drawing/2014/main" id="{7712C297-5B52-4E05-AEC3-8C81F2A74EE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20" name="empower_footer_placeholder">
            <a:extLst>
              <a:ext uri="{FF2B5EF4-FFF2-40B4-BE49-F238E27FC236}">
                <a16:creationId xmlns:a16="http://schemas.microsoft.com/office/drawing/2014/main" id="{C492E0D9-97C5-4A27-B585-4460769C4D6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22" name="empower_classification_attention_placeholder" hidden="1">
            <a:extLst>
              <a:ext uri="{FF2B5EF4-FFF2-40B4-BE49-F238E27FC236}">
                <a16:creationId xmlns:a16="http://schemas.microsoft.com/office/drawing/2014/main" id="{EB4DD739-504C-48CA-BA98-DEE0B3A91EAB}"/>
              </a:ext>
            </a:extLst>
          </p:cNvPr>
          <p:cNvSpPr txBox="1">
            <a:spLocks/>
          </p:cNvSpPr>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24" name="empower_classification_placeholder">
            <a:extLst>
              <a:ext uri="{FF2B5EF4-FFF2-40B4-BE49-F238E27FC236}">
                <a16:creationId xmlns:a16="http://schemas.microsoft.com/office/drawing/2014/main" id="{D547197E-1EC3-47AA-B644-4B7771421A2B}"/>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5B4084F1-8114-4C22-84F5-3D14817A7904}"/>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p>
        </p:txBody>
      </p:sp>
      <p:sp>
        <p:nvSpPr>
          <p:cNvPr id="7" name="Content Top"/>
          <p:cNvSpPr>
            <a:spLocks noGrp="1"/>
          </p:cNvSpPr>
          <p:nvPr>
            <p:ph sz="quarter" idx="13" hasCustomPrompt="1"/>
          </p:nvPr>
        </p:nvSpPr>
        <p:spPr>
          <a:xfrm>
            <a:off x="334800" y="1268414"/>
            <a:ext cx="11521280" cy="1368425"/>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9" name="Content Left"/>
          <p:cNvSpPr>
            <a:spLocks noGrp="1"/>
          </p:cNvSpPr>
          <p:nvPr>
            <p:ph sz="quarter" idx="14" hasCustomPrompt="1"/>
          </p:nvPr>
        </p:nvSpPr>
        <p:spPr>
          <a:xfrm>
            <a:off x="334800" y="2781300"/>
            <a:ext cx="3744000"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Content Center"/>
          <p:cNvSpPr>
            <a:spLocks noGrp="1"/>
          </p:cNvSpPr>
          <p:nvPr>
            <p:ph sz="quarter" idx="15" hasCustomPrompt="1"/>
          </p:nvPr>
        </p:nvSpPr>
        <p:spPr>
          <a:xfrm>
            <a:off x="4259262" y="2781300"/>
            <a:ext cx="3673475"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Right"/>
          <p:cNvSpPr>
            <a:spLocks noGrp="1"/>
          </p:cNvSpPr>
          <p:nvPr>
            <p:ph sz="quarter" idx="16" hasCustomPrompt="1"/>
          </p:nvPr>
        </p:nvSpPr>
        <p:spPr>
          <a:xfrm>
            <a:off x="8113186" y="2781300"/>
            <a:ext cx="3744383" cy="3600451"/>
          </a:xfrm>
          <a:prstGeom prst="rect">
            <a:avLst/>
          </a:prstGeom>
        </p:spPr>
        <p:txBody>
          <a:bodyPr/>
          <a:lstStyle>
            <a:lvl1pPr>
              <a:spcAft>
                <a:spcPts val="0"/>
              </a:spcAft>
              <a:defRPr>
                <a:latin typeface="+mn-lt"/>
                <a:ea typeface="+mn-ea"/>
                <a:cs typeface="+mn-cs"/>
              </a:defRPr>
            </a:lvl1pPr>
            <a:lvl2pPr>
              <a:spcAft>
                <a:spcPts val="0"/>
              </a:spcAft>
              <a:defRPr>
                <a:latin typeface="+mn-lt"/>
                <a:ea typeface="+mn-ea"/>
                <a:cs typeface="+mn-cs"/>
              </a:defRPr>
            </a:lvl2pPr>
            <a:lvl3pPr>
              <a:spcAft>
                <a:spcPts val="0"/>
              </a:spcAft>
              <a:defRPr>
                <a:latin typeface="+mn-lt"/>
                <a:ea typeface="+mn-ea"/>
                <a:cs typeface="+mn-cs"/>
              </a:defRPr>
            </a:lvl3pPr>
            <a:lvl4pPr>
              <a:spcAft>
                <a:spcPts val="0"/>
              </a:spcAft>
              <a:defRPr>
                <a:latin typeface="+mn-lt"/>
                <a:ea typeface="+mn-ea"/>
                <a:cs typeface="+mn-cs"/>
              </a:defRPr>
            </a:lvl4pPr>
            <a:lvl5pPr>
              <a:spcAft>
                <a:spcPts val="0"/>
              </a:spcAft>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itle">
            <a:extLst>
              <a:ext uri="{FF2B5EF4-FFF2-40B4-BE49-F238E27FC236}">
                <a16:creationId xmlns:a16="http://schemas.microsoft.com/office/drawing/2014/main" id="{6C581746-1B2C-4D98-9755-6221A3ED9E38}"/>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8" name="LOGO PROTECTION" hidden="1">
            <a:extLst>
              <a:ext uri="{FF2B5EF4-FFF2-40B4-BE49-F238E27FC236}">
                <a16:creationId xmlns:a16="http://schemas.microsoft.com/office/drawing/2014/main" id="{7AAAECD1-71D2-46B6-BF2D-6007823BA888}"/>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EA8AF054-4363-4E54-A605-8A5E7CD05422}"/>
              </a:ext>
            </a:extLst>
          </p:cNvPr>
          <p:cNvSpPr>
            <a:spLocks noGrp="1"/>
          </p:cNvSpPr>
          <p:nvPr>
            <p:ph type="dt" sz="half" idx="17"/>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C839DAF8-6F4C-441B-B45B-348B7EA8B4B3}"/>
              </a:ext>
            </a:extLst>
          </p:cNvPr>
          <p:cNvSpPr>
            <a:spLocks noGrp="1"/>
          </p:cNvSpPr>
          <p:nvPr>
            <p:ph type="ftr" sz="quarter" idx="18"/>
            <p:custDataLst>
              <p:tags r:id="rId11"/>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0CBA086A-526B-43F0-BEDE-EC3219CC7834}"/>
              </a:ext>
            </a:extLst>
          </p:cNvPr>
          <p:cNvSpPr>
            <a:spLocks noGrp="1"/>
          </p:cNvSpPr>
          <p:nvPr>
            <p:ph type="sldNum" sz="quarter" idx="19"/>
            <p:custDataLst>
              <p:tags r:id="rId12"/>
            </p:custDataLst>
          </p:nvPr>
        </p:nvSpPr>
        <p:spPr/>
        <p:txBody>
          <a:bodyPr/>
          <a:lstStyle/>
          <a:p>
            <a:r>
              <a:rPr lang="en-US"/>
              <a:t> </a:t>
            </a:r>
            <a:endParaRPr lang="en-US" dirty="0"/>
          </a:p>
        </p:txBody>
      </p:sp>
      <p:sp>
        <p:nvSpPr>
          <p:cNvPr id="3" name="MIO_Placeholder_Mapping" hidden="1">
            <a:extLst>
              <a:ext uri="{FF2B5EF4-FFF2-40B4-BE49-F238E27FC236}">
                <a16:creationId xmlns:a16="http://schemas.microsoft.com/office/drawing/2014/main" id="{F76E7CBE-7230-4110-85FB-3718D4B81343}"/>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4997">
          <p15:clr>
            <a:srgbClr val="FBAE40"/>
          </p15:clr>
        </p15:guide>
        <p15:guide id="2" pos="5110">
          <p15:clr>
            <a:srgbClr val="FBAE40"/>
          </p15:clr>
        </p15:guide>
        <p15:guide id="3" pos="7469">
          <p15:clr>
            <a:srgbClr val="FBAE40"/>
          </p15:clr>
        </p15:guide>
        <p15:guide id="4" pos="2683">
          <p15:clr>
            <a:srgbClr val="FBAE40"/>
          </p15:clr>
        </p15:guide>
        <p15:guide id="5" pos="2570">
          <p15:clr>
            <a:srgbClr val="FBAE40"/>
          </p15:clr>
        </p15:guide>
        <p15:guide id="6" pos="211">
          <p15:clr>
            <a:srgbClr val="FBAE40"/>
          </p15:clr>
        </p15:guide>
        <p15:guide id="7" orient="horz" pos="799">
          <p15:clr>
            <a:srgbClr val="FBAE40"/>
          </p15:clr>
        </p15:guide>
        <p15:guide id="8" orient="horz" pos="4020">
          <p15:clr>
            <a:srgbClr val="FBAE40"/>
          </p15:clr>
        </p15:guide>
        <p15:guide id="9" orient="horz" pos="1661">
          <p15:clr>
            <a:srgbClr val="FBAE40"/>
          </p15:clr>
        </p15:guide>
        <p15:guide id="10" orient="horz" pos="17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AndMedia" preserve="1">
  <p:cSld name="4 columns">
    <p:spTree>
      <p:nvGrpSpPr>
        <p:cNvPr id="1" name=""/>
        <p:cNvGrpSpPr/>
        <p:nvPr/>
      </p:nvGrpSpPr>
      <p:grpSpPr>
        <a:xfrm>
          <a:off x="0" y="0"/>
          <a:ext cx="0" cy="0"/>
          <a:chOff x="0" y="0"/>
          <a:chExt cx="0" cy="0"/>
        </a:xfrm>
      </p:grpSpPr>
      <p:sp>
        <p:nvSpPr>
          <p:cNvPr id="11" name="empower_additionalText_placeholder" hidden="1">
            <a:extLst>
              <a:ext uri="{FF2B5EF4-FFF2-40B4-BE49-F238E27FC236}">
                <a16:creationId xmlns:a16="http://schemas.microsoft.com/office/drawing/2014/main" id="{5BFFD0DD-DDFD-422B-86D9-F164E68C0538}"/>
              </a:ext>
            </a:extLst>
          </p:cNvPr>
          <p:cNvSpPr txBox="1"/>
          <p:nvPr>
            <p:custDataLst>
              <p:tags r:id="rId1"/>
            </p:custDataLst>
          </p:nvPr>
        </p:nvSpPr>
        <p:spPr bwMode="auto">
          <a:xfrm>
            <a:off x="2531796" y="6489341"/>
            <a:ext cx="1728000" cy="361459"/>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DF070F93-7F88-456A-894C-885F8AC591A3}"/>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9A5FF993-F527-4569-A066-E8D346767DE0}"/>
              </a:ext>
            </a:extLst>
          </p:cNvPr>
          <p:cNvSpPr txBox="1"/>
          <p:nvPr>
            <p:custDataLst>
              <p:tags r:id="rId3"/>
            </p:custDataLst>
          </p:nvPr>
        </p:nvSpPr>
        <p:spPr bwMode="auto">
          <a:xfrm>
            <a:off x="9444480" y="6489341"/>
            <a:ext cx="97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09C3987-21ED-4B60-B90F-837FB1F2A7A5}"/>
              </a:ext>
            </a:extLst>
          </p:cNvPr>
          <p:cNvSpPr txBox="1"/>
          <p:nvPr>
            <p:custDataLst>
              <p:tags r:id="rId4"/>
            </p:custDataLst>
          </p:nvPr>
        </p:nvSpPr>
        <p:spPr bwMode="auto">
          <a:xfrm>
            <a:off x="8761190" y="6489341"/>
            <a:ext cx="360362"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C33D0117-4C9D-47FC-BBAF-7D90814DB7C7}"/>
              </a:ext>
            </a:extLst>
          </p:cNvPr>
          <p:cNvSpPr txBox="1"/>
          <p:nvPr>
            <p:custDataLst>
              <p:tags r:id="rId5"/>
            </p:custDataLst>
          </p:nvPr>
        </p:nvSpPr>
        <p:spPr bwMode="auto">
          <a:xfrm>
            <a:off x="4547828" y="6489341"/>
            <a:ext cx="3096343" cy="361459"/>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40F47B66-9156-4480-85AF-99EB0563F553}"/>
              </a:ext>
            </a:extLst>
          </p:cNvPr>
          <p:cNvSpPr txBox="1"/>
          <p:nvPr>
            <p:custDataLst>
              <p:tags r:id="rId6"/>
            </p:custDataLst>
          </p:nvPr>
        </p:nvSpPr>
        <p:spPr bwMode="auto">
          <a:xfrm>
            <a:off x="1238188" y="6489341"/>
            <a:ext cx="971855"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4" name="empower_classification_placeholder">
            <a:extLst>
              <a:ext uri="{FF2B5EF4-FFF2-40B4-BE49-F238E27FC236}">
                <a16:creationId xmlns:a16="http://schemas.microsoft.com/office/drawing/2014/main" id="{B1D76006-023D-437E-80D1-B8FC83CA1329}"/>
              </a:ext>
            </a:extLst>
          </p:cNvPr>
          <p:cNvSpPr txBox="1"/>
          <p:nvPr>
            <p:custDataLst>
              <p:tags r:id="rId7"/>
            </p:custDataLst>
          </p:nvPr>
        </p:nvSpPr>
        <p:spPr bwMode="auto">
          <a:xfrm>
            <a:off x="1238188" y="6489341"/>
            <a:ext cx="973251" cy="361459"/>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26" name="empower_date_placeholder">
            <a:extLst>
              <a:ext uri="{FF2B5EF4-FFF2-40B4-BE49-F238E27FC236}">
                <a16:creationId xmlns:a16="http://schemas.microsoft.com/office/drawing/2014/main" id="{71DC81B7-1CCA-48F9-8AB9-34BBC16340CF}"/>
              </a:ext>
            </a:extLst>
          </p:cNvPr>
          <p:cNvSpPr txBox="1"/>
          <p:nvPr>
            <p:custDataLst>
              <p:tags r:id="rId8"/>
            </p:custDataLst>
          </p:nvPr>
        </p:nvSpPr>
        <p:spPr bwMode="auto">
          <a:xfrm>
            <a:off x="334963" y="6489341"/>
            <a:ext cx="612000" cy="361459"/>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p>
        </p:txBody>
      </p:sp>
      <p:sp>
        <p:nvSpPr>
          <p:cNvPr id="8" name="Content Left">
            <a:extLst>
              <a:ext uri="{FF2B5EF4-FFF2-40B4-BE49-F238E27FC236}">
                <a16:creationId xmlns:a16="http://schemas.microsoft.com/office/drawing/2014/main" id="{371B7856-37AA-4EBD-9A28-1045DC90A92A}"/>
              </a:ext>
            </a:extLst>
          </p:cNvPr>
          <p:cNvSpPr>
            <a:spLocks noGrp="1"/>
          </p:cNvSpPr>
          <p:nvPr>
            <p:ph sz="quarter" idx="20" hasCustomPrompt="1"/>
          </p:nvPr>
        </p:nvSpPr>
        <p:spPr>
          <a:xfrm>
            <a:off x="334799" y="1268414"/>
            <a:ext cx="2808000"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Content Center Left">
            <a:extLst>
              <a:ext uri="{FF2B5EF4-FFF2-40B4-BE49-F238E27FC236}">
                <a16:creationId xmlns:a16="http://schemas.microsoft.com/office/drawing/2014/main" id="{AB4408A9-DF90-4D32-8AE8-9278539718C0}"/>
              </a:ext>
            </a:extLst>
          </p:cNvPr>
          <p:cNvSpPr>
            <a:spLocks noGrp="1"/>
          </p:cNvSpPr>
          <p:nvPr>
            <p:ph sz="quarter" idx="21" hasCustomPrompt="1"/>
          </p:nvPr>
        </p:nvSpPr>
        <p:spPr>
          <a:xfrm>
            <a:off x="3324225"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Center Right">
            <a:extLst>
              <a:ext uri="{FF2B5EF4-FFF2-40B4-BE49-F238E27FC236}">
                <a16:creationId xmlns:a16="http://schemas.microsoft.com/office/drawing/2014/main" id="{FFF96914-9970-46DB-82A4-AB1B80110378}"/>
              </a:ext>
            </a:extLst>
          </p:cNvPr>
          <p:cNvSpPr>
            <a:spLocks noGrp="1"/>
          </p:cNvSpPr>
          <p:nvPr>
            <p:ph sz="quarter" idx="22" hasCustomPrompt="1"/>
          </p:nvPr>
        </p:nvSpPr>
        <p:spPr>
          <a:xfrm>
            <a:off x="6203950" y="1268414"/>
            <a:ext cx="2663825"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 name="Content Right">
            <a:extLst>
              <a:ext uri="{FF2B5EF4-FFF2-40B4-BE49-F238E27FC236}">
                <a16:creationId xmlns:a16="http://schemas.microsoft.com/office/drawing/2014/main" id="{6803C6B1-D864-4BE6-AE1F-CA280F4DABD8}"/>
              </a:ext>
            </a:extLst>
          </p:cNvPr>
          <p:cNvSpPr>
            <a:spLocks noGrp="1"/>
          </p:cNvSpPr>
          <p:nvPr>
            <p:ph sz="quarter" idx="23" hasCustomPrompt="1"/>
          </p:nvPr>
        </p:nvSpPr>
        <p:spPr>
          <a:xfrm>
            <a:off x="9048750" y="1268414"/>
            <a:ext cx="2807593" cy="5113338"/>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CDD773CC-FCEC-46C8-A75B-E70A26A7BF5B}"/>
              </a:ext>
            </a:extLst>
          </p:cNvPr>
          <p:cNvSpPr>
            <a:spLocks noGrp="1"/>
          </p:cNvSpPr>
          <p:nvPr>
            <p:ph type="title" hasCustomPrompt="1"/>
          </p:nvPr>
        </p:nvSpPr>
        <p:spPr/>
        <p:txBody>
          <a:bodyPr/>
          <a:lstStyle>
            <a:lvl1pPr>
              <a:defRPr baseline="0">
                <a:latin typeface="+mj-lt"/>
                <a:ea typeface="+mj-ea"/>
                <a:cs typeface="+mj-cs"/>
              </a:defRPr>
            </a:lvl1pPr>
          </a:lstStyle>
          <a:p>
            <a:r>
              <a:rPr lang="en-US" noProof="0" dirty="0"/>
              <a:t>Click to edit title</a:t>
            </a:r>
          </a:p>
        </p:txBody>
      </p:sp>
      <p:sp>
        <p:nvSpPr>
          <p:cNvPr id="4" name="LOGO PROTECTION" hidden="1">
            <a:extLst>
              <a:ext uri="{FF2B5EF4-FFF2-40B4-BE49-F238E27FC236}">
                <a16:creationId xmlns:a16="http://schemas.microsoft.com/office/drawing/2014/main" id="{FC67C23C-8514-4FAA-ABF5-040B63DA67C4}"/>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735BE885-8732-4220-942B-E6D8F286274D}"/>
              </a:ext>
            </a:extLst>
          </p:cNvPr>
          <p:cNvSpPr>
            <a:spLocks noGrp="1"/>
          </p:cNvSpPr>
          <p:nvPr>
            <p:ph type="dt" sz="half" idx="24"/>
            <p:custDataLst>
              <p:tags r:id="rId10"/>
            </p:custDataLst>
          </p:nvPr>
        </p:nvSpPr>
        <p:spPr/>
        <p:txBody>
          <a:bodyPr/>
          <a:lstStyle/>
          <a:p>
            <a:r>
              <a:rPr lang="en-US" b="1"/>
              <a:t> </a:t>
            </a:r>
            <a:endParaRPr lang="en-US" b="1" dirty="0"/>
          </a:p>
        </p:txBody>
      </p:sp>
      <p:sp>
        <p:nvSpPr>
          <p:cNvPr id="13" name="Footer Placeholder 12" hidden="1">
            <a:extLst>
              <a:ext uri="{FF2B5EF4-FFF2-40B4-BE49-F238E27FC236}">
                <a16:creationId xmlns:a16="http://schemas.microsoft.com/office/drawing/2014/main" id="{30570D12-AEFF-4406-B206-CB0D80D8FF49}"/>
              </a:ext>
            </a:extLst>
          </p:cNvPr>
          <p:cNvSpPr>
            <a:spLocks noGrp="1"/>
          </p:cNvSpPr>
          <p:nvPr>
            <p:ph type="ftr" sz="quarter" idx="25"/>
            <p:custDataLst>
              <p:tags r:id="rId11"/>
            </p:custDataLst>
          </p:nvPr>
        </p:nvSpPr>
        <p:spPr/>
        <p:txBody>
          <a:bodyPr/>
          <a:lstStyle/>
          <a:p>
            <a:endParaRPr lang="en-US" dirty="0"/>
          </a:p>
        </p:txBody>
      </p:sp>
      <p:sp>
        <p:nvSpPr>
          <p:cNvPr id="16" name="Slide Number Placeholder 15" hidden="1">
            <a:extLst>
              <a:ext uri="{FF2B5EF4-FFF2-40B4-BE49-F238E27FC236}">
                <a16:creationId xmlns:a16="http://schemas.microsoft.com/office/drawing/2014/main" id="{C49E2653-C8D1-4594-B3A4-0606A88CBB62}"/>
              </a:ext>
            </a:extLst>
          </p:cNvPr>
          <p:cNvSpPr>
            <a:spLocks noGrp="1"/>
          </p:cNvSpPr>
          <p:nvPr>
            <p:ph type="sldNum" sz="quarter" idx="26"/>
            <p:custDataLst>
              <p:tags r:id="rId12"/>
            </p:custDataLst>
          </p:nvPr>
        </p:nvSpPr>
        <p:spPr/>
        <p:txBody>
          <a:bodyPr/>
          <a:lstStyle/>
          <a:p>
            <a:r>
              <a:rPr lang="en-US"/>
              <a:t> </a:t>
            </a:r>
            <a:endParaRPr lang="en-US" dirty="0"/>
          </a:p>
        </p:txBody>
      </p:sp>
      <p:sp>
        <p:nvSpPr>
          <p:cNvPr id="18" name="MIO_Placeholder_Mapping" hidden="1">
            <a:extLst>
              <a:ext uri="{FF2B5EF4-FFF2-40B4-BE49-F238E27FC236}">
                <a16:creationId xmlns:a16="http://schemas.microsoft.com/office/drawing/2014/main" id="{12ADA7AE-DD1C-409A-B0A5-6D14FF7BF270}"/>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4020">
          <p15:clr>
            <a:srgbClr val="FBAE40"/>
          </p15:clr>
        </p15:guide>
        <p15:guide id="3" pos="7469">
          <p15:clr>
            <a:srgbClr val="FBAE40"/>
          </p15:clr>
        </p15:guide>
        <p15:guide id="4" pos="211">
          <p15:clr>
            <a:srgbClr val="FBAE40"/>
          </p15:clr>
        </p15:guide>
        <p15:guide id="5" pos="3908">
          <p15:clr>
            <a:srgbClr val="FBAE40"/>
          </p15:clr>
        </p15:guide>
        <p15:guide id="6" pos="3772">
          <p15:clr>
            <a:srgbClr val="FBAE40"/>
          </p15:clr>
        </p15:guide>
        <p15:guide id="7" pos="5586">
          <p15:clr>
            <a:srgbClr val="FBAE40"/>
          </p15:clr>
        </p15:guide>
        <p15:guide id="8" pos="5700">
          <p15:clr>
            <a:srgbClr val="FBAE40"/>
          </p15:clr>
        </p15:guide>
        <p15:guide id="9" pos="1980">
          <p15:clr>
            <a:srgbClr val="FBAE40"/>
          </p15:clr>
        </p15:guide>
        <p15:guide id="10" pos="209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OverTx" preserve="1">
  <p:cSld name="Row | 4 columns">
    <p:spTree>
      <p:nvGrpSpPr>
        <p:cNvPr id="1" name=""/>
        <p:cNvGrpSpPr/>
        <p:nvPr/>
      </p:nvGrpSpPr>
      <p:grpSpPr>
        <a:xfrm>
          <a:off x="0" y="0"/>
          <a:ext cx="0" cy="0"/>
          <a:chOff x="0" y="0"/>
          <a:chExt cx="0" cy="0"/>
        </a:xfrm>
      </p:grpSpPr>
      <p:sp>
        <p:nvSpPr>
          <p:cNvPr id="13" name="empower_additionalText_placeholder" hidden="1">
            <a:extLst>
              <a:ext uri="{FF2B5EF4-FFF2-40B4-BE49-F238E27FC236}">
                <a16:creationId xmlns:a16="http://schemas.microsoft.com/office/drawing/2014/main" id="{598DE9EE-A198-41B5-9814-41C66F96D3B0}"/>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noProof="0">
              <a:solidFill>
                <a:schemeClr val="tx1"/>
              </a:solidFill>
              <a:latin typeface="+mn-lt"/>
              <a:ea typeface="+mn-ea"/>
              <a:cs typeface="+mn-cs"/>
            </a:endParaRPr>
          </a:p>
        </p:txBody>
      </p:sp>
      <p:sp>
        <p:nvSpPr>
          <p:cNvPr id="5" name="empower_document_placeholder" hidden="1">
            <a:extLst>
              <a:ext uri="{FF2B5EF4-FFF2-40B4-BE49-F238E27FC236}">
                <a16:creationId xmlns:a16="http://schemas.microsoft.com/office/drawing/2014/main" id="{0AFB1D71-5FD7-446C-90B5-1DE68C513BD6}"/>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noProof="0">
                <a:solidFill>
                  <a:schemeClr val="tx1"/>
                </a:solidFill>
                <a:latin typeface="+mn-lt"/>
                <a:ea typeface="+mn-ea"/>
                <a:cs typeface="+mn-cs"/>
              </a:rPr>
              <a:t>[Owner:   Doc ID:   Vers.: ]</a:t>
            </a:r>
          </a:p>
        </p:txBody>
      </p:sp>
      <p:sp>
        <p:nvSpPr>
          <p:cNvPr id="6" name="empower_proprietary_placeholder" hidden="1">
            <a:extLst>
              <a:ext uri="{FF2B5EF4-FFF2-40B4-BE49-F238E27FC236}">
                <a16:creationId xmlns:a16="http://schemas.microsoft.com/office/drawing/2014/main" id="{57168C6C-B95E-4260-9301-8D1D5988F67B}"/>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Infineon Proprietary</a:t>
            </a:r>
          </a:p>
        </p:txBody>
      </p:sp>
      <p:sp>
        <p:nvSpPr>
          <p:cNvPr id="7" name="empower_draft_placeholder" hidden="1">
            <a:extLst>
              <a:ext uri="{FF2B5EF4-FFF2-40B4-BE49-F238E27FC236}">
                <a16:creationId xmlns:a16="http://schemas.microsoft.com/office/drawing/2014/main" id="{729E2230-F28C-4139-A2F7-536C0BDB8E99}"/>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 DRAFT -</a:t>
            </a:r>
            <a:endParaRPr lang="en-US" sz="800" b="1" kern="0" noProof="0" dirty="0">
              <a:solidFill>
                <a:schemeClr val="tx2"/>
              </a:solidFill>
              <a:latin typeface="+mn-lt"/>
              <a:ea typeface="+mn-ea"/>
              <a:cs typeface="+mn-cs"/>
            </a:endParaRPr>
          </a:p>
        </p:txBody>
      </p:sp>
      <p:sp>
        <p:nvSpPr>
          <p:cNvPr id="9" name="empower_footer_placeholder">
            <a:extLst>
              <a:ext uri="{FF2B5EF4-FFF2-40B4-BE49-F238E27FC236}">
                <a16:creationId xmlns:a16="http://schemas.microsoft.com/office/drawing/2014/main" id="{2A98BB16-D9CD-4785-A71C-21C57A554883}"/>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Copyright © Infineon Technologies AG 2025. All rights reserved.</a:t>
            </a:r>
            <a:endParaRPr lang="en-US" sz="800" kern="0" noProof="0" dirty="0">
              <a:solidFill>
                <a:schemeClr val="tx1"/>
              </a:solidFill>
              <a:latin typeface="+mn-lt"/>
              <a:ea typeface="+mn-ea"/>
              <a:cs typeface="+mn-cs"/>
            </a:endParaRPr>
          </a:p>
        </p:txBody>
      </p:sp>
      <p:sp>
        <p:nvSpPr>
          <p:cNvPr id="10" name="empower_classification_attention_placeholder" hidden="1">
            <a:extLst>
              <a:ext uri="{FF2B5EF4-FFF2-40B4-BE49-F238E27FC236}">
                <a16:creationId xmlns:a16="http://schemas.microsoft.com/office/drawing/2014/main" id="{333A1F8F-A990-434A-92C1-D59A014E7AFF}"/>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2"/>
                </a:solidFill>
                <a:latin typeface="+mn-lt"/>
                <a:ea typeface="+mn-ea"/>
                <a:cs typeface="+mn-cs"/>
              </a:rPr>
              <a:t>restricted</a:t>
            </a:r>
          </a:p>
        </p:txBody>
      </p:sp>
      <p:sp>
        <p:nvSpPr>
          <p:cNvPr id="11" name="empower_classification_placeholder">
            <a:extLst>
              <a:ext uri="{FF2B5EF4-FFF2-40B4-BE49-F238E27FC236}">
                <a16:creationId xmlns:a16="http://schemas.microsoft.com/office/drawing/2014/main" id="{DBAA7875-DC7B-4CB1-AFAA-A99AEDD01BF7}"/>
              </a:ext>
            </a:extLst>
          </p:cNvPr>
          <p:cNvSpPr txBox="1"/>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noProof="0">
                <a:solidFill>
                  <a:schemeClr val="tx1"/>
                </a:solidFill>
                <a:latin typeface="+mn-lt"/>
                <a:ea typeface="+mn-ea"/>
                <a:cs typeface="+mn-cs"/>
              </a:rPr>
              <a:t>restricted</a:t>
            </a:r>
          </a:p>
        </p:txBody>
      </p:sp>
      <p:sp>
        <p:nvSpPr>
          <p:cNvPr id="15" name="empower_date_placeholder">
            <a:extLst>
              <a:ext uri="{FF2B5EF4-FFF2-40B4-BE49-F238E27FC236}">
                <a16:creationId xmlns:a16="http://schemas.microsoft.com/office/drawing/2014/main" id="{5743D8EF-9336-4669-BBD9-501D062A3DB4}"/>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noProof="0">
                <a:solidFill>
                  <a:schemeClr val="tx1"/>
                </a:solidFill>
                <a:latin typeface="+mn-lt"/>
                <a:ea typeface="+mn-ea"/>
                <a:cs typeface="+mn-cs"/>
              </a:rPr>
              <a:t>2025-09-03</a:t>
            </a:r>
            <a:endParaRPr lang="en-US" sz="800" kern="0" noProof="0" dirty="0">
              <a:solidFill>
                <a:schemeClr val="tx1"/>
              </a:solidFill>
              <a:latin typeface="+mn-lt"/>
              <a:ea typeface="+mn-ea"/>
              <a:cs typeface="+mn-cs"/>
            </a:endParaRPr>
          </a:p>
        </p:txBody>
      </p:sp>
      <p:sp>
        <p:nvSpPr>
          <p:cNvPr id="8" name="Content Top">
            <a:extLst>
              <a:ext uri="{FF2B5EF4-FFF2-40B4-BE49-F238E27FC236}">
                <a16:creationId xmlns:a16="http://schemas.microsoft.com/office/drawing/2014/main" id="{B528FDA5-64C4-4079-B7B7-97722BA30039}"/>
              </a:ext>
            </a:extLst>
          </p:cNvPr>
          <p:cNvSpPr>
            <a:spLocks noGrp="1"/>
          </p:cNvSpPr>
          <p:nvPr>
            <p:ph sz="quarter" idx="21" hasCustomPrompt="1"/>
          </p:nvPr>
        </p:nvSpPr>
        <p:spPr>
          <a:xfrm>
            <a:off x="334800" y="1268414"/>
            <a:ext cx="11521280" cy="1368425"/>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stStyle>
          <a:p>
            <a:pPr lvl="0"/>
            <a:r>
              <a:rPr lang="en-US" noProof="0"/>
              <a:t>Click to edit text</a:t>
            </a:r>
          </a:p>
          <a:p>
            <a:pPr lvl="1"/>
            <a:r>
              <a:rPr lang="en-US" noProof="0"/>
              <a:t>Second level</a:t>
            </a:r>
          </a:p>
          <a:p>
            <a:pPr lvl="2"/>
            <a:r>
              <a:rPr lang="en-US" noProof="0"/>
              <a:t>Third level</a:t>
            </a:r>
          </a:p>
        </p:txBody>
      </p:sp>
      <p:sp>
        <p:nvSpPr>
          <p:cNvPr id="12" name="Content Left">
            <a:extLst>
              <a:ext uri="{FF2B5EF4-FFF2-40B4-BE49-F238E27FC236}">
                <a16:creationId xmlns:a16="http://schemas.microsoft.com/office/drawing/2014/main" id="{11455573-DB68-4634-9EB0-10FDA72EB09C}"/>
              </a:ext>
            </a:extLst>
          </p:cNvPr>
          <p:cNvSpPr>
            <a:spLocks noGrp="1"/>
          </p:cNvSpPr>
          <p:nvPr>
            <p:ph sz="quarter" idx="22" hasCustomPrompt="1"/>
          </p:nvPr>
        </p:nvSpPr>
        <p:spPr>
          <a:xfrm>
            <a:off x="334800" y="2781300"/>
            <a:ext cx="2808000"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Content Center Left">
            <a:extLst>
              <a:ext uri="{FF2B5EF4-FFF2-40B4-BE49-F238E27FC236}">
                <a16:creationId xmlns:a16="http://schemas.microsoft.com/office/drawing/2014/main" id="{DF6A34C2-8D0D-4C18-BD01-86B1344A92DF}"/>
              </a:ext>
            </a:extLst>
          </p:cNvPr>
          <p:cNvSpPr>
            <a:spLocks noGrp="1"/>
          </p:cNvSpPr>
          <p:nvPr>
            <p:ph sz="quarter" idx="23" hasCustomPrompt="1"/>
          </p:nvPr>
        </p:nvSpPr>
        <p:spPr>
          <a:xfrm>
            <a:off x="3324225"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Content Center Right">
            <a:extLst>
              <a:ext uri="{FF2B5EF4-FFF2-40B4-BE49-F238E27FC236}">
                <a16:creationId xmlns:a16="http://schemas.microsoft.com/office/drawing/2014/main" id="{A331F240-D4BB-4096-BFB7-002D583A4FC9}"/>
              </a:ext>
            </a:extLst>
          </p:cNvPr>
          <p:cNvSpPr>
            <a:spLocks noGrp="1"/>
          </p:cNvSpPr>
          <p:nvPr>
            <p:ph sz="quarter" idx="24" hasCustomPrompt="1"/>
          </p:nvPr>
        </p:nvSpPr>
        <p:spPr>
          <a:xfrm>
            <a:off x="6203950" y="2781300"/>
            <a:ext cx="2663825"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 name="Content Right">
            <a:extLst>
              <a:ext uri="{FF2B5EF4-FFF2-40B4-BE49-F238E27FC236}">
                <a16:creationId xmlns:a16="http://schemas.microsoft.com/office/drawing/2014/main" id="{2BEB3BE2-22F6-4B6B-AB28-F38AB449DED5}"/>
              </a:ext>
            </a:extLst>
          </p:cNvPr>
          <p:cNvSpPr>
            <a:spLocks noGrp="1"/>
          </p:cNvSpPr>
          <p:nvPr>
            <p:ph sz="quarter" idx="25" hasCustomPrompt="1"/>
          </p:nvPr>
        </p:nvSpPr>
        <p:spPr>
          <a:xfrm>
            <a:off x="9048750" y="2781300"/>
            <a:ext cx="2807593" cy="3600451"/>
          </a:xfrm>
        </p:spPr>
        <p:txBody>
          <a:bodyPr/>
          <a:lstStyle>
            <a:lvl1pPr>
              <a:defRPr>
                <a:latin typeface="+mn-lt"/>
                <a:ea typeface="+mn-ea"/>
                <a:cs typeface="+mn-cs"/>
              </a:defRPr>
            </a:lvl1pPr>
            <a:lvl2pPr>
              <a:defRPr>
                <a:latin typeface="+mn-lt"/>
                <a:ea typeface="+mn-ea"/>
                <a:cs typeface="+mn-cs"/>
              </a:defRPr>
            </a:lvl2pPr>
            <a:lvl3pPr>
              <a:defRPr>
                <a:latin typeface="+mn-lt"/>
                <a:ea typeface="+mn-ea"/>
                <a:cs typeface="+mn-cs"/>
              </a:defRPr>
            </a:lvl3pPr>
            <a:lvl4pPr>
              <a:defRPr>
                <a:latin typeface="+mn-lt"/>
                <a:ea typeface="+mn-ea"/>
                <a:cs typeface="+mn-cs"/>
              </a:defRPr>
            </a:lvl4pPr>
            <a:lvl5pPr>
              <a:defRPr>
                <a:latin typeface="+mn-lt"/>
                <a:ea typeface="+mn-ea"/>
                <a:cs typeface="+mn-cs"/>
              </a:defRPr>
            </a:lvl5pPr>
          </a:lstStyle>
          <a:p>
            <a:pPr lvl="0"/>
            <a:r>
              <a:rPr lang="en-US" noProof="0"/>
              <a:t>Click to edit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a:extLst>
              <a:ext uri="{FF2B5EF4-FFF2-40B4-BE49-F238E27FC236}">
                <a16:creationId xmlns:a16="http://schemas.microsoft.com/office/drawing/2014/main" id="{B9A27F18-A46A-4C29-AB62-7BEB5215CA63}"/>
              </a:ext>
            </a:extLst>
          </p:cNvPr>
          <p:cNvSpPr>
            <a:spLocks noGrp="1"/>
          </p:cNvSpPr>
          <p:nvPr>
            <p:ph type="title" hasCustomPrompt="1"/>
          </p:nvPr>
        </p:nvSpPr>
        <p:spPr/>
        <p:txBody>
          <a:bodyPr/>
          <a:lstStyle>
            <a:lvl1pPr>
              <a:defRPr baseline="0">
                <a:latin typeface="+mj-lt"/>
                <a:ea typeface="+mj-ea"/>
                <a:cs typeface="+mj-cs"/>
              </a:defRPr>
            </a:lvl1pPr>
          </a:lstStyle>
          <a:p>
            <a:r>
              <a:rPr lang="en-US" noProof="0"/>
              <a:t>Click to edit title</a:t>
            </a:r>
          </a:p>
        </p:txBody>
      </p:sp>
      <p:sp>
        <p:nvSpPr>
          <p:cNvPr id="4" name="LOGO PROTECTION" hidden="1">
            <a:extLst>
              <a:ext uri="{FF2B5EF4-FFF2-40B4-BE49-F238E27FC236}">
                <a16:creationId xmlns:a16="http://schemas.microsoft.com/office/drawing/2014/main" id="{DDE018F7-7CB9-4F69-872D-4609CBE453C0}"/>
              </a:ext>
            </a:extLst>
          </p:cNvPr>
          <p:cNvSpPr/>
          <p:nvPr>
            <p:custDataLst>
              <p:tags r:id="rId9"/>
            </p:custDataLst>
          </p:nvPr>
        </p:nvSpPr>
        <p:spPr bwMode="auto">
          <a:xfrm>
            <a:off x="10131283" y="1"/>
            <a:ext cx="2060717" cy="836712"/>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noProof="0">
              <a:latin typeface="+mn-lt"/>
              <a:ea typeface="+mn-ea"/>
              <a:cs typeface="+mn-cs"/>
            </a:endParaRPr>
          </a:p>
        </p:txBody>
      </p:sp>
      <p:sp>
        <p:nvSpPr>
          <p:cNvPr id="2" name="Date Placeholder 1" hidden="1">
            <a:extLst>
              <a:ext uri="{FF2B5EF4-FFF2-40B4-BE49-F238E27FC236}">
                <a16:creationId xmlns:a16="http://schemas.microsoft.com/office/drawing/2014/main" id="{580E7AAC-C545-4F05-8939-1B218CC948D8}"/>
              </a:ext>
            </a:extLst>
          </p:cNvPr>
          <p:cNvSpPr>
            <a:spLocks noGrp="1"/>
          </p:cNvSpPr>
          <p:nvPr>
            <p:ph type="dt" sz="half" idx="26"/>
            <p:custDataLst>
              <p:tags r:id="rId10"/>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86E86CFC-21FB-497B-BD25-729619D70F13}"/>
              </a:ext>
            </a:extLst>
          </p:cNvPr>
          <p:cNvSpPr>
            <a:spLocks noGrp="1"/>
          </p:cNvSpPr>
          <p:nvPr>
            <p:ph type="ftr" sz="quarter" idx="27"/>
            <p:custDataLst>
              <p:tags r:id="rId11"/>
            </p:custDataLst>
          </p:nvPr>
        </p:nvSpPr>
        <p:spPr/>
        <p:txBody>
          <a:bodyPr/>
          <a:lstStyle/>
          <a:p>
            <a:endParaRPr lang="en-US" dirty="0"/>
          </a:p>
        </p:txBody>
      </p:sp>
      <p:sp>
        <p:nvSpPr>
          <p:cNvPr id="17" name="Slide Number Placeholder 16" hidden="1">
            <a:extLst>
              <a:ext uri="{FF2B5EF4-FFF2-40B4-BE49-F238E27FC236}">
                <a16:creationId xmlns:a16="http://schemas.microsoft.com/office/drawing/2014/main" id="{C7A23CE7-AF5A-4245-A417-6A94DA58E485}"/>
              </a:ext>
            </a:extLst>
          </p:cNvPr>
          <p:cNvSpPr>
            <a:spLocks noGrp="1"/>
          </p:cNvSpPr>
          <p:nvPr>
            <p:ph type="sldNum" sz="quarter" idx="28"/>
            <p:custDataLst>
              <p:tags r:id="rId12"/>
            </p:custDataLst>
          </p:nvPr>
        </p:nvSpPr>
        <p:spPr/>
        <p:txBody>
          <a:bodyPr/>
          <a:lstStyle/>
          <a:p>
            <a:r>
              <a:rPr lang="en-US"/>
              <a:t> </a:t>
            </a:r>
            <a:endParaRPr lang="en-US" dirty="0"/>
          </a:p>
        </p:txBody>
      </p:sp>
      <p:sp>
        <p:nvSpPr>
          <p:cNvPr id="19" name="MIO_Placeholder_Mapping" hidden="1">
            <a:extLst>
              <a:ext uri="{FF2B5EF4-FFF2-40B4-BE49-F238E27FC236}">
                <a16:creationId xmlns:a16="http://schemas.microsoft.com/office/drawing/2014/main" id="{E3241B79-27A8-4873-89EC-D6F0564709E7}"/>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orient="horz" pos="799">
          <p15:clr>
            <a:srgbClr val="FBAE40"/>
          </p15:clr>
        </p15:guide>
        <p15:guide id="2" orient="horz" pos="1661">
          <p15:clr>
            <a:srgbClr val="FBAE40"/>
          </p15:clr>
        </p15:guide>
        <p15:guide id="3" orient="horz" pos="1752">
          <p15:clr>
            <a:srgbClr val="FBAE40"/>
          </p15:clr>
        </p15:guide>
        <p15:guide id="4" orient="horz" pos="4020">
          <p15:clr>
            <a:srgbClr val="FBAE40"/>
          </p15:clr>
        </p15:guide>
        <p15:guide id="5" pos="1980">
          <p15:clr>
            <a:srgbClr val="FBAE40"/>
          </p15:clr>
        </p15:guide>
        <p15:guide id="6" pos="211">
          <p15:clr>
            <a:srgbClr val="FBAE40"/>
          </p15:clr>
        </p15:guide>
        <p15:guide id="7" pos="2094">
          <p15:clr>
            <a:srgbClr val="FBAE40"/>
          </p15:clr>
        </p15:guide>
        <p15:guide id="8" pos="3772">
          <p15:clr>
            <a:srgbClr val="FBAE40"/>
          </p15:clr>
        </p15:guide>
        <p15:guide id="9" pos="3908">
          <p15:clr>
            <a:srgbClr val="FBAE40"/>
          </p15:clr>
        </p15:guide>
        <p15:guide id="10" pos="5586">
          <p15:clr>
            <a:srgbClr val="FBAE40"/>
          </p15:clr>
        </p15:guide>
        <p15:guide id="11" pos="5700">
          <p15:clr>
            <a:srgbClr val="FBAE40"/>
          </p15:clr>
        </p15:guide>
        <p15:guide id="12" pos="746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5" name="empower_additionalText_placeholder" hidden="1">
            <a:extLst>
              <a:ext uri="{FF2B5EF4-FFF2-40B4-BE49-F238E27FC236}">
                <a16:creationId xmlns:a16="http://schemas.microsoft.com/office/drawing/2014/main" id="{8B492BE2-D2A2-481A-B24A-CDE1C12A85F8}"/>
              </a:ext>
            </a:extLst>
          </p:cNvPr>
          <p:cNvSpPr txBox="1"/>
          <p:nvPr>
            <p:custDataLst>
              <p:tags r:id="rId1"/>
            </p:custDataLst>
          </p:nvPr>
        </p:nvSpPr>
        <p:spPr bwMode="auto">
          <a:xfrm>
            <a:off x="2531796" y="6489700"/>
            <a:ext cx="1728000" cy="361100"/>
          </a:xfrm>
          <a:prstGeom prst="rect">
            <a:avLst/>
          </a:prstGeom>
          <a:noFill/>
          <a:ln w="9525">
            <a:noFill/>
            <a:miter lim="800000"/>
            <a:headEnd/>
            <a:tailEnd/>
          </a:ln>
          <a:effectLst/>
        </p:spPr>
        <p:txBody>
          <a:bodyPr wrap="none" lIns="0" tIns="0" rIns="0" bIns="0" rtlCol="0" anchor="ctr" anchorCtr="0">
            <a:noAutofit/>
          </a:bodyPr>
          <a:lstStyle>
            <a:defPPr>
              <a:defRPr lang="en-US"/>
            </a:defPPr>
            <a:lvl1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defRPr sz="800" b="1" kern="0">
                <a:solidFill>
                  <a:srgbClr val="E30034"/>
                </a:solidFill>
                <a:latin typeface="Arial" panose="020B0604020202020204" pitchFamily="34" charset="0"/>
                <a:ea typeface="Verdana" pitchFamily="34" charset="0"/>
                <a:cs typeface="Arial" panose="020B0604020202020204" pitchFamily="34" charset="0"/>
              </a:defRPr>
            </a:lvl1pPr>
          </a:lstStyle>
          <a:p>
            <a:pPr lvl="0" algn="l"/>
            <a:endParaRPr lang="en-US" baseline="0" noProof="0">
              <a:solidFill>
                <a:schemeClr val="tx1"/>
              </a:solidFill>
              <a:latin typeface="+mn-lt"/>
              <a:ea typeface="+mn-ea"/>
              <a:cs typeface="+mn-cs"/>
            </a:endParaRPr>
          </a:p>
        </p:txBody>
      </p:sp>
      <p:sp>
        <p:nvSpPr>
          <p:cNvPr id="10" name="empower_document_placeholder" hidden="1">
            <a:extLst>
              <a:ext uri="{FF2B5EF4-FFF2-40B4-BE49-F238E27FC236}">
                <a16:creationId xmlns:a16="http://schemas.microsoft.com/office/drawing/2014/main" id="{C269EC22-FB11-4D33-A5AD-970FF7AE0E7D}"/>
              </a:ext>
            </a:extLst>
          </p:cNvPr>
          <p:cNvSpPr txBox="1"/>
          <p:nvPr>
            <p:custDataLst>
              <p:tags r:id="rId2"/>
            </p:custDataLst>
          </p:nvPr>
        </p:nvSpPr>
        <p:spPr bwMode="auto">
          <a:xfrm rot="16200000">
            <a:off x="10757888" y="4960337"/>
            <a:ext cx="2592000" cy="250825"/>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700" kern="0" baseline="0" noProof="0">
                <a:solidFill>
                  <a:schemeClr val="tx1"/>
                </a:solidFill>
                <a:latin typeface="+mn-lt"/>
                <a:ea typeface="+mn-ea"/>
                <a:cs typeface="+mn-cs"/>
              </a:rPr>
              <a:t>[Owner:   Doc ID:   Vers.: ]</a:t>
            </a:r>
          </a:p>
        </p:txBody>
      </p:sp>
      <p:sp>
        <p:nvSpPr>
          <p:cNvPr id="12" name="empower_proprietary_placeholder" hidden="1">
            <a:extLst>
              <a:ext uri="{FF2B5EF4-FFF2-40B4-BE49-F238E27FC236}">
                <a16:creationId xmlns:a16="http://schemas.microsoft.com/office/drawing/2014/main" id="{4B1BF6CA-DC2D-48CD-962D-066217BE39A2}"/>
              </a:ext>
            </a:extLst>
          </p:cNvPr>
          <p:cNvSpPr txBox="1"/>
          <p:nvPr>
            <p:custDataLst>
              <p:tags r:id="rId3"/>
            </p:custDataLst>
          </p:nvPr>
        </p:nvSpPr>
        <p:spPr bwMode="auto">
          <a:xfrm>
            <a:off x="9444480" y="6489700"/>
            <a:ext cx="97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Infineon Proprietary</a:t>
            </a:r>
          </a:p>
        </p:txBody>
      </p:sp>
      <p:sp>
        <p:nvSpPr>
          <p:cNvPr id="14" name="empower_draft_placeholder" hidden="1">
            <a:extLst>
              <a:ext uri="{FF2B5EF4-FFF2-40B4-BE49-F238E27FC236}">
                <a16:creationId xmlns:a16="http://schemas.microsoft.com/office/drawing/2014/main" id="{884DECEF-9719-4244-AEE1-2AEA4754457D}"/>
              </a:ext>
            </a:extLst>
          </p:cNvPr>
          <p:cNvSpPr txBox="1"/>
          <p:nvPr>
            <p:custDataLst>
              <p:tags r:id="rId4"/>
            </p:custDataLst>
          </p:nvPr>
        </p:nvSpPr>
        <p:spPr bwMode="auto">
          <a:xfrm>
            <a:off x="8761190" y="6489700"/>
            <a:ext cx="360362"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 DRAFT -</a:t>
            </a:r>
            <a:endParaRPr lang="en-US" sz="800" b="1" kern="0" baseline="0" noProof="0" dirty="0">
              <a:solidFill>
                <a:schemeClr val="tx2"/>
              </a:solidFill>
              <a:latin typeface="+mn-lt"/>
              <a:ea typeface="+mn-ea"/>
              <a:cs typeface="+mn-cs"/>
            </a:endParaRPr>
          </a:p>
        </p:txBody>
      </p:sp>
      <p:sp>
        <p:nvSpPr>
          <p:cNvPr id="16" name="empower_footer_placeholder">
            <a:extLst>
              <a:ext uri="{FF2B5EF4-FFF2-40B4-BE49-F238E27FC236}">
                <a16:creationId xmlns:a16="http://schemas.microsoft.com/office/drawing/2014/main" id="{4E03D739-7852-4964-A407-6FD3B0FC1EEE}"/>
              </a:ext>
            </a:extLst>
          </p:cNvPr>
          <p:cNvSpPr txBox="1"/>
          <p:nvPr>
            <p:custDataLst>
              <p:tags r:id="rId5"/>
            </p:custDataLst>
          </p:nvPr>
        </p:nvSpPr>
        <p:spPr bwMode="auto">
          <a:xfrm>
            <a:off x="4547828" y="6489700"/>
            <a:ext cx="3096343" cy="361100"/>
          </a:xfrm>
          <a:prstGeom prst="rect">
            <a:avLst/>
          </a:prstGeom>
          <a:noFill/>
          <a:ln w="9525">
            <a:noFill/>
            <a:miter lim="800000"/>
            <a:headEnd/>
            <a:tailEnd/>
          </a:ln>
          <a:effectLst/>
        </p:spPr>
        <p:txBody>
          <a:bodyPr wrap="none" lIns="0" tIns="0" rIns="0" bIns="0" rtlCol="0" anchor="ctr" anchorCtr="0">
            <a:noAutofit/>
          </a:bodyPr>
          <a:lstStyle/>
          <a:p>
            <a:pPr marL="0" marR="0" indent="0" algn="ctr"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Copyright © Infineon Technologies AG 2025. All rights reserved.</a:t>
            </a:r>
            <a:endParaRPr lang="en-US" sz="800" kern="0" baseline="0" noProof="0" dirty="0">
              <a:solidFill>
                <a:schemeClr val="tx1"/>
              </a:solidFill>
              <a:latin typeface="+mn-lt"/>
              <a:ea typeface="+mn-ea"/>
              <a:cs typeface="+mn-cs"/>
            </a:endParaRPr>
          </a:p>
        </p:txBody>
      </p:sp>
      <p:sp>
        <p:nvSpPr>
          <p:cNvPr id="18" name="empower_classification_attention_placeholder" hidden="1">
            <a:extLst>
              <a:ext uri="{FF2B5EF4-FFF2-40B4-BE49-F238E27FC236}">
                <a16:creationId xmlns:a16="http://schemas.microsoft.com/office/drawing/2014/main" id="{8BB80B65-0382-459F-AC7F-F3D707F65045}"/>
              </a:ext>
            </a:extLst>
          </p:cNvPr>
          <p:cNvSpPr txBox="1"/>
          <p:nvPr>
            <p:custDataLst>
              <p:tags r:id="rId6"/>
            </p:custDataLst>
          </p:nvPr>
        </p:nvSpPr>
        <p:spPr bwMode="auto">
          <a:xfrm>
            <a:off x="1238188" y="6489700"/>
            <a:ext cx="971855"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2"/>
                </a:solidFill>
                <a:latin typeface="+mn-lt"/>
                <a:ea typeface="+mn-ea"/>
                <a:cs typeface="+mn-cs"/>
              </a:rPr>
              <a:t>restricted</a:t>
            </a:r>
          </a:p>
        </p:txBody>
      </p:sp>
      <p:sp>
        <p:nvSpPr>
          <p:cNvPr id="20" name="empower_classification_placeholder">
            <a:extLst>
              <a:ext uri="{FF2B5EF4-FFF2-40B4-BE49-F238E27FC236}">
                <a16:creationId xmlns:a16="http://schemas.microsoft.com/office/drawing/2014/main" id="{35CA1B3C-86AD-43CD-94E9-5A2E81B7D24E}"/>
              </a:ext>
            </a:extLst>
          </p:cNvPr>
          <p:cNvSpPr txBox="1">
            <a:spLocks/>
          </p:cNvSpPr>
          <p:nvPr>
            <p:custDataLst>
              <p:tags r:id="rId7"/>
            </p:custDataLst>
          </p:nvPr>
        </p:nvSpPr>
        <p:spPr bwMode="auto">
          <a:xfrm>
            <a:off x="1238188" y="6489700"/>
            <a:ext cx="973251" cy="361100"/>
          </a:xfrm>
          <a:prstGeom prst="rect">
            <a:avLst/>
          </a:prstGeom>
          <a:noFill/>
          <a:ln w="9525">
            <a:noFill/>
            <a:miter lim="800000"/>
            <a:headEnd/>
            <a:tailEnd/>
          </a:ln>
          <a:effectLst/>
        </p:spPr>
        <p:txBody>
          <a:bodyPr wrap="none" lIns="0" tIns="0" rIns="0" bIns="0" rtlCol="0" anchor="ctr" anchorCtr="0">
            <a:noAutofit/>
          </a:bodyPr>
          <a:lstStyle/>
          <a:p>
            <a:pPr marL="0" marR="0" indent="0" algn="l"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b="1" kern="0" baseline="0" noProof="0">
                <a:solidFill>
                  <a:schemeClr val="tx1"/>
                </a:solidFill>
                <a:latin typeface="+mn-lt"/>
                <a:ea typeface="+mn-ea"/>
                <a:cs typeface="+mn-cs"/>
              </a:rPr>
              <a:t>restricted</a:t>
            </a:r>
          </a:p>
        </p:txBody>
      </p:sp>
      <p:sp>
        <p:nvSpPr>
          <p:cNvPr id="22" name="empower_date_placeholder">
            <a:extLst>
              <a:ext uri="{FF2B5EF4-FFF2-40B4-BE49-F238E27FC236}">
                <a16:creationId xmlns:a16="http://schemas.microsoft.com/office/drawing/2014/main" id="{8E11CE1F-6424-469C-8957-85A359561FBF}"/>
              </a:ext>
            </a:extLst>
          </p:cNvPr>
          <p:cNvSpPr txBox="1"/>
          <p:nvPr>
            <p:custDataLst>
              <p:tags r:id="rId8"/>
            </p:custDataLst>
          </p:nvPr>
        </p:nvSpPr>
        <p:spPr bwMode="auto">
          <a:xfrm>
            <a:off x="334963" y="6489700"/>
            <a:ext cx="612000" cy="361100"/>
          </a:xfrm>
          <a:prstGeom prst="rect">
            <a:avLst/>
          </a:prstGeom>
          <a:noFill/>
          <a:ln w="9525">
            <a:noFill/>
            <a:miter lim="800000"/>
            <a:headEnd/>
            <a:tailEnd/>
          </a:ln>
          <a:effectLst/>
        </p:spPr>
        <p:txBody>
          <a:bodyPr wrap="none" lIns="0" tIns="0" rIns="0" bIns="0" rtlCol="0" anchor="ctr" anchorCtr="0">
            <a:noAutofit/>
          </a:bodyPr>
          <a:lstStyle/>
          <a:p>
            <a:pPr marL="0" marR="0" indent="0" defTabSz="914400" eaLnBrk="0" fontAlgn="auto" latinLnBrk="0" hangingPunct="0">
              <a:spcBef>
                <a:spcPts val="0"/>
              </a:spcBef>
              <a:spcAft>
                <a:spcPts val="300"/>
              </a:spcAft>
              <a:buClr>
                <a:schemeClr val="accent1"/>
              </a:buClr>
              <a:buSzTx/>
              <a:buFont typeface="Arial" panose="020B0604020202020204" pitchFamily="34" charset="0"/>
              <a:buNone/>
              <a:tabLst/>
            </a:pPr>
            <a:r>
              <a:rPr lang="en-US" sz="800" kern="0" baseline="0" noProof="0">
                <a:solidFill>
                  <a:schemeClr val="tx1"/>
                </a:solidFill>
                <a:latin typeface="+mn-lt"/>
                <a:ea typeface="+mn-ea"/>
                <a:cs typeface="+mn-cs"/>
              </a:rPr>
              <a:t>2025-09-03</a:t>
            </a:r>
          </a:p>
        </p:txBody>
      </p:sp>
      <p:sp>
        <p:nvSpPr>
          <p:cNvPr id="7" name="Date Placeholder 6" hidden="1">
            <a:extLst>
              <a:ext uri="{FF2B5EF4-FFF2-40B4-BE49-F238E27FC236}">
                <a16:creationId xmlns:a16="http://schemas.microsoft.com/office/drawing/2014/main" id="{106A8C73-A6AF-4DF0-8894-BF2EC7AA230E}"/>
              </a:ext>
            </a:extLst>
          </p:cNvPr>
          <p:cNvSpPr>
            <a:spLocks noGrp="1"/>
          </p:cNvSpPr>
          <p:nvPr>
            <p:ph type="dt" sz="half" idx="10"/>
            <p:custDataLst>
              <p:tags r:id="rId9"/>
            </p:custDataLst>
          </p:nvPr>
        </p:nvSpPr>
        <p:spPr/>
        <p:txBody>
          <a:bodyPr/>
          <a:lstStyle/>
          <a:p>
            <a:r>
              <a:rPr lang="en-US" b="1"/>
              <a:t> </a:t>
            </a:r>
            <a:endParaRPr lang="en-US" b="1" dirty="0"/>
          </a:p>
        </p:txBody>
      </p:sp>
      <p:sp>
        <p:nvSpPr>
          <p:cNvPr id="8" name="Footer Placeholder 7" hidden="1">
            <a:extLst>
              <a:ext uri="{FF2B5EF4-FFF2-40B4-BE49-F238E27FC236}">
                <a16:creationId xmlns:a16="http://schemas.microsoft.com/office/drawing/2014/main" id="{AB7F0ADB-6E9B-485D-93FC-12BF83F0A674}"/>
              </a:ext>
            </a:extLst>
          </p:cNvPr>
          <p:cNvSpPr>
            <a:spLocks noGrp="1"/>
          </p:cNvSpPr>
          <p:nvPr>
            <p:ph type="ftr" sz="quarter" idx="11"/>
            <p:custDataLst>
              <p:tags r:id="rId10"/>
            </p:custDataLst>
          </p:nvPr>
        </p:nvSpPr>
        <p:spPr/>
        <p:txBody>
          <a:bodyPr/>
          <a:lstStyle/>
          <a:p>
            <a:endParaRPr lang="en-US" dirty="0"/>
          </a:p>
        </p:txBody>
      </p:sp>
      <p:sp>
        <p:nvSpPr>
          <p:cNvPr id="9" name="Slide Number Placeholder 8" hidden="1">
            <a:extLst>
              <a:ext uri="{FF2B5EF4-FFF2-40B4-BE49-F238E27FC236}">
                <a16:creationId xmlns:a16="http://schemas.microsoft.com/office/drawing/2014/main" id="{688F703F-EAD1-4063-8445-95277BEEE9A3}"/>
              </a:ext>
            </a:extLst>
          </p:cNvPr>
          <p:cNvSpPr>
            <a:spLocks noGrp="1"/>
          </p:cNvSpPr>
          <p:nvPr>
            <p:ph type="sldNum" sz="quarter" idx="12"/>
            <p:custDataLst>
              <p:tags r:id="rId11"/>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1AE06898-E172-4A77-BE61-DAD235E107B9}"/>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cSld>
  <p:clrMapOvr>
    <a:masterClrMapping/>
  </p:clrMapOvr>
  <p:hf sldNum="0" hdr="0"/>
  <p:extLst>
    <p:ext uri="{DCECCB84-F9BA-43D5-87BE-67443E8EF086}">
      <p15:sldGuideLst xmlns:p15="http://schemas.microsoft.com/office/powerpoint/2012/main">
        <p15:guide id="1" pos="7469" userDrawn="1">
          <p15:clr>
            <a:srgbClr val="FBAE40"/>
          </p15:clr>
        </p15:guide>
        <p15:guide id="2" pos="211" userDrawn="1">
          <p15:clr>
            <a:srgbClr val="FBAE40"/>
          </p15:clr>
        </p15:guide>
        <p15:guide id="3" orient="horz" pos="4020" userDrawn="1">
          <p15:clr>
            <a:srgbClr val="FBAE40"/>
          </p15:clr>
        </p15:guide>
        <p15:guide id="4" orient="horz" pos="799"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Fullpic">
    <p:bg>
      <p:bgPr>
        <a:solidFill>
          <a:schemeClr val="accent2"/>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8C9A3C9F-7C21-45B3-9124-006DC5D0E647}"/>
              </a:ext>
            </a:extLst>
          </p:cNvPr>
          <p:cNvSpPr>
            <a:spLocks noGrp="1"/>
          </p:cNvSpPr>
          <p:nvPr>
            <p:ph type="pic" sz="quarter" idx="12"/>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12281 h 6858000"/>
              <a:gd name="connsiteX3" fmla="*/ 12192000 w 12192000"/>
              <a:gd name="connsiteY3" fmla="*/ 6823094 h 6858000"/>
              <a:gd name="connsiteX4" fmla="*/ 12192000 w 12192000"/>
              <a:gd name="connsiteY4" fmla="*/ 6858000 h 6858000"/>
              <a:gd name="connsiteX5" fmla="*/ 0 w 12192000"/>
              <a:gd name="connsiteY5" fmla="*/ 6858000 h 6858000"/>
              <a:gd name="connsiteX6" fmla="*/ 0 w 12192000"/>
              <a:gd name="connsiteY6" fmla="*/ 6823094 h 6858000"/>
              <a:gd name="connsiteX7" fmla="*/ 0 w 12192000"/>
              <a:gd name="connsiteY7" fmla="*/ 681228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0" y="0"/>
                </a:moveTo>
                <a:lnTo>
                  <a:pt x="12192000" y="0"/>
                </a:lnTo>
                <a:lnTo>
                  <a:pt x="12192000" y="6812281"/>
                </a:lnTo>
                <a:lnTo>
                  <a:pt x="12192000" y="6823094"/>
                </a:lnTo>
                <a:lnTo>
                  <a:pt x="12192000" y="6858000"/>
                </a:lnTo>
                <a:lnTo>
                  <a:pt x="0" y="6858000"/>
                </a:lnTo>
                <a:lnTo>
                  <a:pt x="0" y="6823094"/>
                </a:lnTo>
                <a:lnTo>
                  <a:pt x="0" y="6812281"/>
                </a:lnTo>
                <a:close/>
              </a:path>
            </a:pathLst>
          </a:custGeom>
          <a:solidFill>
            <a:srgbClr val="DCD5D7"/>
          </a:solidFill>
        </p:spPr>
        <p:txBody>
          <a:bodyPr wrap="square" tIns="2880000">
            <a:noAutofit/>
          </a:bodyPr>
          <a:lstStyle>
            <a:lvl1pPr algn="ctr">
              <a:buNone/>
              <a:defRPr baseline="0">
                <a:solidFill>
                  <a:schemeClr val="tx1"/>
                </a:solidFill>
                <a:latin typeface="+mn-lt"/>
                <a:ea typeface="+mn-ea"/>
                <a:cs typeface="+mn-cs"/>
              </a:defRPr>
            </a:lvl1pPr>
          </a:lstStyle>
          <a:p>
            <a:r>
              <a:rPr lang="en-US" noProof="0"/>
              <a:t>Click icon to add picture</a:t>
            </a:r>
            <a:endParaRPr lang="en-US" noProof="0" dirty="0"/>
          </a:p>
        </p:txBody>
      </p:sp>
      <p:sp>
        <p:nvSpPr>
          <p:cNvPr id="3" name="MIO_AGENDA_IGNORE_NAVIGATION" hidden="1">
            <a:extLst>
              <a:ext uri="{FF2B5EF4-FFF2-40B4-BE49-F238E27FC236}">
                <a16:creationId xmlns:a16="http://schemas.microsoft.com/office/drawing/2014/main" id="{298E6853-722D-4D8C-A4A5-A6FCEB4A06C0}"/>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4" name="MIO_AGENDA_IGNORE_CHAPTER_REFERENCE" hidden="1">
            <a:extLst>
              <a:ext uri="{FF2B5EF4-FFF2-40B4-BE49-F238E27FC236}">
                <a16:creationId xmlns:a16="http://schemas.microsoft.com/office/drawing/2014/main" id="{4C952A04-6CCB-455C-887C-1B9A3B0ACD0B}"/>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2" name="Date Placeholder 1" hidden="1">
            <a:extLst>
              <a:ext uri="{FF2B5EF4-FFF2-40B4-BE49-F238E27FC236}">
                <a16:creationId xmlns:a16="http://schemas.microsoft.com/office/drawing/2014/main" id="{E7D6FAC8-11F4-4964-9B25-EE9D1E189D30}"/>
              </a:ext>
            </a:extLst>
          </p:cNvPr>
          <p:cNvSpPr>
            <a:spLocks noGrp="1"/>
          </p:cNvSpPr>
          <p:nvPr>
            <p:ph type="dt" sz="half" idx="13"/>
            <p:custDataLst>
              <p:tags r:id="rId1"/>
            </p:custDataLst>
          </p:nvPr>
        </p:nvSpPr>
        <p:spPr/>
        <p:txBody>
          <a:bodyPr/>
          <a:lstStyle/>
          <a:p>
            <a:r>
              <a:rPr lang="en-US" b="1"/>
              <a:t> </a:t>
            </a:r>
            <a:endParaRPr lang="en-US" b="1" dirty="0"/>
          </a:p>
        </p:txBody>
      </p:sp>
      <p:sp>
        <p:nvSpPr>
          <p:cNvPr id="5" name="Footer Placeholder 4" hidden="1">
            <a:extLst>
              <a:ext uri="{FF2B5EF4-FFF2-40B4-BE49-F238E27FC236}">
                <a16:creationId xmlns:a16="http://schemas.microsoft.com/office/drawing/2014/main" id="{B6B82CD2-EA5C-4D03-98C1-175706CF32FC}"/>
              </a:ext>
            </a:extLst>
          </p:cNvPr>
          <p:cNvSpPr>
            <a:spLocks noGrp="1"/>
          </p:cNvSpPr>
          <p:nvPr>
            <p:ph type="ftr" sz="quarter" idx="14"/>
            <p:custDataLst>
              <p:tags r:id="rId2"/>
            </p:custDataLst>
          </p:nvPr>
        </p:nvSpPr>
        <p:spPr/>
        <p:txBody>
          <a:bodyPr/>
          <a:lstStyle/>
          <a:p>
            <a:endParaRPr lang="en-US" dirty="0"/>
          </a:p>
        </p:txBody>
      </p:sp>
      <p:sp>
        <p:nvSpPr>
          <p:cNvPr id="6" name="Slide Number Placeholder 5" hidden="1">
            <a:extLst>
              <a:ext uri="{FF2B5EF4-FFF2-40B4-BE49-F238E27FC236}">
                <a16:creationId xmlns:a16="http://schemas.microsoft.com/office/drawing/2014/main" id="{6C4E2716-EC8F-40FC-B4F8-3418FB160B39}"/>
              </a:ext>
            </a:extLst>
          </p:cNvPr>
          <p:cNvSpPr>
            <a:spLocks noGrp="1"/>
          </p:cNvSpPr>
          <p:nvPr>
            <p:ph type="sldNum" sz="quarter" idx="15"/>
            <p:custDataLst>
              <p:tags r:id="rId3"/>
            </p:custDataLst>
          </p:nvPr>
        </p:nvSpPr>
        <p:spPr/>
        <p:txBody>
          <a:bodyPr/>
          <a:lstStyle/>
          <a:p>
            <a:r>
              <a:rPr lang="en-US"/>
              <a:t> </a:t>
            </a:r>
            <a:endParaRPr lang="en-US" dirty="0"/>
          </a:p>
        </p:txBody>
      </p:sp>
      <p:sp>
        <p:nvSpPr>
          <p:cNvPr id="7" name="MIO_Placeholder_Mapping" hidden="1">
            <a:extLst>
              <a:ext uri="{FF2B5EF4-FFF2-40B4-BE49-F238E27FC236}">
                <a16:creationId xmlns:a16="http://schemas.microsoft.com/office/drawing/2014/main" id="{162DC542-CA6E-49F2-AE52-133D584ED71B}"/>
              </a:ext>
            </a:extLst>
          </p:cNvPr>
          <p:cNvSpPr/>
          <p:nvPr userDrawn="1"/>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spTree>
    <p:extLst>
      <p:ext uri="{BB962C8B-B14F-4D97-AF65-F5344CB8AC3E}">
        <p14:creationId xmlns:p14="http://schemas.microsoft.com/office/powerpoint/2010/main" val="3943257007"/>
      </p:ext>
    </p:extLst>
  </p:cSld>
  <p:clrMapOvr>
    <a:masterClrMapping/>
  </p:clrMapOvr>
  <p:hf sldNum="0" hdr="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objOnly" preserve="1">
  <p:cSld name="Final">
    <p:spTree>
      <p:nvGrpSpPr>
        <p:cNvPr id="1" name=""/>
        <p:cNvGrpSpPr/>
        <p:nvPr/>
      </p:nvGrpSpPr>
      <p:grpSpPr>
        <a:xfrm>
          <a:off x="0" y="0"/>
          <a:ext cx="0" cy="0"/>
          <a:chOff x="0" y="0"/>
          <a:chExt cx="0" cy="0"/>
        </a:xfrm>
      </p:grpSpPr>
      <p:sp>
        <p:nvSpPr>
          <p:cNvPr id="10" name="Background White">
            <a:extLst>
              <a:ext uri="{FF2B5EF4-FFF2-40B4-BE49-F238E27FC236}">
                <a16:creationId xmlns:a16="http://schemas.microsoft.com/office/drawing/2014/main" id="{8739B1C3-A1A6-48E1-B2C4-F4CE3C824436}"/>
              </a:ext>
            </a:extLst>
          </p:cNvPr>
          <p:cNvSpPr/>
          <p:nvPr/>
        </p:nvSpPr>
        <p:spPr bwMode="auto">
          <a:xfrm>
            <a:off x="0" y="0"/>
            <a:ext cx="12192000" cy="6858000"/>
          </a:xfrm>
          <a:prstGeom prst="rect">
            <a:avLst/>
          </a:prstGeom>
          <a:solidFill>
            <a:schemeClr val="bg1"/>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7" name="LOGO PROTECTION" hidden="1">
            <a:extLst>
              <a:ext uri="{FF2B5EF4-FFF2-40B4-BE49-F238E27FC236}">
                <a16:creationId xmlns:a16="http://schemas.microsoft.com/office/drawing/2014/main" id="{8182E335-5A52-4E3C-BCEC-9507D81BA511}"/>
              </a:ext>
            </a:extLst>
          </p:cNvPr>
          <p:cNvSpPr/>
          <p:nvPr>
            <p:custDataLst>
              <p:tags r:id="rId1"/>
            </p:custDataLst>
          </p:nvPr>
        </p:nvSpPr>
        <p:spPr bwMode="auto">
          <a:xfrm>
            <a:off x="2927650" y="1920766"/>
            <a:ext cx="6336702" cy="3088476"/>
          </a:xfrm>
          <a:prstGeom prst="rect">
            <a:avLst/>
          </a:prstGeom>
          <a:solidFill>
            <a:schemeClr val="accent3">
              <a:alpha val="50000"/>
            </a:schemeClr>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6" name="MIO_AGENDA_LAST_SLIDE" hidden="1">
            <a:extLst>
              <a:ext uri="{FF2B5EF4-FFF2-40B4-BE49-F238E27FC236}">
                <a16:creationId xmlns:a16="http://schemas.microsoft.com/office/drawing/2014/main" id="{45591D6F-6D52-44E5-B3AA-2575CCD4520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2" name="MIO_AGENDA_IGNORE_NAVIGATION" hidden="1">
            <a:extLst>
              <a:ext uri="{FF2B5EF4-FFF2-40B4-BE49-F238E27FC236}">
                <a16:creationId xmlns:a16="http://schemas.microsoft.com/office/drawing/2014/main" id="{C7038F66-C11F-4566-ADAF-A099AF957551}"/>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13" name="MIO_AGENDA_IGNORE_CHAPTER_REFERENCE" hidden="1">
            <a:extLst>
              <a:ext uri="{FF2B5EF4-FFF2-40B4-BE49-F238E27FC236}">
                <a16:creationId xmlns:a16="http://schemas.microsoft.com/office/drawing/2014/main" id="{E0318986-8EA2-446A-AFF2-E8441C3AF8A6}"/>
              </a:ext>
            </a:extLst>
          </p:cNvPr>
          <p:cNvSpPr/>
          <p:nvPr/>
        </p:nvSpPr>
        <p:spPr bwMode="auto">
          <a:xfrm>
            <a:off x="11833096" y="116632"/>
            <a:ext cx="216024" cy="216024"/>
          </a:xfrm>
          <a:prstGeom prst="noSmoking">
            <a:avLst/>
          </a:prstGeom>
          <a:solidFill>
            <a:schemeClr val="accent4"/>
          </a:solidFill>
          <a:ln w="9525">
            <a:noFill/>
            <a:miter lim="800000"/>
            <a:headEnd/>
            <a:tailEnd/>
          </a:ln>
        </p:spPr>
        <p:txBody>
          <a:bodyPr wrap="square" lIns="72000" tIns="72000" rIns="72000" bIns="72000" rtlCol="0" anchor="ctr"/>
          <a:lstStyle/>
          <a:p>
            <a:pPr algn="ctr" eaLnBrk="0" hangingPunct="0"/>
            <a:endParaRPr lang="en-US" sz="1600" baseline="0" noProof="0">
              <a:latin typeface="+mn-lt"/>
              <a:ea typeface="+mn-ea"/>
              <a:cs typeface="+mn-cs"/>
            </a:endParaRPr>
          </a:p>
        </p:txBody>
      </p:sp>
      <p:sp>
        <p:nvSpPr>
          <p:cNvPr id="8" name="Date Placeholder 7" hidden="1">
            <a:extLst>
              <a:ext uri="{FF2B5EF4-FFF2-40B4-BE49-F238E27FC236}">
                <a16:creationId xmlns:a16="http://schemas.microsoft.com/office/drawing/2014/main" id="{087EFA22-3F6E-4210-A8FC-0864CD1DE4EF}"/>
              </a:ext>
            </a:extLst>
          </p:cNvPr>
          <p:cNvSpPr>
            <a:spLocks noGrp="1"/>
          </p:cNvSpPr>
          <p:nvPr>
            <p:ph type="dt" sz="half" idx="10"/>
            <p:custDataLst>
              <p:tags r:id="rId2"/>
            </p:custDataLst>
          </p:nvPr>
        </p:nvSpPr>
        <p:spPr/>
        <p:txBody>
          <a:bodyPr/>
          <a:lstStyle/>
          <a:p>
            <a:r>
              <a:rPr lang="en-US" b="1"/>
              <a:t> </a:t>
            </a:r>
            <a:endParaRPr lang="en-US" b="1" dirty="0"/>
          </a:p>
        </p:txBody>
      </p:sp>
      <p:sp>
        <p:nvSpPr>
          <p:cNvPr id="14" name="Footer Placeholder 13" hidden="1">
            <a:extLst>
              <a:ext uri="{FF2B5EF4-FFF2-40B4-BE49-F238E27FC236}">
                <a16:creationId xmlns:a16="http://schemas.microsoft.com/office/drawing/2014/main" id="{BDF262C8-30D5-474A-BD81-CA14ACCE51B5}"/>
              </a:ext>
            </a:extLst>
          </p:cNvPr>
          <p:cNvSpPr>
            <a:spLocks noGrp="1"/>
          </p:cNvSpPr>
          <p:nvPr>
            <p:ph type="ftr" sz="quarter" idx="11"/>
            <p:custDataLst>
              <p:tags r:id="rId3"/>
            </p:custDataLst>
          </p:nvPr>
        </p:nvSpPr>
        <p:spPr/>
        <p:txBody>
          <a:bodyPr/>
          <a:lstStyle/>
          <a:p>
            <a:endParaRPr lang="en-US" dirty="0"/>
          </a:p>
        </p:txBody>
      </p:sp>
      <p:sp>
        <p:nvSpPr>
          <p:cNvPr id="15" name="Slide Number Placeholder 14" hidden="1">
            <a:extLst>
              <a:ext uri="{FF2B5EF4-FFF2-40B4-BE49-F238E27FC236}">
                <a16:creationId xmlns:a16="http://schemas.microsoft.com/office/drawing/2014/main" id="{3F1C5DF9-A781-4661-8C3B-816A398ADFDD}"/>
              </a:ext>
            </a:extLst>
          </p:cNvPr>
          <p:cNvSpPr>
            <a:spLocks noGrp="1"/>
          </p:cNvSpPr>
          <p:nvPr>
            <p:ph type="sldNum" sz="quarter" idx="12"/>
            <p:custDataLst>
              <p:tags r:id="rId4"/>
            </p:custDataLst>
          </p:nvPr>
        </p:nvSpPr>
        <p:spPr/>
        <p:txBody>
          <a:bodyPr/>
          <a:lstStyle/>
          <a:p>
            <a:r>
              <a:rPr lang="en-US"/>
              <a:t> </a:t>
            </a:r>
            <a:endParaRPr lang="en-US" dirty="0"/>
          </a:p>
        </p:txBody>
      </p:sp>
      <p:sp>
        <p:nvSpPr>
          <p:cNvPr id="2" name="MIO_Placeholder_Mapping" hidden="1">
            <a:extLst>
              <a:ext uri="{FF2B5EF4-FFF2-40B4-BE49-F238E27FC236}">
                <a16:creationId xmlns:a16="http://schemas.microsoft.com/office/drawing/2014/main" id="{77B07280-C452-41A8-A8A7-B816EB9C3C9E}"/>
              </a:ext>
            </a:extLst>
          </p:cNvPr>
          <p:cNvSpPr/>
          <p:nvPr userDrawn="1">
            <p:custDataLst>
              <p:tags r:id="rId5"/>
            </p:custDataLst>
          </p:nvPr>
        </p:nvSpPr>
        <p:spPr bwMode="auto">
          <a:xfrm>
            <a:off x="0" y="0"/>
            <a:ext cx="0" cy="0"/>
          </a:xfrm>
          <a:prstGeom prst="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de-DE" sz="1600" baseline="0" dirty="0">
              <a:solidFill>
                <a:schemeClr val="bg1"/>
              </a:solidFill>
              <a:latin typeface="+mn-lt"/>
              <a:ea typeface="+mn-ea"/>
              <a:cs typeface="+mn-cs"/>
            </a:endParaRPr>
          </a:p>
        </p:txBody>
      </p:sp>
      <p:pic>
        <p:nvPicPr>
          <p:cNvPr id="4" name="LOGO">
            <a:extLst>
              <a:ext uri="{FF2B5EF4-FFF2-40B4-BE49-F238E27FC236}">
                <a16:creationId xmlns:a16="http://schemas.microsoft.com/office/drawing/2014/main" id="{1D664F82-C381-42D9-B168-31F6D4282D28}"/>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566446" y="2755984"/>
            <a:ext cx="3077814" cy="1346031"/>
          </a:xfrm>
          <a:prstGeom prst="rect">
            <a:avLst/>
          </a:prstGeom>
        </p:spPr>
      </p:pic>
    </p:spTree>
    <p:extLst>
      <p:ext uri="{BB962C8B-B14F-4D97-AF65-F5344CB8AC3E}">
        <p14:creationId xmlns:p14="http://schemas.microsoft.com/office/powerpoint/2010/main" val="197727015"/>
      </p:ext>
    </p:extLst>
  </p:cSld>
  <p:clrMapOvr>
    <a:masterClrMapping/>
  </p:clrMapOvr>
  <p:hf sldNum="0" hdr="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blackWhite">
      <p:bgPr>
        <a:solidFill>
          <a:schemeClr val="bg1"/>
        </a:solidFill>
        <a:effectLst/>
      </p:bgPr>
    </p:bg>
    <p:spTree>
      <p:nvGrpSpPr>
        <p:cNvPr id="1" name=""/>
        <p:cNvGrpSpPr/>
        <p:nvPr/>
      </p:nvGrpSpPr>
      <p:grpSpPr>
        <a:xfrm>
          <a:off x="0" y="0"/>
          <a:ext cx="0" cy="0"/>
          <a:chOff x="0" y="0"/>
          <a:chExt cx="0" cy="0"/>
        </a:xfrm>
      </p:grpSpPr>
      <p:sp>
        <p:nvSpPr>
          <p:cNvPr id="5" name="Slide Number Placeholder" hidden="1">
            <a:extLst>
              <a:ext uri="{FF2B5EF4-FFF2-40B4-BE49-F238E27FC236}">
                <a16:creationId xmlns:a16="http://schemas.microsoft.com/office/drawing/2014/main" id="{372AE43B-8F10-43C8-8785-1E1CB85CFADE}"/>
              </a:ext>
            </a:extLst>
          </p:cNvPr>
          <p:cNvSpPr>
            <a:spLocks noGrp="1"/>
          </p:cNvSpPr>
          <p:nvPr>
            <p:ph type="sldNum" sz="quarter" idx="4"/>
            <p:custDataLst>
              <p:tags r:id="rId22"/>
            </p:custDataLst>
          </p:nvPr>
        </p:nvSpPr>
        <p:spPr>
          <a:xfrm>
            <a:off x="12192000" y="6858000"/>
            <a:ext cx="0" cy="0"/>
          </a:xfrm>
          <a:prstGeom prst="rect">
            <a:avLst/>
          </a:prstGeom>
        </p:spPr>
        <p:txBody>
          <a:bodyPr vert="horz" wrap="none" lIns="0" tIns="0" rIns="0" bIns="0" rtlCol="0" anchor="b">
            <a:noAutofit/>
          </a:bodyPr>
          <a:lstStyle>
            <a:lvl1pPr algn="r" fontAlgn="t">
              <a:buClr>
                <a:srgbClr val="928285"/>
              </a:buClr>
              <a:defRPr sz="100" b="0">
                <a:noFill/>
                <a:latin typeface="+mn-lt"/>
                <a:ea typeface="+mn-ea"/>
                <a:cs typeface="+mn-cs"/>
              </a:defRPr>
            </a:lvl1pPr>
          </a:lstStyle>
          <a:p>
            <a:r>
              <a:rPr lang="en-US"/>
              <a:t> </a:t>
            </a:r>
            <a:endParaRPr lang="en-US" dirty="0"/>
          </a:p>
        </p:txBody>
      </p:sp>
      <p:sp>
        <p:nvSpPr>
          <p:cNvPr id="7" name="Footer Placeholder" hidden="1">
            <a:extLst>
              <a:ext uri="{FF2B5EF4-FFF2-40B4-BE49-F238E27FC236}">
                <a16:creationId xmlns:a16="http://schemas.microsoft.com/office/drawing/2014/main" id="{4D268FD3-4056-49DC-8C79-D4C201EED65B}"/>
              </a:ext>
            </a:extLst>
          </p:cNvPr>
          <p:cNvSpPr>
            <a:spLocks noGrp="1"/>
          </p:cNvSpPr>
          <p:nvPr>
            <p:ph type="ftr" sz="quarter" idx="3"/>
            <p:custDataLst>
              <p:tags r:id="rId23"/>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endParaRPr lang="en-US" dirty="0"/>
          </a:p>
        </p:txBody>
      </p:sp>
      <p:sp>
        <p:nvSpPr>
          <p:cNvPr id="6" name="Date Placeholder" hidden="1">
            <a:extLst>
              <a:ext uri="{FF2B5EF4-FFF2-40B4-BE49-F238E27FC236}">
                <a16:creationId xmlns:a16="http://schemas.microsoft.com/office/drawing/2014/main" id="{59032602-9911-40B1-9BF6-AFD731868C06}"/>
              </a:ext>
            </a:extLst>
          </p:cNvPr>
          <p:cNvSpPr>
            <a:spLocks noGrp="1"/>
          </p:cNvSpPr>
          <p:nvPr>
            <p:ph type="dt" sz="half" idx="2"/>
            <p:custDataLst>
              <p:tags r:id="rId24"/>
            </p:custDataLst>
          </p:nvPr>
        </p:nvSpPr>
        <p:spPr>
          <a:xfrm>
            <a:off x="12192000" y="6858000"/>
            <a:ext cx="0" cy="0"/>
          </a:xfrm>
          <a:prstGeom prst="rect">
            <a:avLst/>
          </a:prstGeom>
        </p:spPr>
        <p:txBody>
          <a:bodyPr vert="horz" wrap="none" lIns="0" tIns="0" rIns="0" bIns="0" rtlCol="0" anchor="b">
            <a:noAutofit/>
          </a:bodyPr>
          <a:lstStyle>
            <a:lvl1pPr algn="r" fontAlgn="t">
              <a:buClr>
                <a:schemeClr val="accent2"/>
              </a:buClr>
              <a:defRPr sz="100" b="0">
                <a:noFill/>
                <a:latin typeface="+mn-lt"/>
                <a:ea typeface="+mn-ea"/>
              </a:defRPr>
            </a:lvl1pPr>
          </a:lstStyle>
          <a:p>
            <a:r>
              <a:rPr lang="en-US" b="1"/>
              <a:t> </a:t>
            </a:r>
            <a:endParaRPr lang="en-US" b="1" dirty="0"/>
          </a:p>
        </p:txBody>
      </p:sp>
      <p:sp>
        <p:nvSpPr>
          <p:cNvPr id="15" name="Title"/>
          <p:cNvSpPr>
            <a:spLocks noGrp="1"/>
          </p:cNvSpPr>
          <p:nvPr>
            <p:ph type="title"/>
          </p:nvPr>
        </p:nvSpPr>
        <p:spPr>
          <a:xfrm>
            <a:off x="335360" y="188720"/>
            <a:ext cx="9613068" cy="720000"/>
          </a:xfrm>
          <a:prstGeom prst="rect">
            <a:avLst/>
          </a:prstGeom>
        </p:spPr>
        <p:txBody>
          <a:bodyPr vert="horz" lIns="0" tIns="0" rIns="0" bIns="10800" rtlCol="0" anchor="b" anchorCtr="0">
            <a:noAutofit/>
          </a:bodyPr>
          <a:lstStyle/>
          <a:p>
            <a:r>
              <a:rPr lang="en-US" noProof="0" dirty="0"/>
              <a:t>Click to edit title</a:t>
            </a:r>
          </a:p>
        </p:txBody>
      </p:sp>
      <p:sp>
        <p:nvSpPr>
          <p:cNvPr id="16" name="Content"/>
          <p:cNvSpPr>
            <a:spLocks noGrp="1"/>
          </p:cNvSpPr>
          <p:nvPr>
            <p:ph type="body" idx="1"/>
          </p:nvPr>
        </p:nvSpPr>
        <p:spPr>
          <a:xfrm>
            <a:off x="334434" y="1268414"/>
            <a:ext cx="11521017" cy="5113337"/>
          </a:xfrm>
          <a:prstGeom prst="rect">
            <a:avLst/>
          </a:prstGeom>
        </p:spPr>
        <p:txBody>
          <a:bodyPr vert="horz" lIns="0" tIns="0" rIns="0" bIns="0" rtlCol="0">
            <a:noAutofit/>
          </a:bodyPr>
          <a:lstStyle/>
          <a:p>
            <a:pPr lvl="0"/>
            <a:r>
              <a:rPr lang="en-US" noProof="0" dirty="0"/>
              <a:t>Click to edit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lvl="5"/>
            <a:r>
              <a:rPr lang="en-US" noProof="0" dirty="0"/>
              <a:t>Sixth level</a:t>
            </a:r>
          </a:p>
          <a:p>
            <a:pPr lvl="6"/>
            <a:r>
              <a:rPr lang="en-US" noProof="0" dirty="0"/>
              <a:t>Seventh level</a:t>
            </a:r>
          </a:p>
          <a:p>
            <a:pPr lvl="7"/>
            <a:r>
              <a:rPr lang="en-US" noProof="0" dirty="0"/>
              <a:t>Eighth level</a:t>
            </a:r>
          </a:p>
          <a:p>
            <a:pPr lvl="8"/>
            <a:r>
              <a:rPr lang="en-US" noProof="0" dirty="0"/>
              <a:t>Ninth level</a:t>
            </a:r>
          </a:p>
        </p:txBody>
      </p:sp>
      <p:sp>
        <p:nvSpPr>
          <p:cNvPr id="3" name="empower - DO NOT DELETE!!!" hidden="1"/>
          <p:cNvSpPr/>
          <p:nvPr userDrawn="1">
            <p:custDataLst>
              <p:tags r:id="rId25"/>
            </p:custDataLst>
          </p:nvPr>
        </p:nvSpPr>
        <p:spPr bwMode="auto">
          <a:xfrm>
            <a:off x="0" y="0"/>
            <a:ext cx="0" cy="0"/>
          </a:xfrm>
          <a:prstGeom prst="ellipse">
            <a:avLst/>
          </a:prstGeom>
          <a:solidFill>
            <a:schemeClr val="accent4"/>
          </a:solidFill>
          <a:ln w="9525">
            <a:noFill/>
            <a:miter lim="800000"/>
            <a:headEnd/>
            <a:tailEnd/>
          </a:ln>
        </p:spPr>
        <p:txBody>
          <a:bodyPr wrap="square" lIns="72000" tIns="72000" rIns="72000" bIns="72000" rtlCol="0" anchor="ctr"/>
          <a:lstStyle/>
          <a:p>
            <a:pPr lvl="0" algn="ctr" eaLnBrk="0" hangingPunct="0"/>
            <a:endParaRPr lang="en-US" sz="1600" baseline="0" noProof="0" dirty="0">
              <a:latin typeface="+mn-lt"/>
              <a:ea typeface="+mn-ea"/>
              <a:cs typeface="+mn-cs"/>
            </a:endParaRPr>
          </a:p>
        </p:txBody>
      </p:sp>
      <p:sp>
        <p:nvSpPr>
          <p:cNvPr id="4" name="Fixed Page Placeholder">
            <a:extLst>
              <a:ext uri="{FF2B5EF4-FFF2-40B4-BE49-F238E27FC236}">
                <a16:creationId xmlns:a16="http://schemas.microsoft.com/office/drawing/2014/main" id="{E361B9A9-2219-4F44-982D-701D7F2A6185}"/>
              </a:ext>
            </a:extLst>
          </p:cNvPr>
          <p:cNvSpPr txBox="1"/>
          <p:nvPr userDrawn="1"/>
        </p:nvSpPr>
        <p:spPr bwMode="auto">
          <a:xfrm>
            <a:off x="11471403" y="6489341"/>
            <a:ext cx="384048" cy="361460"/>
          </a:xfrm>
          <a:prstGeom prst="rect">
            <a:avLst/>
          </a:prstGeom>
          <a:noFill/>
          <a:ln w="9525">
            <a:noFill/>
            <a:miter lim="800000"/>
            <a:headEnd/>
            <a:tailEnd/>
          </a:ln>
          <a:effectLst/>
        </p:spPr>
        <p:txBody>
          <a:bodyPr wrap="square" lIns="0" tIns="0" rIns="0" bIns="0" rtlCol="0" anchor="ctr" anchorCtr="0">
            <a:noAutofit/>
          </a:bodyPr>
          <a:lstStyle/>
          <a:p>
            <a:pPr marL="0" marR="0" indent="0" algn="r" defTabSz="576000" eaLnBrk="0" fontAlgn="auto" latinLnBrk="0" hangingPunct="0">
              <a:spcBef>
                <a:spcPts val="0"/>
              </a:spcBef>
              <a:spcAft>
                <a:spcPts val="0"/>
              </a:spcAft>
              <a:buClr>
                <a:schemeClr val="accent1"/>
              </a:buClr>
              <a:buSzTx/>
              <a:buFontTx/>
              <a:buNone/>
              <a:tabLst/>
            </a:pPr>
            <a:fld id="{AE05A9AF-4D70-4052-9354-7E4D957B036D}" type="slidenum">
              <a:rPr lang="en-US" sz="800" b="1" kern="0" baseline="0">
                <a:solidFill>
                  <a:schemeClr val="tx1"/>
                </a:solidFill>
                <a:latin typeface="+mn-lt"/>
                <a:ea typeface="+mn-ea"/>
                <a:cs typeface="+mn-cs"/>
              </a:rPr>
              <a:pPr marL="0" marR="0" indent="0" algn="r" defTabSz="576000" eaLnBrk="0" fontAlgn="auto" latinLnBrk="0" hangingPunct="0">
                <a:spcBef>
                  <a:spcPts val="0"/>
                </a:spcBef>
                <a:spcAft>
                  <a:spcPts val="0"/>
                </a:spcAft>
                <a:buClr>
                  <a:schemeClr val="accent1"/>
                </a:buClr>
                <a:buSzTx/>
                <a:buFontTx/>
                <a:buNone/>
                <a:tabLst/>
              </a:pPr>
              <a:t>‹#›</a:t>
            </a:fld>
            <a:endParaRPr lang="en-US" sz="800" b="1" kern="0" baseline="0" dirty="0">
              <a:solidFill>
                <a:schemeClr val="tx1"/>
              </a:solidFill>
              <a:latin typeface="+mn-lt"/>
              <a:ea typeface="+mn-ea"/>
              <a:cs typeface="+mn-cs"/>
            </a:endParaRPr>
          </a:p>
        </p:txBody>
      </p:sp>
      <p:pic>
        <p:nvPicPr>
          <p:cNvPr id="10" name="LOGO">
            <a:extLst>
              <a:ext uri="{FF2B5EF4-FFF2-40B4-BE49-F238E27FC236}">
                <a16:creationId xmlns:a16="http://schemas.microsoft.com/office/drawing/2014/main" id="{F0C8D1F1-BA28-4973-A394-021D3C969BE1}"/>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10659042" y="193689"/>
            <a:ext cx="1207447" cy="528057"/>
          </a:xfrm>
          <a:prstGeom prst="rect">
            <a:avLst/>
          </a:prstGeom>
        </p:spPr>
      </p:pic>
    </p:spTree>
  </p:cSld>
  <p:clrMap bg1="lt1" tx1="dk1" bg2="lt2" tx2="dk2" accent1="accent1" accent2="accent2" accent3="accent3" accent4="accent4" accent5="accent5" accent6="accent6" hlink="hlink" folHlink="folHlink"/>
  <p:sldLayoutIdLst>
    <p:sldLayoutId id="2147483744" r:id="rId1"/>
    <p:sldLayoutId id="2147483757" r:id="rId2"/>
    <p:sldLayoutId id="2147483755" r:id="rId3"/>
    <p:sldLayoutId id="2147483758" r:id="rId4"/>
    <p:sldLayoutId id="2147483751" r:id="rId5"/>
    <p:sldLayoutId id="2147483729" r:id="rId6"/>
    <p:sldLayoutId id="2147483730" r:id="rId7"/>
    <p:sldLayoutId id="2147483731" r:id="rId8"/>
    <p:sldLayoutId id="2147483747" r:id="rId9"/>
    <p:sldLayoutId id="2147483756"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54" r:id="rId19"/>
    <p:sldLayoutId id="2147483753" r:id="rId20"/>
  </p:sldLayoutIdLst>
  <p:hf sldNum="0" hdr="0"/>
  <p:txStyles>
    <p:titleStyle>
      <a:lvl1pPr algn="l" defTabSz="576000" rtl="0" eaLnBrk="1" fontAlgn="base" hangingPunct="1">
        <a:spcBef>
          <a:spcPct val="0"/>
        </a:spcBef>
        <a:spcAft>
          <a:spcPct val="0"/>
        </a:spcAft>
        <a:buClr>
          <a:schemeClr val="tx1"/>
        </a:buClr>
        <a:buFontTx/>
        <a:buNone/>
        <a:defRPr sz="2400" b="1" baseline="0">
          <a:solidFill>
            <a:schemeClr val="tx2"/>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p:titleStyle>
    <p:body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p:bodyStyle>
    <p:otherStyle>
      <a:defPPr>
        <a:defRPr lang="de-DE"/>
      </a:defPPr>
      <a:lvl1pPr marL="0" algn="l" defTabSz="1219170" rtl="0" eaLnBrk="1" latinLnBrk="0" hangingPunct="1">
        <a:defRPr sz="1800" kern="1200">
          <a:solidFill>
            <a:schemeClr val="tx1"/>
          </a:solidFill>
          <a:latin typeface="+mn-lt"/>
          <a:ea typeface="+mn-ea"/>
          <a:cs typeface="+mn-cs"/>
        </a:defRPr>
      </a:lvl1pPr>
      <a:lvl2pPr marL="609585" algn="l" defTabSz="1219170" rtl="0" eaLnBrk="1" latinLnBrk="0" hangingPunct="1">
        <a:defRPr sz="1800" kern="1200">
          <a:solidFill>
            <a:schemeClr val="tx1"/>
          </a:solidFill>
          <a:latin typeface="+mn-lt"/>
          <a:ea typeface="+mn-ea"/>
          <a:cs typeface="+mn-cs"/>
        </a:defRPr>
      </a:lvl2pPr>
      <a:lvl3pPr marL="1219170" algn="l" defTabSz="1219170" rtl="0" eaLnBrk="1" latinLnBrk="0" hangingPunct="1">
        <a:defRPr sz="1800" kern="1200">
          <a:solidFill>
            <a:schemeClr val="tx1"/>
          </a:solidFill>
          <a:latin typeface="+mn-lt"/>
          <a:ea typeface="+mn-ea"/>
          <a:cs typeface="+mn-cs"/>
        </a:defRPr>
      </a:lvl3pPr>
      <a:lvl4pPr marL="1828754" algn="l" defTabSz="1219170" rtl="0" eaLnBrk="1" latinLnBrk="0" hangingPunct="1">
        <a:defRPr sz="1800" kern="1200">
          <a:solidFill>
            <a:schemeClr val="tx1"/>
          </a:solidFill>
          <a:latin typeface="+mn-lt"/>
          <a:ea typeface="+mn-ea"/>
          <a:cs typeface="+mn-cs"/>
        </a:defRPr>
      </a:lvl4pPr>
      <a:lvl5pPr marL="2438339" algn="l" defTabSz="1219170" rtl="0" eaLnBrk="1" latinLnBrk="0" hangingPunct="1">
        <a:defRPr sz="1800" kern="1200">
          <a:solidFill>
            <a:schemeClr val="tx1"/>
          </a:solidFill>
          <a:latin typeface="+mn-lt"/>
          <a:ea typeface="+mn-ea"/>
          <a:cs typeface="+mn-cs"/>
        </a:defRPr>
      </a:lvl5pPr>
      <a:lvl6pPr marL="3047924" algn="l" defTabSz="1219170" rtl="0" eaLnBrk="1" latinLnBrk="0" hangingPunct="1">
        <a:defRPr sz="1800" kern="1200">
          <a:solidFill>
            <a:schemeClr val="tx1"/>
          </a:solidFill>
          <a:latin typeface="+mn-lt"/>
          <a:ea typeface="+mn-ea"/>
          <a:cs typeface="+mn-cs"/>
        </a:defRPr>
      </a:lvl6pPr>
      <a:lvl7pPr marL="3657509" algn="l" defTabSz="1219170" rtl="0" eaLnBrk="1" latinLnBrk="0" hangingPunct="1">
        <a:defRPr sz="1800" kern="1200">
          <a:solidFill>
            <a:schemeClr val="tx1"/>
          </a:solidFill>
          <a:latin typeface="+mn-lt"/>
          <a:ea typeface="+mn-ea"/>
          <a:cs typeface="+mn-cs"/>
        </a:defRPr>
      </a:lvl7pPr>
      <a:lvl8pPr marL="4267093" algn="l" defTabSz="1219170" rtl="0" eaLnBrk="1" latinLnBrk="0" hangingPunct="1">
        <a:defRPr sz="1800" kern="1200">
          <a:solidFill>
            <a:schemeClr val="tx1"/>
          </a:solidFill>
          <a:latin typeface="+mn-lt"/>
          <a:ea typeface="+mn-ea"/>
          <a:cs typeface="+mn-cs"/>
        </a:defRPr>
      </a:lvl8pPr>
      <a:lvl9pPr marL="4876678" algn="l" defTabSz="121917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slide" Target="slide35.xml"/><Relationship Id="rId3" Type="http://schemas.openxmlformats.org/officeDocument/2006/relationships/tags" Target="../tags/tag217.xml"/><Relationship Id="rId7" Type="http://schemas.openxmlformats.org/officeDocument/2006/relationships/tags" Target="../tags/tag221.xml"/><Relationship Id="rId12" Type="http://schemas.openxmlformats.org/officeDocument/2006/relationships/slide" Target="slide27.xml"/><Relationship Id="rId2" Type="http://schemas.openxmlformats.org/officeDocument/2006/relationships/tags" Target="../tags/tag216.xml"/><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slide" Target="slide2.xml"/><Relationship Id="rId5" Type="http://schemas.openxmlformats.org/officeDocument/2006/relationships/tags" Target="../tags/tag219.xml"/><Relationship Id="rId10" Type="http://schemas.openxmlformats.org/officeDocument/2006/relationships/notesSlide" Target="../notesSlides/notesSlide2.xml"/><Relationship Id="rId4" Type="http://schemas.openxmlformats.org/officeDocument/2006/relationships/tags" Target="../tags/tag218.xml"/><Relationship Id="rId9"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3.jpg"/><Relationship Id="rId7"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jpg"/></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18" Type="http://schemas.openxmlformats.org/officeDocument/2006/relationships/image" Target="../media/image33.png"/><Relationship Id="rId3" Type="http://schemas.openxmlformats.org/officeDocument/2006/relationships/hyperlink" Target="https://www.zephyrproject.org/products-running-zephyr/" TargetMode="External"/><Relationship Id="rId21" Type="http://schemas.openxmlformats.org/officeDocument/2006/relationships/image" Target="../media/image36.png"/><Relationship Id="rId7" Type="http://schemas.openxmlformats.org/officeDocument/2006/relationships/image" Target="../media/image22.png"/><Relationship Id="rId12" Type="http://schemas.openxmlformats.org/officeDocument/2006/relationships/image" Target="../media/image27.png"/><Relationship Id="rId17" Type="http://schemas.openxmlformats.org/officeDocument/2006/relationships/image" Target="../media/image32.png"/><Relationship Id="rId2" Type="http://schemas.openxmlformats.org/officeDocument/2006/relationships/notesSlide" Target="../notesSlides/notesSlide5.xml"/><Relationship Id="rId16" Type="http://schemas.openxmlformats.org/officeDocument/2006/relationships/image" Target="../media/image31.png"/><Relationship Id="rId20" Type="http://schemas.openxmlformats.org/officeDocument/2006/relationships/image" Target="../media/image35.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19" Type="http://schemas.openxmlformats.org/officeDocument/2006/relationships/image" Target="../media/image34.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 Id="rId22" Type="http://schemas.openxmlformats.org/officeDocument/2006/relationships/image" Target="../media/image37.png"/></Relationships>
</file>

<file path=ppt/slides/_rels/slide10.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hyperlink" Target="https://docs.zephyrproject.org/latest/boards" TargetMode="External"/><Relationship Id="rId21" Type="http://schemas.openxmlformats.org/officeDocument/2006/relationships/image" Target="../media/image54.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notesSlide" Target="../notesSlides/notesSlide6.xml"/><Relationship Id="rId16" Type="http://schemas.openxmlformats.org/officeDocument/2006/relationships/image" Target="../media/image49.png"/><Relationship Id="rId20" Type="http://schemas.openxmlformats.org/officeDocument/2006/relationships/image" Target="../media/image53.png"/><Relationship Id="rId1" Type="http://schemas.openxmlformats.org/officeDocument/2006/relationships/slideLayout" Target="../slideLayouts/slideLayout6.xml"/><Relationship Id="rId6" Type="http://schemas.openxmlformats.org/officeDocument/2006/relationships/image" Target="../media/image39.jp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19" Type="http://schemas.openxmlformats.org/officeDocument/2006/relationships/image" Target="../media/image52.png"/><Relationship Id="rId4" Type="http://schemas.openxmlformats.org/officeDocument/2006/relationships/image" Target="../media/image19.png"/><Relationship Id="rId9" Type="http://schemas.openxmlformats.org/officeDocument/2006/relationships/image" Target="../media/image42.png"/><Relationship Id="rId14" Type="http://schemas.openxmlformats.org/officeDocument/2006/relationships/image" Target="../media/image47.png"/><Relationship Id="rId22" Type="http://schemas.openxmlformats.org/officeDocument/2006/relationships/image" Target="../media/image55.png"/></Relationships>
</file>

<file path=ppt/slides/_rels/slide1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hyperlink" Target="https://github.com/zephyrproject-rtos/zephyr/tree/main/drivers/sensor" TargetMode="External"/><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19.png"/><Relationship Id="rId9" Type="http://schemas.openxmlformats.org/officeDocument/2006/relationships/image" Target="../media/image6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_rels/slide1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7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81.png"/></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zephyrproject-rtos"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image" Target="../media/image82.png"/></Relationships>
</file>

<file path=ppt/slides/_rels/slide2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chart" Target="../charts/chart5.xml"/><Relationship Id="rId4" Type="http://schemas.openxmlformats.org/officeDocument/2006/relationships/chart" Target="../charts/chart4.xml"/></Relationships>
</file>

<file path=ppt/slides/_rels/slide27.xml.rels><?xml version="1.0" encoding="UTF-8" standalone="yes"?>
<Relationships xmlns="http://schemas.openxmlformats.org/package/2006/relationships"><Relationship Id="rId8" Type="http://schemas.openxmlformats.org/officeDocument/2006/relationships/tags" Target="../tags/tag230.xml"/><Relationship Id="rId13" Type="http://schemas.openxmlformats.org/officeDocument/2006/relationships/slide" Target="slide35.xml"/><Relationship Id="rId3" Type="http://schemas.openxmlformats.org/officeDocument/2006/relationships/tags" Target="../tags/tag225.xml"/><Relationship Id="rId7" Type="http://schemas.openxmlformats.org/officeDocument/2006/relationships/tags" Target="../tags/tag229.xml"/><Relationship Id="rId12" Type="http://schemas.openxmlformats.org/officeDocument/2006/relationships/slide" Target="slide27.xml"/><Relationship Id="rId2" Type="http://schemas.openxmlformats.org/officeDocument/2006/relationships/tags" Target="../tags/tag224.xml"/><Relationship Id="rId1" Type="http://schemas.openxmlformats.org/officeDocument/2006/relationships/tags" Target="../tags/tag223.xml"/><Relationship Id="rId6" Type="http://schemas.openxmlformats.org/officeDocument/2006/relationships/tags" Target="../tags/tag228.xml"/><Relationship Id="rId11" Type="http://schemas.openxmlformats.org/officeDocument/2006/relationships/slide" Target="slide2.xml"/><Relationship Id="rId5" Type="http://schemas.openxmlformats.org/officeDocument/2006/relationships/tags" Target="../tags/tag227.xml"/><Relationship Id="rId10" Type="http://schemas.openxmlformats.org/officeDocument/2006/relationships/notesSlide" Target="../notesSlides/notesSlide21.xml"/><Relationship Id="rId4" Type="http://schemas.openxmlformats.org/officeDocument/2006/relationships/tags" Target="../tags/tag226.xml"/><Relationship Id="rId9"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29.xml.rels><?xml version="1.0" encoding="UTF-8" standalone="yes"?>
<Relationships xmlns="http://schemas.openxmlformats.org/package/2006/relationships"><Relationship Id="rId3" Type="http://schemas.openxmlformats.org/officeDocument/2006/relationships/image" Target="../media/image91.jpeg"/><Relationship Id="rId7" Type="http://schemas.openxmlformats.org/officeDocument/2006/relationships/image" Target="../media/image92.png"/><Relationship Id="rId2" Type="http://schemas.openxmlformats.org/officeDocument/2006/relationships/image" Target="../media/image90.jpeg"/><Relationship Id="rId1" Type="http://schemas.openxmlformats.org/officeDocument/2006/relationships/slideLayout" Target="../slideLayouts/slideLayout6.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0.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3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8" Type="http://schemas.openxmlformats.org/officeDocument/2006/relationships/tags" Target="../tags/tag238.xml"/><Relationship Id="rId13" Type="http://schemas.openxmlformats.org/officeDocument/2006/relationships/slide" Target="slide35.xml"/><Relationship Id="rId3" Type="http://schemas.openxmlformats.org/officeDocument/2006/relationships/tags" Target="../tags/tag233.xml"/><Relationship Id="rId7" Type="http://schemas.openxmlformats.org/officeDocument/2006/relationships/tags" Target="../tags/tag237.xml"/><Relationship Id="rId12" Type="http://schemas.openxmlformats.org/officeDocument/2006/relationships/slide" Target="slide27.xml"/><Relationship Id="rId2" Type="http://schemas.openxmlformats.org/officeDocument/2006/relationships/tags" Target="../tags/tag232.xml"/><Relationship Id="rId1" Type="http://schemas.openxmlformats.org/officeDocument/2006/relationships/tags" Target="../tags/tag231.xml"/><Relationship Id="rId6" Type="http://schemas.openxmlformats.org/officeDocument/2006/relationships/tags" Target="../tags/tag236.xml"/><Relationship Id="rId11" Type="http://schemas.openxmlformats.org/officeDocument/2006/relationships/slide" Target="slide2.xml"/><Relationship Id="rId5" Type="http://schemas.openxmlformats.org/officeDocument/2006/relationships/tags" Target="../tags/tag235.xml"/><Relationship Id="rId10" Type="http://schemas.openxmlformats.org/officeDocument/2006/relationships/notesSlide" Target="../notesSlides/notesSlide24.xml"/><Relationship Id="rId4" Type="http://schemas.openxmlformats.org/officeDocument/2006/relationships/tags" Target="../tags/tag234.xml"/><Relationship Id="rId9"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8" Type="http://schemas.openxmlformats.org/officeDocument/2006/relationships/hyperlink" Target="https://www.infineon.com/cms/en/design-support/software/zephyr/?redirId=273217" TargetMode="External"/><Relationship Id="rId3" Type="http://schemas.openxmlformats.org/officeDocument/2006/relationships/hyperlink" Target="https://discord.com/channels/720317445772017664/931248264018296863" TargetMode="External"/><Relationship Id="rId7" Type="http://schemas.openxmlformats.org/officeDocument/2006/relationships/image" Target="../media/image102.png"/><Relationship Id="rId2" Type="http://schemas.openxmlformats.org/officeDocument/2006/relationships/notesSlide" Target="../notesSlides/notesSlide34.xml"/><Relationship Id="rId1" Type="http://schemas.openxmlformats.org/officeDocument/2006/relationships/slideLayout" Target="../slideLayouts/slideLayout6.xml"/><Relationship Id="rId6" Type="http://schemas.openxmlformats.org/officeDocument/2006/relationships/hyperlink" Target="https://github.com/zephyrproject-rtos" TargetMode="External"/><Relationship Id="rId11" Type="http://schemas.openxmlformats.org/officeDocument/2006/relationships/hyperlink" Target="https://youtu.be/T_6e2Qt8YUw" TargetMode="External"/><Relationship Id="rId5" Type="http://schemas.openxmlformats.org/officeDocument/2006/relationships/image" Target="../media/image101.png"/><Relationship Id="rId10" Type="http://schemas.openxmlformats.org/officeDocument/2006/relationships/image" Target="../media/image104.png"/><Relationship Id="rId4" Type="http://schemas.openxmlformats.org/officeDocument/2006/relationships/image" Target="../media/image100.png"/><Relationship Id="rId9" Type="http://schemas.openxmlformats.org/officeDocument/2006/relationships/image" Target="../media/image10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BD798BF3-9FA4-4548-81F2-B6E6CC99B457}"/>
              </a:ext>
            </a:extLst>
          </p:cNvPr>
          <p:cNvSpPr>
            <a:spLocks noGrp="1"/>
          </p:cNvSpPr>
          <p:nvPr>
            <p:ph type="pic" sz="quarter" idx="15"/>
          </p:nvPr>
        </p:nvSpPr>
        <p:spPr/>
        <p:txBody>
          <a:bodyPr/>
          <a:lstStyle/>
          <a:p>
            <a:endParaRPr lang="en-US"/>
          </a:p>
        </p:txBody>
      </p:sp>
      <p:sp>
        <p:nvSpPr>
          <p:cNvPr id="11" name="Subtitle 10">
            <a:extLst>
              <a:ext uri="{FF2B5EF4-FFF2-40B4-BE49-F238E27FC236}">
                <a16:creationId xmlns:a16="http://schemas.microsoft.com/office/drawing/2014/main" id="{F2BD278F-B47A-4B82-B85E-CEFAD1AB9DEB}"/>
              </a:ext>
            </a:extLst>
          </p:cNvPr>
          <p:cNvSpPr>
            <a:spLocks noGrp="1"/>
          </p:cNvSpPr>
          <p:nvPr>
            <p:ph type="subTitle" idx="1"/>
          </p:nvPr>
        </p:nvSpPr>
        <p:spPr/>
        <p:txBody>
          <a:bodyPr/>
          <a:lstStyle/>
          <a:p>
            <a:r>
              <a:rPr lang="en-US" dirty="0"/>
              <a:t>Clark Jarvis (MCU Software and Tools Product Marketer)</a:t>
            </a:r>
          </a:p>
          <a:p>
            <a:r>
              <a:rPr lang="en-US" dirty="0"/>
              <a:t>October 2026</a:t>
            </a:r>
          </a:p>
        </p:txBody>
      </p:sp>
      <p:sp>
        <p:nvSpPr>
          <p:cNvPr id="10" name="Title 9">
            <a:extLst>
              <a:ext uri="{FF2B5EF4-FFF2-40B4-BE49-F238E27FC236}">
                <a16:creationId xmlns:a16="http://schemas.microsoft.com/office/drawing/2014/main" id="{EE5783C9-99EF-42BD-B0B5-BCBAA19E0C9E}"/>
              </a:ext>
            </a:extLst>
          </p:cNvPr>
          <p:cNvSpPr>
            <a:spLocks noGrp="1"/>
          </p:cNvSpPr>
          <p:nvPr>
            <p:ph type="ctrTitle"/>
          </p:nvPr>
        </p:nvSpPr>
        <p:spPr>
          <a:xfrm>
            <a:off x="624000" y="4163051"/>
            <a:ext cx="11339400" cy="1118901"/>
          </a:xfrm>
        </p:spPr>
        <p:txBody>
          <a:bodyPr>
            <a:normAutofit fontScale="90000"/>
          </a:bodyPr>
          <a:lstStyle/>
          <a:p>
            <a:r>
              <a:rPr lang="en-US" dirty="0">
                <a:solidFill>
                  <a:schemeClr val="tx1"/>
                </a:solidFill>
              </a:rPr>
              <a:t>Zephyr OS</a:t>
            </a:r>
            <a:br>
              <a:rPr lang="en-US" dirty="0">
                <a:solidFill>
                  <a:schemeClr val="tx1"/>
                </a:solidFill>
              </a:rPr>
            </a:br>
            <a:r>
              <a:rPr lang="en-US" sz="2700" dirty="0"/>
              <a:t>An open-source RTOS ecosystem for secure, connected IoT solutions</a:t>
            </a:r>
            <a:endParaRPr lang="de-DE" dirty="0"/>
          </a:p>
        </p:txBody>
      </p:sp>
      <p:sp>
        <p:nvSpPr>
          <p:cNvPr id="3" name="Footer Placeholder 2">
            <a:extLst>
              <a:ext uri="{FF2B5EF4-FFF2-40B4-BE49-F238E27FC236}">
                <a16:creationId xmlns:a16="http://schemas.microsoft.com/office/drawing/2014/main" id="{B3AC7CF2-8F1C-1B92-03BC-A0C64AE6A95C}"/>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758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BB9E46D-3CC9-56C6-643E-CED9BF6C2909}"/>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260DCEB8-0248-CFDC-C88B-F854B702E52A}"/>
              </a:ext>
            </a:extLst>
          </p:cNvPr>
          <p:cNvSpPr>
            <a:spLocks noGrp="1"/>
          </p:cNvSpPr>
          <p:nvPr>
            <p:ph type="ftr" sz="quarter" idx="11"/>
          </p:nvPr>
        </p:nvSpPr>
        <p:spPr/>
        <p:txBody>
          <a:bodyPr/>
          <a:lstStyle/>
          <a:p>
            <a:endParaRPr lang="en-US" dirty="0"/>
          </a:p>
        </p:txBody>
      </p:sp>
      <p:grpSp>
        <p:nvGrpSpPr>
          <p:cNvPr id="11" name="Group 10">
            <a:extLst>
              <a:ext uri="{FF2B5EF4-FFF2-40B4-BE49-F238E27FC236}">
                <a16:creationId xmlns:a16="http://schemas.microsoft.com/office/drawing/2014/main" id="{40805DF6-4B4A-8EFD-A124-053F62C85EC5}"/>
              </a:ext>
            </a:extLst>
          </p:cNvPr>
          <p:cNvGrpSpPr/>
          <p:nvPr>
            <p:custDataLst>
              <p:tags r:id="rId1"/>
            </p:custDataLst>
          </p:nvPr>
        </p:nvGrpSpPr>
        <p:grpSpPr>
          <a:xfrm>
            <a:off x="334434" y="1268413"/>
            <a:ext cx="10692231" cy="1655999"/>
            <a:chOff x="334434" y="1268413"/>
            <a:chExt cx="10692231" cy="1655999"/>
          </a:xfrm>
        </p:grpSpPr>
        <p:sp>
          <p:nvSpPr>
            <p:cNvPr id="5" name="MIO_AGENDA_ELEMENT_TITEL_1">
              <a:hlinkClick r:id="rId11" action="ppaction://hlinksldjump"/>
              <a:extLst>
                <a:ext uri="{FF2B5EF4-FFF2-40B4-BE49-F238E27FC236}">
                  <a16:creationId xmlns:a16="http://schemas.microsoft.com/office/drawing/2014/main" id="{771BE889-183E-881C-D937-43662A943B45}"/>
                </a:ext>
              </a:extLst>
            </p:cNvPr>
            <p:cNvSpPr>
              <a:spLocks/>
            </p:cNvSpPr>
            <p:nvPr>
              <p:custDataLst>
                <p:tags r:id="rId3"/>
              </p:custDataLst>
            </p:nvPr>
          </p:nvSpPr>
          <p:spPr>
            <a:xfrm>
              <a:off x="1235075" y="1268413"/>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Zephyr Project Introduction ( Overview | Ecosystem | Dev Community )</a:t>
              </a:r>
              <a:endParaRPr lang="de-DE" sz="1800" b="1" dirty="0">
                <a:solidFill>
                  <a:schemeClr val="tx2"/>
                </a:solidFill>
                <a:latin typeface="+mn-lt"/>
              </a:endParaRPr>
            </a:p>
          </p:txBody>
        </p:sp>
        <p:sp>
          <p:nvSpPr>
            <p:cNvPr id="6" name="MIO_AGENDA_ELEMENT_ELEMENTNUMBER_1">
              <a:hlinkClick r:id="rId11" action="ppaction://hlinksldjump"/>
              <a:extLst>
                <a:ext uri="{FF2B5EF4-FFF2-40B4-BE49-F238E27FC236}">
                  <a16:creationId xmlns:a16="http://schemas.microsoft.com/office/drawing/2014/main" id="{E7F85D51-9054-9B0A-5370-DFA497AC9583}"/>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TITEL_2">
              <a:hlinkClick r:id="rId12" action="ppaction://hlinksldjump"/>
              <a:extLst>
                <a:ext uri="{FF2B5EF4-FFF2-40B4-BE49-F238E27FC236}">
                  <a16:creationId xmlns:a16="http://schemas.microsoft.com/office/drawing/2014/main" id="{E14E84EB-0626-2554-65D5-AE7C20A475A2}"/>
                </a:ext>
              </a:extLst>
            </p:cNvPr>
            <p:cNvSpPr>
              <a:spLocks/>
            </p:cNvSpPr>
            <p:nvPr>
              <p:custDataLst>
                <p:tags r:id="rId5"/>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Infineon's involvement within Zephyr ( Platinum Membership | TSC )</a:t>
              </a:r>
              <a:endParaRPr lang="de-DE" sz="1800" dirty="0">
                <a:latin typeface="+mn-lt"/>
              </a:endParaRPr>
            </a:p>
          </p:txBody>
        </p:sp>
        <p:sp>
          <p:nvSpPr>
            <p:cNvPr id="8" name="MIO_AGENDA_ELEMENT_ELEMENTNUMBER_2">
              <a:hlinkClick r:id="rId12" action="ppaction://hlinksldjump"/>
              <a:extLst>
                <a:ext uri="{FF2B5EF4-FFF2-40B4-BE49-F238E27FC236}">
                  <a16:creationId xmlns:a16="http://schemas.microsoft.com/office/drawing/2014/main" id="{7CAD1EC4-C823-1A2A-8FD3-1B18858E980A}"/>
                </a:ext>
              </a:extLst>
            </p:cNvPr>
            <p:cNvSpPr>
              <a:spLocks noChangeAspect="1"/>
            </p:cNvSpPr>
            <p:nvPr>
              <p:custDataLst>
                <p:tags r:id="rId6"/>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9" name="MIO_AGENDA_ELEMENT_TITEL_3">
              <a:hlinkClick r:id="rId13" action="ppaction://hlinksldjump"/>
              <a:extLst>
                <a:ext uri="{FF2B5EF4-FFF2-40B4-BE49-F238E27FC236}">
                  <a16:creationId xmlns:a16="http://schemas.microsoft.com/office/drawing/2014/main" id="{CACBF3F9-4092-D660-75A5-6EC7DDADF625}"/>
                </a:ext>
              </a:extLst>
            </p:cNvPr>
            <p:cNvSpPr>
              <a:spLocks/>
            </p:cNvSpPr>
            <p:nvPr>
              <p:custDataLst>
                <p:tags r:id="rId7"/>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Getting started with Zephyr ( Development Board Support )</a:t>
              </a:r>
              <a:endParaRPr lang="de-DE" sz="1800" dirty="0">
                <a:latin typeface="+mn-lt"/>
              </a:endParaRPr>
            </a:p>
          </p:txBody>
        </p:sp>
        <p:sp>
          <p:nvSpPr>
            <p:cNvPr id="10" name="MIO_AGENDA_ELEMENT_ELEMENTNUMBER_3">
              <a:hlinkClick r:id="rId13" action="ppaction://hlinksldjump"/>
              <a:extLst>
                <a:ext uri="{FF2B5EF4-FFF2-40B4-BE49-F238E27FC236}">
                  <a16:creationId xmlns:a16="http://schemas.microsoft.com/office/drawing/2014/main" id="{62F5F864-F7FE-AA08-DC44-F9103D14CEAF}"/>
                </a:ext>
              </a:extLst>
            </p:cNvPr>
            <p:cNvSpPr>
              <a:spLocks noChangeAspect="1"/>
            </p:cNvSpPr>
            <p:nvPr>
              <p:custDataLst>
                <p:tags r:id="rId8"/>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grpSp>
      <p:sp>
        <p:nvSpPr>
          <p:cNvPr id="2" name="Title 1">
            <a:extLst>
              <a:ext uri="{FF2B5EF4-FFF2-40B4-BE49-F238E27FC236}">
                <a16:creationId xmlns:a16="http://schemas.microsoft.com/office/drawing/2014/main" id="{5BCDF1A3-FC22-6CB9-E53A-ED42794A54FB}"/>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2391623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Zephyr needs eight command-line tools on Windows - a prework script installs all of them</a:t>
            </a:r>
          </a:p>
          <a:p>
            <a:pPr lvl="1"/>
            <a:r>
              <a:rPr b="1" dirty="0" err="1">
                <a:solidFill>
                  <a:schemeClr val="tx2"/>
                </a:solidFill>
              </a:rPr>
              <a:t>cmake</a:t>
            </a:r>
            <a:r>
              <a:rPr b="1" dirty="0">
                <a:solidFill>
                  <a:schemeClr val="tx2"/>
                </a:solidFill>
              </a:rPr>
              <a:t>, ninja, python, git, </a:t>
            </a:r>
            <a:r>
              <a:rPr b="1" dirty="0" err="1">
                <a:solidFill>
                  <a:schemeClr val="tx2"/>
                </a:solidFill>
              </a:rPr>
              <a:t>wget</a:t>
            </a:r>
            <a:r>
              <a:rPr b="1" dirty="0">
                <a:solidFill>
                  <a:schemeClr val="tx2"/>
                </a:solidFill>
              </a:rPr>
              <a:t>, 7z, </a:t>
            </a:r>
            <a:r>
              <a:rPr b="1" dirty="0" err="1">
                <a:solidFill>
                  <a:schemeClr val="tx2"/>
                </a:solidFill>
              </a:rPr>
              <a:t>gperf</a:t>
            </a:r>
            <a:r>
              <a:rPr b="1" dirty="0">
                <a:solidFill>
                  <a:schemeClr val="tx2"/>
                </a:solidFill>
              </a:rPr>
              <a:t>, </a:t>
            </a:r>
            <a:r>
              <a:rPr b="1" dirty="0" err="1">
                <a:solidFill>
                  <a:schemeClr val="tx2"/>
                </a:solidFill>
              </a:rPr>
              <a:t>dtc</a:t>
            </a:r>
            <a:br>
              <a:rPr lang="en-US" dirty="0"/>
            </a:br>
            <a:endParaRPr dirty="0"/>
          </a:p>
          <a:p>
            <a:r>
              <a:rPr dirty="0"/>
              <a:t>Run from a regular, non-admin PowerShell window:</a:t>
            </a:r>
          </a:p>
          <a:p>
            <a:pPr lvl="1"/>
            <a:r>
              <a:rPr b="1" dirty="0" err="1">
                <a:solidFill>
                  <a:schemeClr val="tx2"/>
                </a:solidFill>
              </a:rPr>
              <a:t>powershell</a:t>
            </a:r>
            <a:r>
              <a:rPr b="1" dirty="0">
                <a:solidFill>
                  <a:schemeClr val="tx2"/>
                </a:solidFill>
              </a:rPr>
              <a:t> -</a:t>
            </a:r>
            <a:r>
              <a:rPr b="1" dirty="0" err="1">
                <a:solidFill>
                  <a:schemeClr val="tx2"/>
                </a:solidFill>
              </a:rPr>
              <a:t>ExecutionPolicy</a:t>
            </a:r>
            <a:r>
              <a:rPr b="1" dirty="0">
                <a:solidFill>
                  <a:schemeClr val="tx2"/>
                </a:solidFill>
              </a:rPr>
              <a:t> Bypass -File .\setup-zephyr-windows-deps.ps1</a:t>
            </a:r>
            <a:br>
              <a:rPr lang="en-US" b="1" dirty="0">
                <a:solidFill>
                  <a:schemeClr val="tx2"/>
                </a:solidFill>
              </a:rPr>
            </a:br>
            <a:endParaRPr b="1" dirty="0">
              <a:solidFill>
                <a:schemeClr val="tx2"/>
              </a:solidFill>
            </a:endParaRPr>
          </a:p>
          <a:p>
            <a:r>
              <a:rPr dirty="0"/>
              <a:t>You're done when verification shows eight </a:t>
            </a:r>
            <a:r>
              <a:rPr b="1" dirty="0"/>
              <a:t>[OK] lines</a:t>
            </a:r>
            <a:br>
              <a:rPr lang="en-US" dirty="0"/>
            </a:br>
            <a:endParaRPr dirty="0"/>
          </a:p>
          <a:p>
            <a:r>
              <a:rPr dirty="0"/>
              <a:t>Debug probe software - already installed in this room for ModusToolbox™ classes:</a:t>
            </a:r>
          </a:p>
          <a:p>
            <a:pPr lvl="1"/>
            <a:r>
              <a:rPr dirty="0"/>
              <a:t>KitProg3 boards (CY8CPROTO-041TP, KIT_PSE84_EVAL) → </a:t>
            </a:r>
            <a:r>
              <a:rPr b="1" dirty="0">
                <a:solidFill>
                  <a:schemeClr val="tx2"/>
                </a:solidFill>
              </a:rPr>
              <a:t>Infineon's OpenOCD</a:t>
            </a:r>
          </a:p>
          <a:p>
            <a:pPr lvl="1"/>
            <a:r>
              <a:rPr dirty="0"/>
              <a:t>KIT_PSC3M6_EVAL → onboard </a:t>
            </a:r>
            <a:r>
              <a:rPr b="1" dirty="0">
                <a:solidFill>
                  <a:schemeClr val="tx2"/>
                </a:solidFill>
              </a:rPr>
              <a:t>SEGGER J-Link (needs V9.</a:t>
            </a:r>
            <a:r>
              <a:rPr lang="en-US" b="1" dirty="0">
                <a:solidFill>
                  <a:schemeClr val="tx2"/>
                </a:solidFill>
              </a:rPr>
              <a:t>7</a:t>
            </a:r>
            <a:r>
              <a:rPr b="1" dirty="0">
                <a:solidFill>
                  <a:schemeClr val="tx2"/>
                </a:solidFill>
              </a:rPr>
              <a:t>8 or later)</a:t>
            </a:r>
          </a:p>
        </p:txBody>
      </p:sp>
      <p:sp>
        <p:nvSpPr>
          <p:cNvPr id="3" name="Title 2"/>
          <p:cNvSpPr>
            <a:spLocks noGrp="1"/>
          </p:cNvSpPr>
          <p:nvPr>
            <p:ph type="title"/>
          </p:nvPr>
        </p:nvSpPr>
        <p:spPr/>
        <p:txBody>
          <a:bodyPr/>
          <a:lstStyle/>
          <a:p>
            <a:r>
              <a:rPr lang="en-US" dirty="0"/>
              <a:t>Confirmation of prework</a:t>
            </a:r>
            <a:endParaRPr dirty="0"/>
          </a:p>
        </p:txBody>
      </p:sp>
    </p:spTree>
    <p:extLst>
      <p:ext uri="{BB962C8B-B14F-4D97-AF65-F5344CB8AC3E}">
        <p14:creationId xmlns:p14="http://schemas.microsoft.com/office/powerpoint/2010/main" val="26863516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Every attendee leaves this session with a working Zephyr workspace, a toolchain, and your own board blinking</a:t>
            </a:r>
            <a:br>
              <a:rPr lang="en-US" dirty="0"/>
            </a:br>
            <a:endParaRPr dirty="0"/>
          </a:p>
          <a:p>
            <a:r>
              <a:rPr dirty="0"/>
              <a:t>One scheduling fact shapes everything below:</a:t>
            </a:r>
          </a:p>
          <a:p>
            <a:pPr lvl="1"/>
            <a:r>
              <a:rPr dirty="0"/>
              <a:t>Setting up a Zephyr workspace pulls about 425 MB over the network and lands as roughly 2.5 GB on disk</a:t>
            </a:r>
          </a:p>
          <a:p>
            <a:pPr lvl="1"/>
            <a:r>
              <a:rPr dirty="0"/>
              <a:t>Start the download in the first few minutes of this session</a:t>
            </a:r>
            <a:br>
              <a:rPr lang="en-US" dirty="0"/>
            </a:br>
            <a:endParaRPr dirty="0"/>
          </a:p>
          <a:p>
            <a:r>
              <a:rPr dirty="0"/>
              <a:t>You leave with:</a:t>
            </a:r>
          </a:p>
          <a:p>
            <a:pPr lvl="1"/>
            <a:r>
              <a:rPr dirty="0"/>
              <a:t>A workspace holding the training fork of Zephyr and every lab application you need this week</a:t>
            </a:r>
          </a:p>
          <a:p>
            <a:pPr lvl="1"/>
            <a:r>
              <a:rPr dirty="0"/>
              <a:t>A toolchain your builds can find, and a programmer that can reach your board</a:t>
            </a:r>
          </a:p>
          <a:p>
            <a:pPr lvl="1"/>
            <a:r>
              <a:rPr dirty="0"/>
              <a:t>One blinky, built by you, flashed by you, running on your own board</a:t>
            </a:r>
          </a:p>
        </p:txBody>
      </p:sp>
      <p:sp>
        <p:nvSpPr>
          <p:cNvPr id="3" name="Title 2"/>
          <p:cNvSpPr>
            <a:spLocks noGrp="1"/>
          </p:cNvSpPr>
          <p:nvPr>
            <p:ph type="title"/>
          </p:nvPr>
        </p:nvSpPr>
        <p:spPr/>
        <p:txBody>
          <a:bodyPr/>
          <a:lstStyle/>
          <a:p>
            <a:r>
              <a:t>Setup Steps - What You'll Need Before You Build</a:t>
            </a:r>
          </a:p>
        </p:txBody>
      </p:sp>
    </p:spTree>
    <p:extLst>
      <p:ext uri="{BB962C8B-B14F-4D97-AF65-F5344CB8AC3E}">
        <p14:creationId xmlns:p14="http://schemas.microsoft.com/office/powerpoint/2010/main" val="2431207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Install west, Zephyr's command-line tool:</a:t>
            </a:r>
          </a:p>
          <a:p>
            <a:pPr lvl="1"/>
            <a:r>
              <a:rPr b="1" dirty="0">
                <a:solidFill>
                  <a:schemeClr val="tx2"/>
                </a:solidFill>
              </a:rPr>
              <a:t>pip install west</a:t>
            </a:r>
            <a:endParaRPr lang="en-US" b="1" dirty="0">
              <a:solidFill>
                <a:schemeClr val="tx2"/>
              </a:solidFill>
            </a:endParaRPr>
          </a:p>
          <a:p>
            <a:pPr lvl="1"/>
            <a:endParaRPr dirty="0"/>
          </a:p>
          <a:p>
            <a:r>
              <a:rPr dirty="0"/>
              <a:t>Create the workspace and start the long pole downloading:</a:t>
            </a:r>
          </a:p>
          <a:p>
            <a:pPr lvl="1"/>
            <a:r>
              <a:rPr b="1" dirty="0">
                <a:solidFill>
                  <a:schemeClr val="tx2"/>
                </a:solidFill>
              </a:rPr>
              <a:t>west </a:t>
            </a:r>
            <a:r>
              <a:rPr b="1" dirty="0" err="1">
                <a:solidFill>
                  <a:schemeClr val="tx2"/>
                </a:solidFill>
              </a:rPr>
              <a:t>init</a:t>
            </a:r>
            <a:r>
              <a:rPr b="1" dirty="0">
                <a:solidFill>
                  <a:schemeClr val="tx2"/>
                </a:solidFill>
              </a:rPr>
              <a:t> -m https://github.com/ClarkJ-Infineon/devcon-training-2026 </a:t>
            </a:r>
            <a:r>
              <a:rPr b="1" dirty="0" err="1">
                <a:solidFill>
                  <a:schemeClr val="tx2"/>
                </a:solidFill>
              </a:rPr>
              <a:t>devcon-ws</a:t>
            </a:r>
            <a:endParaRPr b="1" dirty="0">
              <a:solidFill>
                <a:schemeClr val="tx2"/>
              </a:solidFill>
            </a:endParaRPr>
          </a:p>
          <a:p>
            <a:pPr lvl="1"/>
            <a:r>
              <a:rPr b="1" dirty="0">
                <a:solidFill>
                  <a:schemeClr val="tx2"/>
                </a:solidFill>
              </a:rPr>
              <a:t>cd </a:t>
            </a:r>
            <a:r>
              <a:rPr b="1" dirty="0" err="1">
                <a:solidFill>
                  <a:schemeClr val="tx2"/>
                </a:solidFill>
              </a:rPr>
              <a:t>devcon-ws</a:t>
            </a:r>
            <a:endParaRPr b="1" dirty="0">
              <a:solidFill>
                <a:schemeClr val="tx2"/>
              </a:solidFill>
            </a:endParaRPr>
          </a:p>
          <a:p>
            <a:pPr lvl="1"/>
            <a:r>
              <a:rPr b="1" dirty="0">
                <a:solidFill>
                  <a:schemeClr val="tx2"/>
                </a:solidFill>
              </a:rPr>
              <a:t>west update </a:t>
            </a:r>
            <a:r>
              <a:rPr lang="en-US" b="1" dirty="0">
                <a:solidFill>
                  <a:schemeClr val="tx2"/>
                </a:solidFill>
              </a:rPr>
              <a:t>--</a:t>
            </a:r>
            <a:r>
              <a:rPr b="1" dirty="0">
                <a:solidFill>
                  <a:schemeClr val="tx2"/>
                </a:solidFill>
              </a:rPr>
              <a:t>narrow</a:t>
            </a:r>
            <a:endParaRPr lang="en-US" b="1" dirty="0">
              <a:solidFill>
                <a:schemeClr val="tx2"/>
              </a:solidFill>
            </a:endParaRPr>
          </a:p>
          <a:p>
            <a:pPr lvl="1"/>
            <a:endParaRPr dirty="0"/>
          </a:p>
          <a:p>
            <a:r>
              <a:rPr dirty="0"/>
              <a:t>--narrow is not optional - without it west fetches every branch/tag instead of the one pinned commit</a:t>
            </a:r>
            <a:endParaRPr lang="en-US" dirty="0"/>
          </a:p>
          <a:p>
            <a:endParaRPr dirty="0"/>
          </a:p>
          <a:p>
            <a:r>
              <a:rPr dirty="0"/>
              <a:t>~280 MB over the network, landing as ~1.25 GB on disk - leave it running and go listen to the presentation</a:t>
            </a:r>
            <a:br>
              <a:rPr lang="en-US" dirty="0"/>
            </a:br>
            <a:endParaRPr dirty="0"/>
          </a:p>
          <a:p>
            <a:r>
              <a:rPr dirty="0"/>
              <a:t>Full copy-paste commands: the manifest repo's README.md -&gt; Quick start (same URL, viewable on GitHub)</a:t>
            </a:r>
            <a:endParaRPr lang="en-US" dirty="0"/>
          </a:p>
        </p:txBody>
      </p:sp>
      <p:sp>
        <p:nvSpPr>
          <p:cNvPr id="3" name="Title 2"/>
          <p:cNvSpPr>
            <a:spLocks noGrp="1"/>
          </p:cNvSpPr>
          <p:nvPr>
            <p:ph type="title"/>
          </p:nvPr>
        </p:nvSpPr>
        <p:spPr/>
        <p:txBody>
          <a:bodyPr/>
          <a:lstStyle/>
          <a:p>
            <a:r>
              <a:t>First Thing in the Room - Start the Download</a:t>
            </a:r>
          </a:p>
        </p:txBody>
      </p:sp>
    </p:spTree>
    <p:extLst>
      <p:ext uri="{BB962C8B-B14F-4D97-AF65-F5344CB8AC3E}">
        <p14:creationId xmlns:p14="http://schemas.microsoft.com/office/powerpoint/2010/main" val="1109053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A14906-4212-AE00-689C-833808372F9D}"/>
              </a:ext>
            </a:extLst>
          </p:cNvPr>
          <p:cNvSpPr>
            <a:spLocks noGrp="1"/>
          </p:cNvSpPr>
          <p:nvPr>
            <p:ph type="title"/>
          </p:nvPr>
        </p:nvSpPr>
        <p:spPr/>
        <p:txBody>
          <a:bodyPr/>
          <a:lstStyle/>
          <a:p>
            <a:r>
              <a:rPr lang="en-US" dirty="0"/>
              <a:t>Zephyr Project Overview</a:t>
            </a:r>
          </a:p>
        </p:txBody>
      </p:sp>
      <p:sp>
        <p:nvSpPr>
          <p:cNvPr id="6" name="Title 4">
            <a:extLst>
              <a:ext uri="{FF2B5EF4-FFF2-40B4-BE49-F238E27FC236}">
                <a16:creationId xmlns:a16="http://schemas.microsoft.com/office/drawing/2014/main" id="{4D4E4CD8-4EFA-0CEB-DE4E-DB73E9354C10}"/>
              </a:ext>
            </a:extLst>
          </p:cNvPr>
          <p:cNvSpPr txBox="1">
            <a:spLocks/>
          </p:cNvSpPr>
          <p:nvPr/>
        </p:nvSpPr>
        <p:spPr>
          <a:xfrm>
            <a:off x="324727" y="5943600"/>
            <a:ext cx="7589440" cy="683369"/>
          </a:xfrm>
          <a:prstGeom prst="rect">
            <a:avLst/>
          </a:prstGeom>
        </p:spPr>
        <p:txBody>
          <a:bodyPr vert="horz" lIns="0" tIns="0" rIns="0" bIns="0" rtlCol="0" anchor="b" anchorCtr="0">
            <a:noAutofit/>
          </a:bodyPr>
          <a:lstStyle>
            <a:lvl1pPr algn="l" defTabSz="576000" rtl="0" eaLnBrk="1" fontAlgn="base" hangingPunct="1">
              <a:spcBef>
                <a:spcPct val="0"/>
              </a:spcBef>
              <a:spcAft>
                <a:spcPct val="0"/>
              </a:spcAft>
              <a:buClr>
                <a:schemeClr val="tx1"/>
              </a:buClr>
              <a:buFontTx/>
              <a:buNone/>
              <a:defRPr sz="3600" b="1" baseline="0">
                <a:solidFill>
                  <a:schemeClr val="bg1"/>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sz="2000" b="0" i="1" kern="0" dirty="0"/>
              <a:t>Content in this section is taken from Zephyr marketing collateral</a:t>
            </a:r>
          </a:p>
        </p:txBody>
      </p:sp>
    </p:spTree>
    <p:extLst>
      <p:ext uri="{BB962C8B-B14F-4D97-AF65-F5344CB8AC3E}">
        <p14:creationId xmlns:p14="http://schemas.microsoft.com/office/powerpoint/2010/main" val="3377915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66" descr="A sunset over a city&#10;&#10;Description automatically generated"/>
          <p:cNvPicPr preferRelativeResize="0"/>
          <p:nvPr/>
        </p:nvPicPr>
        <p:blipFill rotWithShape="1">
          <a:blip r:embed="rId3">
            <a:alphaModFix/>
          </a:blip>
          <a:srcRect l="3584" r="65701"/>
          <a:stretch/>
        </p:blipFill>
        <p:spPr>
          <a:xfrm>
            <a:off x="6444744" y="963941"/>
            <a:ext cx="5412156" cy="4881303"/>
          </a:xfrm>
          <a:prstGeom prst="rect">
            <a:avLst/>
          </a:prstGeom>
          <a:noFill/>
          <a:ln>
            <a:noFill/>
          </a:ln>
        </p:spPr>
      </p:pic>
      <p:sp>
        <p:nvSpPr>
          <p:cNvPr id="315" name="Google Shape;315;p66"/>
          <p:cNvSpPr txBox="1">
            <a:spLocks noGrp="1"/>
          </p:cNvSpPr>
          <p:nvPr>
            <p:ph type="title"/>
          </p:nvPr>
        </p:nvSpPr>
        <p:spPr>
          <a:xfrm>
            <a:off x="335360" y="188720"/>
            <a:ext cx="9613068" cy="720000"/>
          </a:xfrm>
          <a:noFill/>
          <a:ln>
            <a:noFill/>
          </a:ln>
        </p:spPr>
        <p:txBody>
          <a:bodyPr spcFirstLastPara="1" vert="horz" wrap="square" lIns="121900" tIns="121900" rIns="121900" bIns="121900" rtlCol="0" anchor="t" anchorCtr="0">
            <a:noAutofit/>
          </a:bodyPr>
          <a:lstStyle/>
          <a:p>
            <a:r>
              <a:rPr lang="en-US" dirty="0"/>
              <a:t>Zephyr Project</a:t>
            </a:r>
          </a:p>
        </p:txBody>
      </p:sp>
      <p:sp>
        <p:nvSpPr>
          <p:cNvPr id="313" name="Google Shape;313;p66"/>
          <p:cNvSpPr txBox="1">
            <a:spLocks noGrp="1"/>
          </p:cNvSpPr>
          <p:nvPr>
            <p:ph type="body" idx="4294967295"/>
          </p:nvPr>
        </p:nvSpPr>
        <p:spPr>
          <a:xfrm>
            <a:off x="567779" y="1191572"/>
            <a:ext cx="5259388" cy="4187825"/>
          </a:xfrm>
          <a:noFill/>
          <a:ln>
            <a:noFill/>
          </a:ln>
        </p:spPr>
        <p:txBody>
          <a:bodyPr spcFirstLastPara="1" vert="horz" wrap="square" lIns="91433" tIns="45700" rIns="91433" bIns="45700" rtlCol="0" anchor="ctr" anchorCtr="0">
            <a:noAutofit/>
          </a:bodyPr>
          <a:lstStyle/>
          <a:p>
            <a:r>
              <a:rPr lang="en-US" dirty="0"/>
              <a:t>Open-source real time operating system</a:t>
            </a:r>
          </a:p>
          <a:p>
            <a:r>
              <a:rPr lang="en-US" dirty="0"/>
              <a:t>Developer friendly with vibrant community participation</a:t>
            </a:r>
          </a:p>
          <a:p>
            <a:r>
              <a:rPr lang="en-US" dirty="0"/>
              <a:t>Built with safety and security in mind</a:t>
            </a:r>
          </a:p>
          <a:p>
            <a:r>
              <a:rPr lang="en-US" dirty="0"/>
              <a:t>Broad SoC, board and sensor support.</a:t>
            </a:r>
          </a:p>
          <a:p>
            <a:r>
              <a:rPr lang="en-US" dirty="0"/>
              <a:t>Vendor Neutral governance </a:t>
            </a:r>
          </a:p>
          <a:p>
            <a:r>
              <a:rPr lang="en-US" dirty="0"/>
              <a:t>Permissively licensed - Apache 2.0</a:t>
            </a:r>
          </a:p>
          <a:p>
            <a:r>
              <a:rPr lang="en-US" dirty="0"/>
              <a:t>Complete, fully integrated, highly configurable, modular for flexibility</a:t>
            </a:r>
          </a:p>
          <a:p>
            <a:r>
              <a:rPr lang="en-US" dirty="0"/>
              <a:t>Product development ready using LTS includes security updates</a:t>
            </a:r>
          </a:p>
          <a:p>
            <a:r>
              <a:rPr lang="en-US" dirty="0"/>
              <a:t>Certification ready with Zephyr Auditable</a:t>
            </a:r>
          </a:p>
        </p:txBody>
      </p:sp>
      <p:pic>
        <p:nvPicPr>
          <p:cNvPr id="314" name="Google Shape;314;p66"/>
          <p:cNvPicPr preferRelativeResize="0"/>
          <p:nvPr/>
        </p:nvPicPr>
        <p:blipFill rotWithShape="1">
          <a:blip r:embed="rId4">
            <a:alphaModFix/>
          </a:blip>
          <a:srcRect/>
          <a:stretch/>
        </p:blipFill>
        <p:spPr>
          <a:xfrm>
            <a:off x="685800" y="5895945"/>
            <a:ext cx="4057028" cy="227193"/>
          </a:xfrm>
          <a:prstGeom prst="rect">
            <a:avLst/>
          </a:prstGeom>
          <a:noFill/>
          <a:ln>
            <a:noFill/>
          </a:ln>
        </p:spPr>
      </p:pic>
      <p:grpSp>
        <p:nvGrpSpPr>
          <p:cNvPr id="316" name="Google Shape;316;p66"/>
          <p:cNvGrpSpPr/>
          <p:nvPr/>
        </p:nvGrpSpPr>
        <p:grpSpPr>
          <a:xfrm>
            <a:off x="6444742" y="963942"/>
            <a:ext cx="5412320" cy="4877088"/>
            <a:chOff x="4540254" y="855307"/>
            <a:chExt cx="4385100" cy="3846300"/>
          </a:xfrm>
        </p:grpSpPr>
        <p:sp>
          <p:nvSpPr>
            <p:cNvPr id="317" name="Google Shape;317;p66"/>
            <p:cNvSpPr/>
            <p:nvPr/>
          </p:nvSpPr>
          <p:spPr>
            <a:xfrm>
              <a:off x="4540254" y="855307"/>
              <a:ext cx="4385100" cy="3846300"/>
            </a:xfrm>
            <a:prstGeom prst="rect">
              <a:avLst/>
            </a:prstGeom>
            <a:gradFill>
              <a:gsLst>
                <a:gs pos="0">
                  <a:srgbClr val="0A8276">
                    <a:alpha val="50000"/>
                  </a:srgbClr>
                </a:gs>
                <a:gs pos="100000">
                  <a:srgbClr val="0A8276">
                    <a:alpha val="20000"/>
                  </a:srgbClr>
                </a:gs>
              </a:gsLst>
              <a:lin ang="5400012" scaled="0"/>
            </a:gradFill>
            <a:ln>
              <a:noFill/>
            </a:ln>
          </p:spPr>
          <p:txBody>
            <a:bodyPr spcFirstLastPara="1" wrap="square" lIns="121900" tIns="60933" rIns="121900" bIns="60933" anchor="ctr" anchorCtr="0">
              <a:noAutofit/>
            </a:bodyPr>
            <a:lstStyle/>
            <a:p>
              <a:pPr algn="ctr">
                <a:spcBef>
                  <a:spcPts val="0"/>
                </a:spcBef>
                <a:spcAft>
                  <a:spcPts val="0"/>
                </a:spcAft>
                <a:buClr>
                  <a:srgbClr val="000000"/>
                </a:buClr>
                <a:buSzPts val="1400"/>
              </a:pPr>
              <a:endParaRPr sz="1867">
                <a:solidFill>
                  <a:schemeClr val="lt1"/>
                </a:solidFill>
                <a:latin typeface="Arial"/>
                <a:ea typeface="Arial"/>
                <a:cs typeface="Arial"/>
                <a:sym typeface="Arial"/>
              </a:endParaRPr>
            </a:p>
          </p:txBody>
        </p:sp>
        <p:sp>
          <p:nvSpPr>
            <p:cNvPr id="318" name="Google Shape;318;p66"/>
            <p:cNvSpPr txBox="1"/>
            <p:nvPr/>
          </p:nvSpPr>
          <p:spPr>
            <a:xfrm>
              <a:off x="4611380" y="948934"/>
              <a:ext cx="4263600" cy="531000"/>
            </a:xfrm>
            <a:prstGeom prst="rect">
              <a:avLst/>
            </a:prstGeom>
            <a:noFill/>
            <a:ln>
              <a:noFill/>
            </a:ln>
          </p:spPr>
          <p:txBody>
            <a:bodyPr spcFirstLastPara="1" wrap="square" lIns="91433" tIns="45700" rIns="91433" bIns="45700" anchor="t" anchorCtr="0">
              <a:noAutofit/>
            </a:bodyPr>
            <a:lstStyle/>
            <a:p>
              <a:pPr algn="ctr">
                <a:spcBef>
                  <a:spcPts val="0"/>
                </a:spcBef>
                <a:spcAft>
                  <a:spcPts val="0"/>
                </a:spcAft>
                <a:buClr>
                  <a:schemeClr val="lt1"/>
                </a:buClr>
                <a:buSzPts val="1500"/>
              </a:pPr>
              <a:r>
                <a:rPr lang="en" sz="2000">
                  <a:solidFill>
                    <a:schemeClr val="lt1"/>
                  </a:solidFill>
                  <a:latin typeface="Arial"/>
                  <a:ea typeface="Arial"/>
                  <a:cs typeface="Arial"/>
                  <a:sym typeface="Arial"/>
                </a:rPr>
                <a:t>Open Source, RTOS, Connected, Embedded</a:t>
              </a:r>
              <a:endParaRPr sz="2000">
                <a:solidFill>
                  <a:schemeClr val="lt1"/>
                </a:solidFill>
                <a:latin typeface="Arial"/>
                <a:ea typeface="Arial"/>
                <a:cs typeface="Arial"/>
                <a:sym typeface="Arial"/>
              </a:endParaRPr>
            </a:p>
            <a:p>
              <a:pPr algn="ctr">
                <a:spcBef>
                  <a:spcPts val="0"/>
                </a:spcBef>
                <a:spcAft>
                  <a:spcPts val="0"/>
                </a:spcAft>
                <a:buClr>
                  <a:schemeClr val="lt1"/>
                </a:buClr>
                <a:buSzPts val="1500"/>
              </a:pPr>
              <a:r>
                <a:rPr lang="en" sz="2000">
                  <a:solidFill>
                    <a:schemeClr val="lt1"/>
                  </a:solidFill>
                  <a:latin typeface="Arial"/>
                  <a:ea typeface="Arial"/>
                  <a:cs typeface="Arial"/>
                  <a:sym typeface="Arial"/>
                </a:rPr>
                <a:t>Fits where Linux is too big</a:t>
              </a:r>
              <a:endParaRPr sz="2000">
                <a:solidFill>
                  <a:schemeClr val="lt1"/>
                </a:solidFill>
                <a:latin typeface="Arial"/>
                <a:ea typeface="Arial"/>
                <a:cs typeface="Arial"/>
                <a:sym typeface="Arial"/>
              </a:endParaRPr>
            </a:p>
          </p:txBody>
        </p:sp>
        <p:grpSp>
          <p:nvGrpSpPr>
            <p:cNvPr id="319" name="Google Shape;319;p66"/>
            <p:cNvGrpSpPr/>
            <p:nvPr/>
          </p:nvGrpSpPr>
          <p:grpSpPr>
            <a:xfrm>
              <a:off x="5456474" y="1650289"/>
              <a:ext cx="2573400" cy="2256000"/>
              <a:chOff x="5490763" y="1556019"/>
              <a:chExt cx="2573400" cy="2256000"/>
            </a:xfrm>
          </p:grpSpPr>
          <p:sp>
            <p:nvSpPr>
              <p:cNvPr id="320" name="Google Shape;320;p66"/>
              <p:cNvSpPr/>
              <p:nvPr/>
            </p:nvSpPr>
            <p:spPr>
              <a:xfrm>
                <a:off x="5582403" y="1643398"/>
                <a:ext cx="2390100" cy="2070900"/>
              </a:xfrm>
              <a:prstGeom prst="rect">
                <a:avLst/>
              </a:prstGeom>
              <a:solidFill>
                <a:srgbClr val="DCD5D7"/>
              </a:solidFill>
              <a:ln>
                <a:noFill/>
              </a:ln>
            </p:spPr>
            <p:txBody>
              <a:bodyPr spcFirstLastPara="1" wrap="square" lIns="121900" tIns="60933" rIns="121900" bIns="60933" anchor="ctr" anchorCtr="0">
                <a:noAutofit/>
              </a:bodyPr>
              <a:lstStyle/>
              <a:p>
                <a:pPr algn="ctr">
                  <a:spcBef>
                    <a:spcPts val="0"/>
                  </a:spcBef>
                  <a:spcAft>
                    <a:spcPts val="0"/>
                  </a:spcAft>
                  <a:buClr>
                    <a:srgbClr val="000000"/>
                  </a:buClr>
                  <a:buSzPts val="1400"/>
                </a:pPr>
                <a:endParaRPr sz="1867">
                  <a:solidFill>
                    <a:schemeClr val="lt1"/>
                  </a:solidFill>
                  <a:latin typeface="Arial"/>
                  <a:ea typeface="Arial"/>
                  <a:cs typeface="Arial"/>
                  <a:sym typeface="Arial"/>
                </a:endParaRPr>
              </a:p>
            </p:txBody>
          </p:sp>
          <p:sp>
            <p:nvSpPr>
              <p:cNvPr id="321" name="Google Shape;321;p66"/>
              <p:cNvSpPr/>
              <p:nvPr/>
            </p:nvSpPr>
            <p:spPr>
              <a:xfrm>
                <a:off x="5490763" y="1556019"/>
                <a:ext cx="2573400" cy="2256000"/>
              </a:xfrm>
              <a:prstGeom prst="frame">
                <a:avLst>
                  <a:gd name="adj1" fmla="val 1062"/>
                </a:avLst>
              </a:prstGeom>
              <a:solidFill>
                <a:schemeClr val="lt1"/>
              </a:solidFill>
              <a:ln>
                <a:noFill/>
              </a:ln>
            </p:spPr>
            <p:txBody>
              <a:bodyPr spcFirstLastPara="1" wrap="square" lIns="121900" tIns="60933" rIns="121900" bIns="60933" anchor="ctr" anchorCtr="0">
                <a:noAutofit/>
              </a:bodyPr>
              <a:lstStyle/>
              <a:p>
                <a:pPr algn="ctr">
                  <a:spcBef>
                    <a:spcPts val="0"/>
                  </a:spcBef>
                  <a:spcAft>
                    <a:spcPts val="0"/>
                  </a:spcAft>
                  <a:buClr>
                    <a:srgbClr val="000000"/>
                  </a:buClr>
                  <a:buSzPts val="1400"/>
                </a:pPr>
                <a:endParaRPr sz="1867">
                  <a:solidFill>
                    <a:schemeClr val="dk1"/>
                  </a:solidFill>
                  <a:latin typeface="Arial"/>
                  <a:ea typeface="Arial"/>
                  <a:cs typeface="Arial"/>
                  <a:sym typeface="Arial"/>
                </a:endParaRPr>
              </a:p>
            </p:txBody>
          </p:sp>
          <p:sp>
            <p:nvSpPr>
              <p:cNvPr id="322" name="Google Shape;322;p66"/>
              <p:cNvSpPr/>
              <p:nvPr/>
            </p:nvSpPr>
            <p:spPr>
              <a:xfrm>
                <a:off x="5767371" y="3017941"/>
                <a:ext cx="2020200" cy="256259"/>
              </a:xfrm>
              <a:prstGeom prst="rect">
                <a:avLst/>
              </a:prstGeom>
              <a:solidFill>
                <a:srgbClr val="575352"/>
              </a:solidFill>
              <a:ln w="0" cap="flat" cmpd="sng">
                <a:no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350"/>
                </a:pPr>
                <a:r>
                  <a:rPr lang="en" sz="1800">
                    <a:solidFill>
                      <a:srgbClr val="FFFFFF"/>
                    </a:solidFill>
                    <a:latin typeface="Arial"/>
                    <a:ea typeface="Arial"/>
                    <a:cs typeface="Arial"/>
                    <a:sym typeface="Arial"/>
                  </a:rPr>
                  <a:t>Kernel</a:t>
                </a:r>
                <a:endParaRPr sz="1800">
                  <a:solidFill>
                    <a:srgbClr val="FFFFFF"/>
                  </a:solidFill>
                  <a:latin typeface="Arial"/>
                  <a:ea typeface="Arial"/>
                  <a:cs typeface="Arial"/>
                  <a:sym typeface="Arial"/>
                </a:endParaRPr>
              </a:p>
            </p:txBody>
          </p:sp>
          <p:sp>
            <p:nvSpPr>
              <p:cNvPr id="323" name="Google Shape;323;p66"/>
              <p:cNvSpPr/>
              <p:nvPr/>
            </p:nvSpPr>
            <p:spPr>
              <a:xfrm>
                <a:off x="5767371" y="2715544"/>
                <a:ext cx="2020200" cy="256259"/>
              </a:xfrm>
              <a:prstGeom prst="rect">
                <a:avLst/>
              </a:prstGeom>
              <a:solidFill>
                <a:srgbClr val="575352"/>
              </a:solidFill>
              <a:ln w="0" cap="flat" cmpd="sng">
                <a:no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350"/>
                </a:pPr>
                <a:r>
                  <a:rPr lang="en" sz="1800">
                    <a:solidFill>
                      <a:srgbClr val="FFFFFF"/>
                    </a:solidFill>
                    <a:latin typeface="Arial"/>
                    <a:ea typeface="Arial"/>
                    <a:cs typeface="Arial"/>
                    <a:sym typeface="Arial"/>
                  </a:rPr>
                  <a:t>OS Services</a:t>
                </a:r>
                <a:endParaRPr sz="1800">
                  <a:solidFill>
                    <a:srgbClr val="FFFFFF"/>
                  </a:solidFill>
                  <a:latin typeface="Arial"/>
                  <a:ea typeface="Arial"/>
                  <a:cs typeface="Arial"/>
                  <a:sym typeface="Arial"/>
                </a:endParaRPr>
              </a:p>
            </p:txBody>
          </p:sp>
          <p:sp>
            <p:nvSpPr>
              <p:cNvPr id="324" name="Google Shape;324;p66"/>
              <p:cNvSpPr/>
              <p:nvPr/>
            </p:nvSpPr>
            <p:spPr>
              <a:xfrm>
                <a:off x="5767370" y="2421101"/>
                <a:ext cx="2020200" cy="256259"/>
              </a:xfrm>
              <a:prstGeom prst="rect">
                <a:avLst/>
              </a:prstGeom>
              <a:solidFill>
                <a:srgbClr val="575352"/>
              </a:solidFill>
              <a:ln w="0" cap="flat" cmpd="sng">
                <a:no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350"/>
                </a:pPr>
                <a:r>
                  <a:rPr lang="en" sz="1800">
                    <a:solidFill>
                      <a:srgbClr val="FFFFFF"/>
                    </a:solidFill>
                    <a:latin typeface="Arial"/>
                    <a:ea typeface="Arial"/>
                    <a:cs typeface="Arial"/>
                    <a:sym typeface="Arial"/>
                  </a:rPr>
                  <a:t>Application Services</a:t>
                </a:r>
                <a:endParaRPr sz="1800">
                  <a:solidFill>
                    <a:srgbClr val="FFFFFF"/>
                  </a:solidFill>
                  <a:latin typeface="Arial"/>
                  <a:ea typeface="Arial"/>
                  <a:cs typeface="Arial"/>
                  <a:sym typeface="Arial"/>
                </a:endParaRPr>
              </a:p>
            </p:txBody>
          </p:sp>
          <p:sp>
            <p:nvSpPr>
              <p:cNvPr id="325" name="Google Shape;325;p66"/>
              <p:cNvSpPr/>
              <p:nvPr/>
            </p:nvSpPr>
            <p:spPr>
              <a:xfrm>
                <a:off x="5767370" y="3348431"/>
                <a:ext cx="2020200" cy="256259"/>
              </a:xfrm>
              <a:prstGeom prst="rect">
                <a:avLst/>
              </a:prstGeom>
              <a:solidFill>
                <a:srgbClr val="0A8276"/>
              </a:solidFill>
              <a:ln w="0" cap="flat" cmpd="sng">
                <a:no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350"/>
                </a:pPr>
                <a:r>
                  <a:rPr lang="en" sz="1800">
                    <a:solidFill>
                      <a:srgbClr val="FFFFFF"/>
                    </a:solidFill>
                    <a:latin typeface="Arial"/>
                    <a:ea typeface="Arial"/>
                    <a:cs typeface="Arial"/>
                    <a:sym typeface="Arial"/>
                  </a:rPr>
                  <a:t>HAL</a:t>
                </a:r>
                <a:endParaRPr sz="1800">
                  <a:solidFill>
                    <a:srgbClr val="FFFFFF"/>
                  </a:solidFill>
                  <a:latin typeface="Arial"/>
                  <a:ea typeface="Arial"/>
                  <a:cs typeface="Arial"/>
                  <a:sym typeface="Arial"/>
                </a:endParaRPr>
              </a:p>
            </p:txBody>
          </p:sp>
          <p:sp>
            <p:nvSpPr>
              <p:cNvPr id="326" name="Google Shape;326;p66"/>
              <p:cNvSpPr/>
              <p:nvPr/>
            </p:nvSpPr>
            <p:spPr>
              <a:xfrm>
                <a:off x="5767370" y="2112365"/>
                <a:ext cx="2020200" cy="256259"/>
              </a:xfrm>
              <a:prstGeom prst="rect">
                <a:avLst/>
              </a:prstGeom>
              <a:solidFill>
                <a:srgbClr val="0A8276"/>
              </a:solidFill>
              <a:ln w="0" cap="flat" cmpd="sng">
                <a:no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350"/>
                </a:pPr>
                <a:r>
                  <a:rPr lang="en" sz="1800" dirty="0">
                    <a:solidFill>
                      <a:srgbClr val="FFFFFF"/>
                    </a:solidFill>
                    <a:latin typeface="Arial"/>
                    <a:ea typeface="Arial"/>
                    <a:cs typeface="Arial"/>
                    <a:sym typeface="Arial"/>
                  </a:rPr>
                  <a:t>3rd Party Libraries</a:t>
                </a:r>
                <a:endParaRPr sz="1800" dirty="0">
                  <a:solidFill>
                    <a:srgbClr val="FFFFFF"/>
                  </a:solidFill>
                  <a:latin typeface="Arial"/>
                  <a:ea typeface="Arial"/>
                  <a:cs typeface="Arial"/>
                  <a:sym typeface="Arial"/>
                </a:endParaRPr>
              </a:p>
            </p:txBody>
          </p:sp>
          <p:sp>
            <p:nvSpPr>
              <p:cNvPr id="327" name="Google Shape;327;p66"/>
              <p:cNvSpPr/>
              <p:nvPr/>
            </p:nvSpPr>
            <p:spPr>
              <a:xfrm>
                <a:off x="5712493" y="1647133"/>
                <a:ext cx="2130000" cy="416700"/>
              </a:xfrm>
              <a:prstGeom prst="roundRect">
                <a:avLst>
                  <a:gd name="adj" fmla="val 0"/>
                </a:avLst>
              </a:prstGeom>
              <a:noFill/>
              <a:ln>
                <a:noFill/>
              </a:ln>
            </p:spPr>
            <p:txBody>
              <a:bodyPr spcFirstLastPara="1" wrap="square" lIns="121900" tIns="60933" rIns="121900" bIns="60933" anchor="ctr" anchorCtr="0">
                <a:noAutofit/>
              </a:bodyPr>
              <a:lstStyle/>
              <a:p>
                <a:pPr algn="ctr">
                  <a:spcBef>
                    <a:spcPts val="0"/>
                  </a:spcBef>
                  <a:spcAft>
                    <a:spcPts val="0"/>
                  </a:spcAft>
                  <a:buClr>
                    <a:srgbClr val="FFFFFF"/>
                  </a:buClr>
                  <a:buSzPts val="1800"/>
                </a:pPr>
                <a:r>
                  <a:rPr lang="en" sz="2400" dirty="0">
                    <a:latin typeface="Arial"/>
                    <a:ea typeface="Arial"/>
                    <a:cs typeface="Arial"/>
                    <a:sym typeface="Arial"/>
                  </a:rPr>
                  <a:t>Zephyr OS</a:t>
                </a:r>
                <a:endParaRPr sz="1867" dirty="0">
                  <a:latin typeface="Arial"/>
                  <a:ea typeface="Arial"/>
                  <a:cs typeface="Arial"/>
                  <a:sym typeface="Arial"/>
                </a:endParaRPr>
              </a:p>
            </p:txBody>
          </p:sp>
        </p:grpSp>
      </p:grpSp>
      <p:cxnSp>
        <p:nvCxnSpPr>
          <p:cNvPr id="328" name="Google Shape;328;p66"/>
          <p:cNvCxnSpPr/>
          <p:nvPr/>
        </p:nvCxnSpPr>
        <p:spPr>
          <a:xfrm rot="10800000">
            <a:off x="320804" y="6548487"/>
            <a:ext cx="11673200" cy="0"/>
          </a:xfrm>
          <a:prstGeom prst="straightConnector1">
            <a:avLst/>
          </a:prstGeom>
          <a:noFill/>
          <a:ln w="9525" cap="flat" cmpd="sng">
            <a:solidFill>
              <a:srgbClr val="7030A0"/>
            </a:solidFill>
            <a:prstDash val="solid"/>
            <a:round/>
            <a:headEnd type="none" w="sm" len="sm"/>
            <a:tailEnd type="none" w="sm" len="sm"/>
          </a:ln>
        </p:spPr>
      </p:cxnSp>
      <p:sp>
        <p:nvSpPr>
          <p:cNvPr id="329" name="Google Shape;329;p66"/>
          <p:cNvSpPr/>
          <p:nvPr/>
        </p:nvSpPr>
        <p:spPr>
          <a:xfrm rot="5400000">
            <a:off x="5556631" y="3021223"/>
            <a:ext cx="1235154" cy="396936"/>
          </a:xfrm>
          <a:prstGeom prst="triangle">
            <a:avLst>
              <a:gd name="adj" fmla="val 50000"/>
            </a:avLst>
          </a:prstGeom>
          <a:solidFill>
            <a:srgbClr val="0A8276"/>
          </a:solidFill>
          <a:ln>
            <a:noFill/>
          </a:ln>
        </p:spPr>
        <p:txBody>
          <a:bodyPr spcFirstLastPara="1" wrap="square" lIns="121900" tIns="60933" rIns="121900" bIns="60933" anchor="ctr" anchorCtr="0">
            <a:noAutofit/>
          </a:bodyPr>
          <a:lstStyle/>
          <a:p>
            <a:pPr algn="ctr">
              <a:spcBef>
                <a:spcPts val="0"/>
              </a:spcBef>
              <a:spcAft>
                <a:spcPts val="0"/>
              </a:spcAft>
              <a:buClr>
                <a:srgbClr val="000000"/>
              </a:buClr>
              <a:buSzPts val="1400"/>
            </a:pPr>
            <a:endParaRPr sz="1867">
              <a:solidFill>
                <a:schemeClr val="lt1"/>
              </a:solidFill>
              <a:latin typeface="Arial"/>
              <a:ea typeface="Arial"/>
              <a:cs typeface="Arial"/>
              <a:sym typeface="Arial"/>
            </a:endParaRPr>
          </a:p>
        </p:txBody>
      </p:sp>
      <p:sp>
        <p:nvSpPr>
          <p:cNvPr id="330" name="Google Shape;330;p66"/>
          <p:cNvSpPr/>
          <p:nvPr/>
        </p:nvSpPr>
        <p:spPr>
          <a:xfrm>
            <a:off x="5638778" y="1183967"/>
            <a:ext cx="336800" cy="4187825"/>
          </a:xfrm>
          <a:prstGeom prst="rightBracket">
            <a:avLst>
              <a:gd name="adj" fmla="val 81611"/>
            </a:avLst>
          </a:prstGeom>
          <a:noFill/>
          <a:ln w="12700" cap="flat" cmpd="sng">
            <a:solidFill>
              <a:srgbClr val="0A8276"/>
            </a:solidFill>
            <a:prstDash val="solid"/>
            <a:round/>
            <a:headEnd type="none" w="sm" len="sm"/>
            <a:tailEnd type="none" w="sm" len="sm"/>
          </a:ln>
        </p:spPr>
        <p:txBody>
          <a:bodyPr spcFirstLastPara="1" wrap="square" lIns="121900" tIns="60933" rIns="121900" bIns="60933" anchor="ctr" anchorCtr="0">
            <a:noAutofit/>
          </a:bodyPr>
          <a:lstStyle/>
          <a:p>
            <a:pPr algn="ctr">
              <a:spcBef>
                <a:spcPts val="0"/>
              </a:spcBef>
              <a:spcAft>
                <a:spcPts val="0"/>
              </a:spcAft>
              <a:buClr>
                <a:srgbClr val="000000"/>
              </a:buClr>
              <a:buSzPts val="1400"/>
            </a:pPr>
            <a:endParaRPr sz="1867">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pic>
        <p:nvPicPr>
          <p:cNvPr id="336" name="Google Shape;336;p67"/>
          <p:cNvPicPr preferRelativeResize="0"/>
          <p:nvPr/>
        </p:nvPicPr>
        <p:blipFill rotWithShape="1">
          <a:blip r:embed="rId3">
            <a:alphaModFix/>
          </a:blip>
          <a:srcRect/>
          <a:stretch/>
        </p:blipFill>
        <p:spPr>
          <a:xfrm>
            <a:off x="8092794" y="990600"/>
            <a:ext cx="3641948" cy="2185169"/>
          </a:xfrm>
          <a:prstGeom prst="rect">
            <a:avLst/>
          </a:prstGeom>
          <a:noFill/>
          <a:ln>
            <a:noFill/>
          </a:ln>
        </p:spPr>
      </p:pic>
      <p:pic>
        <p:nvPicPr>
          <p:cNvPr id="338" name="Google Shape;338;p67"/>
          <p:cNvPicPr preferRelativeResize="0"/>
          <p:nvPr/>
        </p:nvPicPr>
        <p:blipFill rotWithShape="1">
          <a:blip r:embed="rId4">
            <a:alphaModFix/>
          </a:blip>
          <a:srcRect/>
          <a:stretch/>
        </p:blipFill>
        <p:spPr>
          <a:xfrm>
            <a:off x="427594" y="3860441"/>
            <a:ext cx="3641948" cy="2185169"/>
          </a:xfrm>
          <a:prstGeom prst="rect">
            <a:avLst/>
          </a:prstGeom>
          <a:noFill/>
          <a:ln>
            <a:noFill/>
          </a:ln>
        </p:spPr>
      </p:pic>
      <p:pic>
        <p:nvPicPr>
          <p:cNvPr id="339" name="Google Shape;339;p67"/>
          <p:cNvPicPr preferRelativeResize="0"/>
          <p:nvPr/>
        </p:nvPicPr>
        <p:blipFill rotWithShape="1">
          <a:blip r:embed="rId5">
            <a:alphaModFix/>
          </a:blip>
          <a:srcRect/>
          <a:stretch/>
        </p:blipFill>
        <p:spPr>
          <a:xfrm>
            <a:off x="8092794" y="3860441"/>
            <a:ext cx="3641948" cy="2185169"/>
          </a:xfrm>
          <a:prstGeom prst="rect">
            <a:avLst/>
          </a:prstGeom>
          <a:noFill/>
          <a:ln>
            <a:noFill/>
          </a:ln>
        </p:spPr>
      </p:pic>
      <p:pic>
        <p:nvPicPr>
          <p:cNvPr id="340" name="Google Shape;340;p67"/>
          <p:cNvPicPr preferRelativeResize="0"/>
          <p:nvPr/>
        </p:nvPicPr>
        <p:blipFill rotWithShape="1">
          <a:blip r:embed="rId6">
            <a:alphaModFix/>
          </a:blip>
          <a:srcRect/>
          <a:stretch/>
        </p:blipFill>
        <p:spPr>
          <a:xfrm>
            <a:off x="427594" y="990600"/>
            <a:ext cx="3641948" cy="2185169"/>
          </a:xfrm>
          <a:prstGeom prst="rect">
            <a:avLst/>
          </a:prstGeom>
          <a:noFill/>
          <a:ln>
            <a:noFill/>
          </a:ln>
        </p:spPr>
      </p:pic>
      <p:pic>
        <p:nvPicPr>
          <p:cNvPr id="342" name="Google Shape;342;p67"/>
          <p:cNvPicPr preferRelativeResize="0"/>
          <p:nvPr/>
        </p:nvPicPr>
        <p:blipFill rotWithShape="1">
          <a:blip r:embed="rId7">
            <a:alphaModFix/>
          </a:blip>
          <a:srcRect/>
          <a:stretch/>
        </p:blipFill>
        <p:spPr>
          <a:xfrm>
            <a:off x="4260194" y="3860441"/>
            <a:ext cx="3641948" cy="2185169"/>
          </a:xfrm>
          <a:prstGeom prst="rect">
            <a:avLst/>
          </a:prstGeom>
          <a:noFill/>
          <a:ln>
            <a:noFill/>
          </a:ln>
        </p:spPr>
      </p:pic>
      <p:pic>
        <p:nvPicPr>
          <p:cNvPr id="346" name="Google Shape;346;p67"/>
          <p:cNvPicPr preferRelativeResize="0"/>
          <p:nvPr/>
        </p:nvPicPr>
        <p:blipFill rotWithShape="1">
          <a:blip r:embed="rId8">
            <a:alphaModFix/>
          </a:blip>
          <a:srcRect/>
          <a:stretch/>
        </p:blipFill>
        <p:spPr>
          <a:xfrm>
            <a:off x="4260192" y="990600"/>
            <a:ext cx="3641948" cy="2185169"/>
          </a:xfrm>
          <a:prstGeom prst="rect">
            <a:avLst/>
          </a:prstGeom>
          <a:noFill/>
          <a:ln>
            <a:noFill/>
          </a:ln>
        </p:spPr>
      </p:pic>
      <p:sp>
        <p:nvSpPr>
          <p:cNvPr id="348" name="Google Shape;348;p67"/>
          <p:cNvSpPr txBox="1">
            <a:spLocks noGrp="1"/>
          </p:cNvSpPr>
          <p:nvPr>
            <p:ph type="title"/>
          </p:nvPr>
        </p:nvSpPr>
        <p:spPr>
          <a:noFill/>
          <a:ln>
            <a:noFill/>
          </a:ln>
        </p:spPr>
        <p:txBody>
          <a:bodyPr spcFirstLastPara="1" vert="horz" wrap="square" lIns="121900" tIns="60933" rIns="121900" bIns="60933" rtlCol="0" anchor="t" anchorCtr="0">
            <a:noAutofit/>
          </a:bodyPr>
          <a:lstStyle/>
          <a:p>
            <a:r>
              <a:rPr lang="en-US"/>
              <a:t>Use cases for a real-time OS</a:t>
            </a:r>
          </a:p>
        </p:txBody>
      </p:sp>
      <p:sp>
        <p:nvSpPr>
          <p:cNvPr id="349" name="Google Shape;349;p67"/>
          <p:cNvSpPr/>
          <p:nvPr/>
        </p:nvSpPr>
        <p:spPr>
          <a:xfrm>
            <a:off x="427534" y="2895600"/>
            <a:ext cx="3642000" cy="508785"/>
          </a:xfrm>
          <a:prstGeom prst="rect">
            <a:avLst/>
          </a:prstGeom>
          <a:solidFill>
            <a:srgbClr val="0A8276"/>
          </a:solidFill>
          <a:ln>
            <a:noFill/>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latin typeface="+mn-lt"/>
                <a:ea typeface="Arial"/>
                <a:cs typeface="Arial"/>
                <a:sym typeface="Arial"/>
              </a:rPr>
              <a:t>Industrial IoT</a:t>
            </a:r>
            <a:endParaRPr sz="2400" dirty="0">
              <a:solidFill>
                <a:schemeClr val="bg1"/>
              </a:solidFill>
              <a:latin typeface="+mn-lt"/>
              <a:ea typeface="Arial"/>
              <a:cs typeface="Arial"/>
              <a:sym typeface="Arial"/>
            </a:endParaRPr>
          </a:p>
        </p:txBody>
      </p:sp>
      <p:sp>
        <p:nvSpPr>
          <p:cNvPr id="351" name="Google Shape;351;p67"/>
          <p:cNvSpPr/>
          <p:nvPr/>
        </p:nvSpPr>
        <p:spPr>
          <a:xfrm>
            <a:off x="4260167" y="2895600"/>
            <a:ext cx="3642000" cy="508785"/>
          </a:xfrm>
          <a:prstGeom prst="rect">
            <a:avLst/>
          </a:prstGeom>
          <a:solidFill>
            <a:srgbClr val="0A8276"/>
          </a:solidFill>
          <a:ln>
            <a:noFill/>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latin typeface="+mn-lt"/>
                <a:ea typeface="Arial"/>
                <a:cs typeface="Arial"/>
                <a:sym typeface="Arial"/>
              </a:rPr>
              <a:t>Asset Tracking</a:t>
            </a:r>
            <a:endParaRPr sz="2400" dirty="0">
              <a:solidFill>
                <a:schemeClr val="bg1"/>
              </a:solidFill>
              <a:latin typeface="+mn-lt"/>
              <a:ea typeface="Arial"/>
              <a:cs typeface="Arial"/>
              <a:sym typeface="Arial"/>
            </a:endParaRPr>
          </a:p>
        </p:txBody>
      </p:sp>
      <p:sp>
        <p:nvSpPr>
          <p:cNvPr id="353" name="Google Shape;353;p67"/>
          <p:cNvSpPr/>
          <p:nvPr/>
        </p:nvSpPr>
        <p:spPr>
          <a:xfrm>
            <a:off x="8092800" y="2895600"/>
            <a:ext cx="3642000" cy="508785"/>
          </a:xfrm>
          <a:prstGeom prst="rect">
            <a:avLst/>
          </a:prstGeom>
          <a:solidFill>
            <a:srgbClr val="0A8276"/>
          </a:solidFill>
          <a:ln>
            <a:noFill/>
          </a:ln>
          <a:effectLst/>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effectLst/>
                <a:latin typeface="+mn-lt"/>
                <a:ea typeface="Arial"/>
                <a:cs typeface="Arial"/>
                <a:sym typeface="Arial"/>
              </a:rPr>
              <a:t>Wearables</a:t>
            </a:r>
            <a:endParaRPr sz="2400" dirty="0">
              <a:solidFill>
                <a:schemeClr val="bg1"/>
              </a:solidFill>
              <a:effectLst/>
              <a:latin typeface="+mn-lt"/>
              <a:ea typeface="Arial"/>
              <a:cs typeface="Arial"/>
              <a:sym typeface="Arial"/>
            </a:endParaRPr>
          </a:p>
        </p:txBody>
      </p:sp>
      <p:sp>
        <p:nvSpPr>
          <p:cNvPr id="355" name="Google Shape;355;p67"/>
          <p:cNvSpPr/>
          <p:nvPr/>
        </p:nvSpPr>
        <p:spPr>
          <a:xfrm>
            <a:off x="427534" y="5739615"/>
            <a:ext cx="3642000" cy="508785"/>
          </a:xfrm>
          <a:prstGeom prst="rect">
            <a:avLst/>
          </a:prstGeom>
          <a:solidFill>
            <a:srgbClr val="0A8276"/>
          </a:solidFill>
          <a:ln>
            <a:noFill/>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latin typeface="+mn-lt"/>
                <a:ea typeface="Arial"/>
                <a:cs typeface="Arial"/>
                <a:sym typeface="Arial"/>
              </a:rPr>
              <a:t>Automotive</a:t>
            </a:r>
            <a:endParaRPr sz="2400" dirty="0">
              <a:solidFill>
                <a:schemeClr val="bg1"/>
              </a:solidFill>
              <a:latin typeface="+mn-lt"/>
              <a:ea typeface="Arial"/>
              <a:cs typeface="Arial"/>
              <a:sym typeface="Arial"/>
            </a:endParaRPr>
          </a:p>
        </p:txBody>
      </p:sp>
      <p:sp>
        <p:nvSpPr>
          <p:cNvPr id="356" name="Google Shape;356;p67"/>
          <p:cNvSpPr/>
          <p:nvPr/>
        </p:nvSpPr>
        <p:spPr>
          <a:xfrm>
            <a:off x="4260167" y="5739615"/>
            <a:ext cx="3642000" cy="508785"/>
          </a:xfrm>
          <a:prstGeom prst="rect">
            <a:avLst/>
          </a:prstGeom>
          <a:solidFill>
            <a:srgbClr val="0A8276"/>
          </a:solidFill>
          <a:ln>
            <a:noFill/>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latin typeface="+mn-lt"/>
                <a:ea typeface="Arial"/>
                <a:cs typeface="Arial"/>
                <a:sym typeface="Arial"/>
              </a:rPr>
              <a:t>Healthcare</a:t>
            </a:r>
            <a:endParaRPr sz="2400" dirty="0">
              <a:solidFill>
                <a:schemeClr val="bg1"/>
              </a:solidFill>
              <a:latin typeface="+mn-lt"/>
              <a:ea typeface="Arial"/>
              <a:cs typeface="Arial"/>
              <a:sym typeface="Arial"/>
            </a:endParaRPr>
          </a:p>
        </p:txBody>
      </p:sp>
      <p:sp>
        <p:nvSpPr>
          <p:cNvPr id="357" name="Google Shape;357;p67"/>
          <p:cNvSpPr/>
          <p:nvPr/>
        </p:nvSpPr>
        <p:spPr>
          <a:xfrm>
            <a:off x="8092800" y="5739615"/>
            <a:ext cx="3642000" cy="508785"/>
          </a:xfrm>
          <a:prstGeom prst="rect">
            <a:avLst/>
          </a:prstGeom>
          <a:solidFill>
            <a:srgbClr val="0A8276"/>
          </a:solidFill>
          <a:ln>
            <a:noFill/>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r>
              <a:rPr lang="en-US" sz="2400" dirty="0">
                <a:solidFill>
                  <a:schemeClr val="bg1"/>
                </a:solidFill>
                <a:latin typeface="+mn-lt"/>
                <a:ea typeface="Arial"/>
                <a:cs typeface="Arial"/>
                <a:sym typeface="Arial"/>
              </a:rPr>
              <a:t>Worker Safety</a:t>
            </a:r>
            <a:endParaRPr sz="2400" dirty="0">
              <a:solidFill>
                <a:schemeClr val="bg1"/>
              </a:solidFill>
              <a:latin typeface="+mn-lt"/>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7" name="Google Shape;367;p68"/>
          <p:cNvSpPr txBox="1">
            <a:spLocks noGrp="1"/>
          </p:cNvSpPr>
          <p:nvPr>
            <p:ph type="title"/>
          </p:nvPr>
        </p:nvSpPr>
        <p:spPr>
          <a:noFill/>
          <a:ln>
            <a:noFill/>
          </a:ln>
        </p:spPr>
        <p:txBody>
          <a:bodyPr spcFirstLastPara="1" vert="horz" wrap="square" lIns="121900" tIns="60933" rIns="121900" bIns="60933" rtlCol="0" anchor="t" anchorCtr="0">
            <a:noAutofit/>
          </a:bodyPr>
          <a:lstStyle/>
          <a:p>
            <a:r>
              <a:rPr lang="en-US"/>
              <a:t>Products Running Zephyr Today</a:t>
            </a:r>
          </a:p>
        </p:txBody>
      </p:sp>
      <p:grpSp>
        <p:nvGrpSpPr>
          <p:cNvPr id="382" name="Google Shape;382;p68"/>
          <p:cNvGrpSpPr/>
          <p:nvPr/>
        </p:nvGrpSpPr>
        <p:grpSpPr>
          <a:xfrm>
            <a:off x="3745544" y="5980519"/>
            <a:ext cx="4700913" cy="456065"/>
            <a:chOff x="5506800" y="4743714"/>
            <a:chExt cx="3525685" cy="342049"/>
          </a:xfrm>
        </p:grpSpPr>
        <p:sp>
          <p:nvSpPr>
            <p:cNvPr id="383" name="Google Shape;383;p68"/>
            <p:cNvSpPr/>
            <p:nvPr/>
          </p:nvSpPr>
          <p:spPr>
            <a:xfrm>
              <a:off x="5506800" y="4799675"/>
              <a:ext cx="3393900" cy="2466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384" name="Google Shape;384;p68"/>
            <p:cNvSpPr/>
            <p:nvPr/>
          </p:nvSpPr>
          <p:spPr>
            <a:xfrm>
              <a:off x="5916685" y="4808103"/>
              <a:ext cx="3115800" cy="246600"/>
            </a:xfrm>
            <a:prstGeom prst="roundRect">
              <a:avLst>
                <a:gd name="adj" fmla="val 16667"/>
              </a:avLst>
            </a:prstGeom>
            <a:noFill/>
            <a:ln>
              <a:noFill/>
            </a:ln>
          </p:spPr>
          <p:txBody>
            <a:bodyPr spcFirstLastPara="1" wrap="square" lIns="121900" tIns="60933" rIns="121900" bIns="60933" anchor="ctr" anchorCtr="0">
              <a:noAutofit/>
            </a:bodyPr>
            <a:lstStyle/>
            <a:p>
              <a:pPr>
                <a:spcBef>
                  <a:spcPts val="0"/>
                </a:spcBef>
                <a:spcAft>
                  <a:spcPts val="0"/>
                </a:spcAft>
                <a:buClr>
                  <a:srgbClr val="9933FF"/>
                </a:buClr>
                <a:buSzPts val="1800"/>
              </a:pPr>
              <a:r>
                <a:rPr lang="en" sz="1333" b="1" dirty="0">
                  <a:solidFill>
                    <a:schemeClr val="lt1"/>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zephyrproject.org/products-running-zephyr</a:t>
              </a:r>
              <a:r>
                <a:rPr lang="en" sz="1333" b="1" dirty="0">
                  <a:solidFill>
                    <a:schemeClr val="lt1"/>
                  </a:solidFill>
                  <a:latin typeface="Open Sans"/>
                  <a:ea typeface="Open Sans"/>
                  <a:cs typeface="Open Sans"/>
                  <a:sym typeface="Open Sans"/>
                </a:rPr>
                <a:t> </a:t>
              </a:r>
              <a:endParaRPr sz="1333" b="1" dirty="0">
                <a:solidFill>
                  <a:schemeClr val="lt1"/>
                </a:solidFill>
                <a:latin typeface="Open Sans"/>
                <a:ea typeface="Open Sans"/>
                <a:cs typeface="Open Sans"/>
                <a:sym typeface="Open Sans"/>
              </a:endParaRPr>
            </a:p>
          </p:txBody>
        </p:sp>
        <p:pic>
          <p:nvPicPr>
            <p:cNvPr id="385" name="Google Shape;385;p68"/>
            <p:cNvPicPr preferRelativeResize="0"/>
            <p:nvPr/>
          </p:nvPicPr>
          <p:blipFill rotWithShape="1">
            <a:blip r:embed="rId4">
              <a:alphaModFix/>
            </a:blip>
            <a:srcRect/>
            <a:stretch/>
          </p:blipFill>
          <p:spPr>
            <a:xfrm>
              <a:off x="5573720" y="4743714"/>
              <a:ext cx="342049" cy="342049"/>
            </a:xfrm>
            <a:prstGeom prst="rect">
              <a:avLst/>
            </a:prstGeom>
            <a:noFill/>
            <a:ln>
              <a:noFill/>
            </a:ln>
          </p:spPr>
        </p:pic>
      </p:grpSp>
      <p:graphicFrame>
        <p:nvGraphicFramePr>
          <p:cNvPr id="40" name="Google Shape;188;p27">
            <a:extLst>
              <a:ext uri="{FF2B5EF4-FFF2-40B4-BE49-F238E27FC236}">
                <a16:creationId xmlns:a16="http://schemas.microsoft.com/office/drawing/2014/main" id="{E85BAA0C-638A-C071-5621-AC19665B9D88}"/>
              </a:ext>
            </a:extLst>
          </p:cNvPr>
          <p:cNvGraphicFramePr/>
          <p:nvPr>
            <p:extLst>
              <p:ext uri="{D42A27DB-BD31-4B8C-83A1-F6EECF244321}">
                <p14:modId xmlns:p14="http://schemas.microsoft.com/office/powerpoint/2010/main" val="3305250194"/>
              </p:ext>
            </p:extLst>
          </p:nvPr>
        </p:nvGraphicFramePr>
        <p:xfrm>
          <a:off x="267299" y="1889117"/>
          <a:ext cx="11457156" cy="5308400"/>
        </p:xfrm>
        <a:graphic>
          <a:graphicData uri="http://schemas.openxmlformats.org/drawingml/2006/table">
            <a:tbl>
              <a:tblPr>
                <a:noFill/>
              </a:tblPr>
              <a:tblGrid>
                <a:gridCol w="1909526">
                  <a:extLst>
                    <a:ext uri="{9D8B030D-6E8A-4147-A177-3AD203B41FA5}">
                      <a16:colId xmlns:a16="http://schemas.microsoft.com/office/drawing/2014/main" val="20000"/>
                    </a:ext>
                  </a:extLst>
                </a:gridCol>
                <a:gridCol w="1909526">
                  <a:extLst>
                    <a:ext uri="{9D8B030D-6E8A-4147-A177-3AD203B41FA5}">
                      <a16:colId xmlns:a16="http://schemas.microsoft.com/office/drawing/2014/main" val="20001"/>
                    </a:ext>
                  </a:extLst>
                </a:gridCol>
                <a:gridCol w="1909526">
                  <a:extLst>
                    <a:ext uri="{9D8B030D-6E8A-4147-A177-3AD203B41FA5}">
                      <a16:colId xmlns:a16="http://schemas.microsoft.com/office/drawing/2014/main" val="20002"/>
                    </a:ext>
                  </a:extLst>
                </a:gridCol>
                <a:gridCol w="1909526">
                  <a:extLst>
                    <a:ext uri="{9D8B030D-6E8A-4147-A177-3AD203B41FA5}">
                      <a16:colId xmlns:a16="http://schemas.microsoft.com/office/drawing/2014/main" val="20003"/>
                    </a:ext>
                  </a:extLst>
                </a:gridCol>
                <a:gridCol w="1909526">
                  <a:extLst>
                    <a:ext uri="{9D8B030D-6E8A-4147-A177-3AD203B41FA5}">
                      <a16:colId xmlns:a16="http://schemas.microsoft.com/office/drawing/2014/main" val="20004"/>
                    </a:ext>
                  </a:extLst>
                </a:gridCol>
                <a:gridCol w="1909526">
                  <a:extLst>
                    <a:ext uri="{9D8B030D-6E8A-4147-A177-3AD203B41FA5}">
                      <a16:colId xmlns:a16="http://schemas.microsoft.com/office/drawing/2014/main" val="20005"/>
                    </a:ext>
                  </a:extLst>
                </a:gridCol>
              </a:tblGrid>
              <a:tr h="1725108">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Oticon More Hearing Aid</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Lildog &amp; Lilcat</a:t>
                      </a:r>
                      <a:br>
                        <a:rPr lang="en" sz="1000" b="1">
                          <a:solidFill>
                            <a:schemeClr val="dk1"/>
                          </a:solidFill>
                          <a:latin typeface="Open Sans"/>
                          <a:ea typeface="Open Sans"/>
                          <a:cs typeface="Open Sans"/>
                          <a:sym typeface="Open Sans"/>
                        </a:rPr>
                      </a:br>
                      <a:r>
                        <a:rPr lang="en" sz="1000" b="1">
                          <a:solidFill>
                            <a:schemeClr val="dk1"/>
                          </a:solidFill>
                          <a:latin typeface="Open Sans"/>
                          <a:ea typeface="Open Sans"/>
                          <a:cs typeface="Open Sans"/>
                          <a:sym typeface="Open Sans"/>
                        </a:rPr>
                        <a:t>Pet Tracker</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Clr>
                          <a:schemeClr val="dk1"/>
                        </a:buClr>
                        <a:buSzPts val="1100"/>
                        <a:buFont typeface="Arial"/>
                        <a:buNone/>
                      </a:pPr>
                      <a:r>
                        <a:rPr lang="en" sz="1000" b="1">
                          <a:solidFill>
                            <a:schemeClr val="dk1"/>
                          </a:solidFill>
                          <a:latin typeface="Open Sans"/>
                          <a:ea typeface="Open Sans"/>
                          <a:cs typeface="Open Sans"/>
                          <a:sym typeface="Open Sans"/>
                        </a:rPr>
                        <a:t>Livestock Tracker</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Moto Watch 100</a:t>
                      </a:r>
                      <a:endParaRPr sz="1000" b="1">
                        <a:solidFill>
                          <a:schemeClr val="dk1"/>
                        </a:solidFill>
                        <a:latin typeface="Open Sans"/>
                        <a:ea typeface="Open Sans"/>
                        <a:cs typeface="Open Sans"/>
                        <a:sym typeface="Open Sans"/>
                      </a:endParaRPr>
                    </a:p>
                    <a:p>
                      <a:pPr marL="0" lvl="0" indent="0" algn="ctr" rtl="0">
                        <a:spcBef>
                          <a:spcPts val="0"/>
                        </a:spcBef>
                        <a:spcAft>
                          <a:spcPts val="0"/>
                        </a:spcAft>
                        <a:buNone/>
                      </a:pP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Samsung Galaxy Ring </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Proglove</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858184">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Adhoc Smart Waste </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Google Chromebook</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Framework laptop</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Keeb.io BDN9</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dirty="0">
                          <a:solidFill>
                            <a:schemeClr val="dk1"/>
                          </a:solidFill>
                          <a:latin typeface="Open Sans"/>
                          <a:ea typeface="Open Sans"/>
                          <a:cs typeface="Open Sans"/>
                          <a:sym typeface="Open Sans"/>
                        </a:rPr>
                        <a:t>Hati-ACE</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spcBef>
                          <a:spcPts val="0"/>
                        </a:spcBef>
                        <a:spcAft>
                          <a:spcPts val="0"/>
                        </a:spcAft>
                        <a:buNone/>
                      </a:pPr>
                      <a:r>
                        <a:rPr lang="en" sz="1000" b="1">
                          <a:solidFill>
                            <a:schemeClr val="dk1"/>
                          </a:solidFill>
                          <a:latin typeface="Open Sans"/>
                          <a:ea typeface="Open Sans"/>
                          <a:cs typeface="Open Sans"/>
                          <a:sym typeface="Open Sans"/>
                        </a:rPr>
                        <a:t>Blackhole™</a:t>
                      </a:r>
                      <a:br>
                        <a:rPr lang="en" sz="1000" b="1">
                          <a:solidFill>
                            <a:schemeClr val="dk1"/>
                          </a:solidFill>
                          <a:latin typeface="Open Sans"/>
                          <a:ea typeface="Open Sans"/>
                          <a:cs typeface="Open Sans"/>
                          <a:sym typeface="Open Sans"/>
                        </a:rPr>
                      </a:br>
                      <a:r>
                        <a:rPr lang="en" sz="1000" b="1">
                          <a:solidFill>
                            <a:schemeClr val="dk1"/>
                          </a:solidFill>
                          <a:latin typeface="Open Sans"/>
                          <a:ea typeface="Open Sans"/>
                          <a:cs typeface="Open Sans"/>
                          <a:sym typeface="Open Sans"/>
                        </a:rPr>
                        <a:t>PCIe AI Accelerator</a:t>
                      </a:r>
                      <a:endParaRPr sz="1000" b="1">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1725108">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lnSpc>
                          <a:spcPts val="1200"/>
                        </a:lnSpc>
                        <a:spcBef>
                          <a:spcPts val="0"/>
                        </a:spcBef>
                        <a:spcAft>
                          <a:spcPts val="0"/>
                        </a:spcAft>
                        <a:buNone/>
                      </a:pPr>
                      <a:r>
                        <a:rPr lang="en" sz="1000" b="1" dirty="0">
                          <a:solidFill>
                            <a:schemeClr val="dk1"/>
                          </a:solidFill>
                          <a:latin typeface="Open Sans"/>
                          <a:ea typeface="Open Sans"/>
                          <a:cs typeface="Open Sans"/>
                          <a:sym typeface="Open Sans"/>
                        </a:rPr>
                        <a:t>BLiXT solid state circuit breaker</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lnSpc>
                          <a:spcPts val="1200"/>
                        </a:lnSpc>
                        <a:spcBef>
                          <a:spcPts val="0"/>
                        </a:spcBef>
                        <a:spcAft>
                          <a:spcPts val="0"/>
                        </a:spcAft>
                        <a:buNone/>
                      </a:pPr>
                      <a:r>
                        <a:rPr lang="en" sz="1000" b="1" dirty="0">
                          <a:solidFill>
                            <a:schemeClr val="dk1"/>
                          </a:solidFill>
                          <a:latin typeface="Open Sans"/>
                          <a:ea typeface="Open Sans"/>
                          <a:cs typeface="Open Sans"/>
                          <a:sym typeface="Open Sans"/>
                        </a:rPr>
                        <a:t>Aethero Deimos Satellite</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l" rtl="0">
                        <a:lnSpc>
                          <a:spcPts val="1200"/>
                        </a:lnSpc>
                        <a:spcBef>
                          <a:spcPts val="0"/>
                        </a:spcBef>
                        <a:spcAft>
                          <a:spcPts val="0"/>
                        </a:spcAft>
                        <a:buNone/>
                      </a:pPr>
                      <a:r>
                        <a:rPr lang="en" sz="1000" b="1" dirty="0">
                          <a:solidFill>
                            <a:schemeClr val="dk1"/>
                          </a:solidFill>
                          <a:latin typeface="Open Sans"/>
                          <a:ea typeface="Open Sans"/>
                          <a:cs typeface="Open Sans"/>
                          <a:sym typeface="Open Sans"/>
                        </a:rPr>
                        <a:t>       PHYTEC Distancer</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lnSpc>
                          <a:spcPts val="1200"/>
                        </a:lnSpc>
                        <a:spcBef>
                          <a:spcPts val="0"/>
                        </a:spcBef>
                        <a:spcAft>
                          <a:spcPts val="0"/>
                        </a:spcAft>
                        <a:buNone/>
                      </a:pPr>
                      <a:r>
                        <a:rPr lang="en" sz="1000" b="1" dirty="0">
                          <a:solidFill>
                            <a:schemeClr val="dk1"/>
                          </a:solidFill>
                          <a:latin typeface="Open Sans"/>
                          <a:ea typeface="Open Sans"/>
                          <a:cs typeface="Open Sans"/>
                          <a:sym typeface="Open Sans"/>
                        </a:rPr>
                        <a:t>Laird Connectivity sensors &amp; gateways</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lnSpc>
                          <a:spcPts val="1200"/>
                        </a:lnSpc>
                        <a:spcBef>
                          <a:spcPts val="0"/>
                        </a:spcBef>
                        <a:spcAft>
                          <a:spcPts val="0"/>
                        </a:spcAft>
                        <a:buNone/>
                      </a:pPr>
                      <a:r>
                        <a:rPr lang="en" sz="1000" b="1" dirty="0">
                          <a:solidFill>
                            <a:schemeClr val="dk1"/>
                          </a:solidFill>
                          <a:latin typeface="Open Sans"/>
                          <a:ea typeface="Open Sans"/>
                          <a:cs typeface="Open Sans"/>
                          <a:sym typeface="Open Sans"/>
                        </a:rPr>
                        <a:t>BeST pump monitoring</a:t>
                      </a:r>
                      <a:endParaRPr sz="1000" b="1" u="sng" dirty="0">
                        <a:solidFill>
                          <a:srgbClr val="FF0000"/>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tc>
                  <a:txBody>
                    <a:bodyPr/>
                    <a:lstStyle>
                      <a:lvl1pPr marL="0" algn="l" defTabSz="1219170" rtl="0" eaLnBrk="1" latinLnBrk="0" hangingPunct="1">
                        <a:defRPr sz="1800" kern="1200">
                          <a:solidFill>
                            <a:schemeClr val="tx1"/>
                          </a:solidFill>
                          <a:latin typeface="Arial"/>
                        </a:defRPr>
                      </a:lvl1pPr>
                      <a:lvl2pPr marL="609585" algn="l" defTabSz="1219170" rtl="0" eaLnBrk="1" latinLnBrk="0" hangingPunct="1">
                        <a:defRPr sz="1800" kern="1200">
                          <a:solidFill>
                            <a:schemeClr val="tx1"/>
                          </a:solidFill>
                          <a:latin typeface="Arial"/>
                        </a:defRPr>
                      </a:lvl2pPr>
                      <a:lvl3pPr marL="1219170" algn="l" defTabSz="1219170" rtl="0" eaLnBrk="1" latinLnBrk="0" hangingPunct="1">
                        <a:defRPr sz="1800" kern="1200">
                          <a:solidFill>
                            <a:schemeClr val="tx1"/>
                          </a:solidFill>
                          <a:latin typeface="Arial"/>
                        </a:defRPr>
                      </a:lvl3pPr>
                      <a:lvl4pPr marL="1828754" algn="l" defTabSz="1219170" rtl="0" eaLnBrk="1" latinLnBrk="0" hangingPunct="1">
                        <a:defRPr sz="1800" kern="1200">
                          <a:solidFill>
                            <a:schemeClr val="tx1"/>
                          </a:solidFill>
                          <a:latin typeface="Arial"/>
                        </a:defRPr>
                      </a:lvl4pPr>
                      <a:lvl5pPr marL="2438339" algn="l" defTabSz="1219170" rtl="0" eaLnBrk="1" latinLnBrk="0" hangingPunct="1">
                        <a:defRPr sz="1800" kern="1200">
                          <a:solidFill>
                            <a:schemeClr val="tx1"/>
                          </a:solidFill>
                          <a:latin typeface="Arial"/>
                        </a:defRPr>
                      </a:lvl5pPr>
                      <a:lvl6pPr marL="3047924" algn="l" defTabSz="1219170" rtl="0" eaLnBrk="1" latinLnBrk="0" hangingPunct="1">
                        <a:defRPr sz="1800" kern="1200">
                          <a:solidFill>
                            <a:schemeClr val="tx1"/>
                          </a:solidFill>
                          <a:latin typeface="Arial"/>
                        </a:defRPr>
                      </a:lvl6pPr>
                      <a:lvl7pPr marL="3657509" algn="l" defTabSz="1219170" rtl="0" eaLnBrk="1" latinLnBrk="0" hangingPunct="1">
                        <a:defRPr sz="1800" kern="1200">
                          <a:solidFill>
                            <a:schemeClr val="tx1"/>
                          </a:solidFill>
                          <a:latin typeface="Arial"/>
                        </a:defRPr>
                      </a:lvl7pPr>
                      <a:lvl8pPr marL="4267093" algn="l" defTabSz="1219170" rtl="0" eaLnBrk="1" latinLnBrk="0" hangingPunct="1">
                        <a:defRPr sz="1800" kern="1200">
                          <a:solidFill>
                            <a:schemeClr val="tx1"/>
                          </a:solidFill>
                          <a:latin typeface="Arial"/>
                        </a:defRPr>
                      </a:lvl8pPr>
                      <a:lvl9pPr marL="4876678" algn="l" defTabSz="1219170" rtl="0" eaLnBrk="1" latinLnBrk="0" hangingPunct="1">
                        <a:defRPr sz="1800" kern="1200">
                          <a:solidFill>
                            <a:schemeClr val="tx1"/>
                          </a:solidFill>
                          <a:latin typeface="Arial"/>
                        </a:defRPr>
                      </a:lvl9pPr>
                    </a:lstStyle>
                    <a:p>
                      <a:pPr marL="0" lvl="0" indent="0" algn="ctr" rtl="0">
                        <a:lnSpc>
                          <a:spcPts val="1200"/>
                        </a:lnSpc>
                        <a:spcBef>
                          <a:spcPts val="0"/>
                        </a:spcBef>
                        <a:spcAft>
                          <a:spcPts val="0"/>
                        </a:spcAft>
                        <a:buNone/>
                      </a:pPr>
                      <a:r>
                        <a:rPr lang="en" sz="1000" b="1" dirty="0">
                          <a:solidFill>
                            <a:schemeClr val="dk1"/>
                          </a:solidFill>
                          <a:latin typeface="Open Sans"/>
                          <a:ea typeface="Open Sans"/>
                          <a:cs typeface="Open Sans"/>
                          <a:sym typeface="Open Sans"/>
                        </a:rPr>
                        <a:t>Vestas Wind Turbines</a:t>
                      </a:r>
                      <a:endParaRPr sz="1000" b="1" dirty="0">
                        <a:solidFill>
                          <a:schemeClr val="dk1"/>
                        </a:solidFill>
                        <a:latin typeface="Open Sans"/>
                        <a:ea typeface="Open Sans"/>
                        <a:cs typeface="Open Sans"/>
                        <a:sym typeface="Open Sans"/>
                      </a:endParaRPr>
                    </a:p>
                  </a:txBody>
                  <a:tcPr marL="91425" marR="91425" marT="91425" marB="91425">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p:pic>
        <p:nvPicPr>
          <p:cNvPr id="41" name="Google Shape;190;p27">
            <a:extLst>
              <a:ext uri="{FF2B5EF4-FFF2-40B4-BE49-F238E27FC236}">
                <a16:creationId xmlns:a16="http://schemas.microsoft.com/office/drawing/2014/main" id="{8933D733-6CB2-D081-60BF-DE6A87C6D717}"/>
              </a:ext>
            </a:extLst>
          </p:cNvPr>
          <p:cNvPicPr preferRelativeResize="0"/>
          <p:nvPr/>
        </p:nvPicPr>
        <p:blipFill>
          <a:blip r:embed="rId5">
            <a:alphaModFix/>
          </a:blip>
          <a:stretch>
            <a:fillRect/>
          </a:stretch>
        </p:blipFill>
        <p:spPr>
          <a:xfrm rot="1102967">
            <a:off x="10276819" y="903715"/>
            <a:ext cx="1179816" cy="1179814"/>
          </a:xfrm>
          <a:prstGeom prst="rect">
            <a:avLst/>
          </a:prstGeom>
          <a:noFill/>
          <a:ln>
            <a:noFill/>
          </a:ln>
        </p:spPr>
      </p:pic>
      <p:pic>
        <p:nvPicPr>
          <p:cNvPr id="42" name="Google Shape;191;p27">
            <a:extLst>
              <a:ext uri="{FF2B5EF4-FFF2-40B4-BE49-F238E27FC236}">
                <a16:creationId xmlns:a16="http://schemas.microsoft.com/office/drawing/2014/main" id="{A3A3DCCA-1C5F-245F-841B-4F0A8741A268}"/>
              </a:ext>
            </a:extLst>
          </p:cNvPr>
          <p:cNvPicPr preferRelativeResize="0"/>
          <p:nvPr/>
        </p:nvPicPr>
        <p:blipFill>
          <a:blip r:embed="rId6">
            <a:alphaModFix/>
          </a:blip>
          <a:stretch>
            <a:fillRect/>
          </a:stretch>
        </p:blipFill>
        <p:spPr>
          <a:xfrm>
            <a:off x="6419748" y="2659525"/>
            <a:ext cx="1149480" cy="889414"/>
          </a:xfrm>
          <a:prstGeom prst="rect">
            <a:avLst/>
          </a:prstGeom>
          <a:noFill/>
          <a:ln>
            <a:noFill/>
          </a:ln>
        </p:spPr>
      </p:pic>
      <p:pic>
        <p:nvPicPr>
          <p:cNvPr id="43" name="Google Shape;192;p27">
            <a:extLst>
              <a:ext uri="{FF2B5EF4-FFF2-40B4-BE49-F238E27FC236}">
                <a16:creationId xmlns:a16="http://schemas.microsoft.com/office/drawing/2014/main" id="{4DDEED3C-7DE5-979C-3191-316F65C813ED}"/>
              </a:ext>
            </a:extLst>
          </p:cNvPr>
          <p:cNvPicPr preferRelativeResize="0"/>
          <p:nvPr/>
        </p:nvPicPr>
        <p:blipFill rotWithShape="1">
          <a:blip r:embed="rId7">
            <a:alphaModFix/>
          </a:blip>
          <a:srcRect l="24157" t="32792" r="20333" b="28699"/>
          <a:stretch/>
        </p:blipFill>
        <p:spPr>
          <a:xfrm>
            <a:off x="8190286" y="2669568"/>
            <a:ext cx="1330558" cy="922998"/>
          </a:xfrm>
          <a:prstGeom prst="rect">
            <a:avLst/>
          </a:prstGeom>
          <a:noFill/>
          <a:ln>
            <a:noFill/>
          </a:ln>
        </p:spPr>
      </p:pic>
      <p:pic>
        <p:nvPicPr>
          <p:cNvPr id="44" name="Google Shape;193;p27">
            <a:extLst>
              <a:ext uri="{FF2B5EF4-FFF2-40B4-BE49-F238E27FC236}">
                <a16:creationId xmlns:a16="http://schemas.microsoft.com/office/drawing/2014/main" id="{C2A8E987-84DE-0AB0-D9B6-329D83A914FE}"/>
              </a:ext>
            </a:extLst>
          </p:cNvPr>
          <p:cNvPicPr preferRelativeResize="0"/>
          <p:nvPr/>
        </p:nvPicPr>
        <p:blipFill rotWithShape="1">
          <a:blip r:embed="rId8">
            <a:alphaModFix/>
          </a:blip>
          <a:srcRect l="29723" t="18401" r="32633" b="19743"/>
          <a:stretch/>
        </p:blipFill>
        <p:spPr>
          <a:xfrm>
            <a:off x="4585922" y="4350880"/>
            <a:ext cx="769502" cy="1013230"/>
          </a:xfrm>
          <a:prstGeom prst="rect">
            <a:avLst/>
          </a:prstGeom>
          <a:noFill/>
          <a:ln>
            <a:noFill/>
          </a:ln>
        </p:spPr>
      </p:pic>
      <p:pic>
        <p:nvPicPr>
          <p:cNvPr id="45" name="Google Shape;194;p27">
            <a:extLst>
              <a:ext uri="{FF2B5EF4-FFF2-40B4-BE49-F238E27FC236}">
                <a16:creationId xmlns:a16="http://schemas.microsoft.com/office/drawing/2014/main" id="{1BE32803-1A1B-3AFB-4053-7D77F8FA9929}"/>
              </a:ext>
            </a:extLst>
          </p:cNvPr>
          <p:cNvPicPr preferRelativeResize="0"/>
          <p:nvPr/>
        </p:nvPicPr>
        <p:blipFill>
          <a:blip r:embed="rId9">
            <a:alphaModFix/>
          </a:blip>
          <a:stretch>
            <a:fillRect/>
          </a:stretch>
        </p:blipFill>
        <p:spPr>
          <a:xfrm>
            <a:off x="716555" y="1026448"/>
            <a:ext cx="1248458" cy="853756"/>
          </a:xfrm>
          <a:prstGeom prst="rect">
            <a:avLst/>
          </a:prstGeom>
          <a:noFill/>
          <a:ln>
            <a:noFill/>
          </a:ln>
        </p:spPr>
      </p:pic>
      <p:pic>
        <p:nvPicPr>
          <p:cNvPr id="46" name="Google Shape;195;p27">
            <a:extLst>
              <a:ext uri="{FF2B5EF4-FFF2-40B4-BE49-F238E27FC236}">
                <a16:creationId xmlns:a16="http://schemas.microsoft.com/office/drawing/2014/main" id="{24906DC0-DEB8-B498-D657-77CCD8D56CBE}"/>
              </a:ext>
            </a:extLst>
          </p:cNvPr>
          <p:cNvPicPr preferRelativeResize="0"/>
          <p:nvPr/>
        </p:nvPicPr>
        <p:blipFill>
          <a:blip r:embed="rId10">
            <a:alphaModFix/>
          </a:blip>
          <a:stretch>
            <a:fillRect/>
          </a:stretch>
        </p:blipFill>
        <p:spPr>
          <a:xfrm>
            <a:off x="970570" y="4501525"/>
            <a:ext cx="559426" cy="840618"/>
          </a:xfrm>
          <a:prstGeom prst="rect">
            <a:avLst/>
          </a:prstGeom>
          <a:noFill/>
          <a:ln>
            <a:noFill/>
          </a:ln>
        </p:spPr>
      </p:pic>
      <p:pic>
        <p:nvPicPr>
          <p:cNvPr id="47" name="Google Shape;196;p27">
            <a:extLst>
              <a:ext uri="{FF2B5EF4-FFF2-40B4-BE49-F238E27FC236}">
                <a16:creationId xmlns:a16="http://schemas.microsoft.com/office/drawing/2014/main" id="{45E5ABD1-DC0F-060C-D190-C154D607A3A1}"/>
              </a:ext>
            </a:extLst>
          </p:cNvPr>
          <p:cNvPicPr preferRelativeResize="0"/>
          <p:nvPr/>
        </p:nvPicPr>
        <p:blipFill>
          <a:blip r:embed="rId11">
            <a:alphaModFix/>
          </a:blip>
          <a:stretch>
            <a:fillRect/>
          </a:stretch>
        </p:blipFill>
        <p:spPr>
          <a:xfrm>
            <a:off x="6523776" y="1119593"/>
            <a:ext cx="791178" cy="791178"/>
          </a:xfrm>
          <a:prstGeom prst="rect">
            <a:avLst/>
          </a:prstGeom>
          <a:noFill/>
          <a:ln>
            <a:noFill/>
          </a:ln>
        </p:spPr>
      </p:pic>
      <p:pic>
        <p:nvPicPr>
          <p:cNvPr id="48" name="Google Shape;197;p27">
            <a:extLst>
              <a:ext uri="{FF2B5EF4-FFF2-40B4-BE49-F238E27FC236}">
                <a16:creationId xmlns:a16="http://schemas.microsoft.com/office/drawing/2014/main" id="{74064D7B-B85A-0B38-1D72-E4E709BCDF9B}"/>
              </a:ext>
            </a:extLst>
          </p:cNvPr>
          <p:cNvPicPr preferRelativeResize="0"/>
          <p:nvPr/>
        </p:nvPicPr>
        <p:blipFill rotWithShape="1">
          <a:blip r:embed="rId12">
            <a:alphaModFix/>
          </a:blip>
          <a:srcRect l="16591" t="21709" r="19864" b="16722"/>
          <a:stretch/>
        </p:blipFill>
        <p:spPr>
          <a:xfrm>
            <a:off x="4740163" y="1197435"/>
            <a:ext cx="767406" cy="585064"/>
          </a:xfrm>
          <a:prstGeom prst="rect">
            <a:avLst/>
          </a:prstGeom>
          <a:noFill/>
          <a:ln>
            <a:noFill/>
          </a:ln>
        </p:spPr>
      </p:pic>
      <p:pic>
        <p:nvPicPr>
          <p:cNvPr id="49" name="Google Shape;198;p27">
            <a:extLst>
              <a:ext uri="{FF2B5EF4-FFF2-40B4-BE49-F238E27FC236}">
                <a16:creationId xmlns:a16="http://schemas.microsoft.com/office/drawing/2014/main" id="{11892419-AF25-E82A-6018-16150220EBB0}"/>
              </a:ext>
            </a:extLst>
          </p:cNvPr>
          <p:cNvPicPr preferRelativeResize="0"/>
          <p:nvPr/>
        </p:nvPicPr>
        <p:blipFill>
          <a:blip r:embed="rId13">
            <a:alphaModFix/>
          </a:blip>
          <a:stretch>
            <a:fillRect/>
          </a:stretch>
        </p:blipFill>
        <p:spPr>
          <a:xfrm>
            <a:off x="10225413" y="4467841"/>
            <a:ext cx="1191303" cy="924686"/>
          </a:xfrm>
          <a:prstGeom prst="rect">
            <a:avLst/>
          </a:prstGeom>
          <a:noFill/>
          <a:ln>
            <a:noFill/>
          </a:ln>
        </p:spPr>
      </p:pic>
      <p:pic>
        <p:nvPicPr>
          <p:cNvPr id="50" name="Google Shape;199;p27">
            <a:extLst>
              <a:ext uri="{FF2B5EF4-FFF2-40B4-BE49-F238E27FC236}">
                <a16:creationId xmlns:a16="http://schemas.microsoft.com/office/drawing/2014/main" id="{8027056B-0E1E-807A-17EC-941D03D00132}"/>
              </a:ext>
            </a:extLst>
          </p:cNvPr>
          <p:cNvPicPr preferRelativeResize="0"/>
          <p:nvPr/>
        </p:nvPicPr>
        <p:blipFill>
          <a:blip r:embed="rId14">
            <a:alphaModFix/>
          </a:blip>
          <a:stretch>
            <a:fillRect/>
          </a:stretch>
        </p:blipFill>
        <p:spPr>
          <a:xfrm>
            <a:off x="6483140" y="4467842"/>
            <a:ext cx="1022695" cy="924687"/>
          </a:xfrm>
          <a:prstGeom prst="rect">
            <a:avLst/>
          </a:prstGeom>
          <a:noFill/>
          <a:ln>
            <a:noFill/>
          </a:ln>
        </p:spPr>
      </p:pic>
      <p:pic>
        <p:nvPicPr>
          <p:cNvPr id="51" name="Google Shape;204;p27">
            <a:extLst>
              <a:ext uri="{FF2B5EF4-FFF2-40B4-BE49-F238E27FC236}">
                <a16:creationId xmlns:a16="http://schemas.microsoft.com/office/drawing/2014/main" id="{3A647463-092A-03B1-D1FC-D2A26F2A2678}"/>
              </a:ext>
            </a:extLst>
          </p:cNvPr>
          <p:cNvPicPr preferRelativeResize="0"/>
          <p:nvPr/>
        </p:nvPicPr>
        <p:blipFill rotWithShape="1">
          <a:blip r:embed="rId15">
            <a:alphaModFix/>
          </a:blip>
          <a:srcRect l="17041" t="6423" r="16882" b="5346"/>
          <a:stretch/>
        </p:blipFill>
        <p:spPr>
          <a:xfrm>
            <a:off x="2760793" y="1105269"/>
            <a:ext cx="791166" cy="739546"/>
          </a:xfrm>
          <a:prstGeom prst="rect">
            <a:avLst/>
          </a:prstGeom>
          <a:noFill/>
          <a:ln>
            <a:noFill/>
          </a:ln>
        </p:spPr>
      </p:pic>
      <p:pic>
        <p:nvPicPr>
          <p:cNvPr id="52" name="Google Shape;205;p27">
            <a:extLst>
              <a:ext uri="{FF2B5EF4-FFF2-40B4-BE49-F238E27FC236}">
                <a16:creationId xmlns:a16="http://schemas.microsoft.com/office/drawing/2014/main" id="{55B8D4FD-FA50-2AAC-C01F-FE21B8504142}"/>
              </a:ext>
            </a:extLst>
          </p:cNvPr>
          <p:cNvPicPr preferRelativeResize="0"/>
          <p:nvPr/>
        </p:nvPicPr>
        <p:blipFill>
          <a:blip r:embed="rId16">
            <a:alphaModFix/>
          </a:blip>
          <a:stretch>
            <a:fillRect/>
          </a:stretch>
        </p:blipFill>
        <p:spPr>
          <a:xfrm>
            <a:off x="274064" y="2710098"/>
            <a:ext cx="1687712" cy="1018840"/>
          </a:xfrm>
          <a:prstGeom prst="rect">
            <a:avLst/>
          </a:prstGeom>
          <a:noFill/>
          <a:ln>
            <a:noFill/>
          </a:ln>
        </p:spPr>
      </p:pic>
      <p:pic>
        <p:nvPicPr>
          <p:cNvPr id="53" name="Google Shape;206;p27">
            <a:extLst>
              <a:ext uri="{FF2B5EF4-FFF2-40B4-BE49-F238E27FC236}">
                <a16:creationId xmlns:a16="http://schemas.microsoft.com/office/drawing/2014/main" id="{466B28A5-76F3-28F8-05A3-C33B54E7C3CC}"/>
              </a:ext>
            </a:extLst>
          </p:cNvPr>
          <p:cNvPicPr preferRelativeResize="0"/>
          <p:nvPr/>
        </p:nvPicPr>
        <p:blipFill>
          <a:blip r:embed="rId17">
            <a:alphaModFix/>
          </a:blip>
          <a:stretch>
            <a:fillRect/>
          </a:stretch>
        </p:blipFill>
        <p:spPr>
          <a:xfrm>
            <a:off x="8364481" y="4421608"/>
            <a:ext cx="1148398" cy="1017153"/>
          </a:xfrm>
          <a:prstGeom prst="rect">
            <a:avLst/>
          </a:prstGeom>
          <a:noFill/>
          <a:ln>
            <a:noFill/>
          </a:ln>
        </p:spPr>
      </p:pic>
      <p:pic>
        <p:nvPicPr>
          <p:cNvPr id="54" name="Google Shape;207;p27">
            <a:extLst>
              <a:ext uri="{FF2B5EF4-FFF2-40B4-BE49-F238E27FC236}">
                <a16:creationId xmlns:a16="http://schemas.microsoft.com/office/drawing/2014/main" id="{040CE164-C927-B33A-873F-E8C266901BA5}"/>
              </a:ext>
            </a:extLst>
          </p:cNvPr>
          <p:cNvPicPr preferRelativeResize="0"/>
          <p:nvPr/>
        </p:nvPicPr>
        <p:blipFill>
          <a:blip r:embed="rId18">
            <a:alphaModFix/>
          </a:blip>
          <a:stretch>
            <a:fillRect/>
          </a:stretch>
        </p:blipFill>
        <p:spPr>
          <a:xfrm>
            <a:off x="4585922" y="2594984"/>
            <a:ext cx="1190640" cy="1072166"/>
          </a:xfrm>
          <a:prstGeom prst="rect">
            <a:avLst/>
          </a:prstGeom>
          <a:noFill/>
          <a:ln>
            <a:noFill/>
          </a:ln>
        </p:spPr>
      </p:pic>
      <p:pic>
        <p:nvPicPr>
          <p:cNvPr id="55" name="Google Shape;208;p27">
            <a:extLst>
              <a:ext uri="{FF2B5EF4-FFF2-40B4-BE49-F238E27FC236}">
                <a16:creationId xmlns:a16="http://schemas.microsoft.com/office/drawing/2014/main" id="{C53F3402-DDAD-43D4-A9AF-745B4B04B3BB}"/>
              </a:ext>
            </a:extLst>
          </p:cNvPr>
          <p:cNvPicPr preferRelativeResize="0"/>
          <p:nvPr/>
        </p:nvPicPr>
        <p:blipFill>
          <a:blip r:embed="rId19">
            <a:alphaModFix/>
          </a:blip>
          <a:stretch>
            <a:fillRect/>
          </a:stretch>
        </p:blipFill>
        <p:spPr>
          <a:xfrm>
            <a:off x="8305800" y="1091405"/>
            <a:ext cx="1019306" cy="775078"/>
          </a:xfrm>
          <a:prstGeom prst="rect">
            <a:avLst/>
          </a:prstGeom>
          <a:noFill/>
          <a:ln>
            <a:noFill/>
          </a:ln>
        </p:spPr>
      </p:pic>
      <p:pic>
        <p:nvPicPr>
          <p:cNvPr id="56" name="Google Shape;209;p27">
            <a:extLst>
              <a:ext uri="{FF2B5EF4-FFF2-40B4-BE49-F238E27FC236}">
                <a16:creationId xmlns:a16="http://schemas.microsoft.com/office/drawing/2014/main" id="{8AA0E3DD-C8DE-BE9E-2599-C310972EA47F}"/>
              </a:ext>
            </a:extLst>
          </p:cNvPr>
          <p:cNvPicPr preferRelativeResize="0"/>
          <p:nvPr/>
        </p:nvPicPr>
        <p:blipFill>
          <a:blip r:embed="rId20">
            <a:alphaModFix/>
          </a:blip>
          <a:stretch>
            <a:fillRect/>
          </a:stretch>
        </p:blipFill>
        <p:spPr>
          <a:xfrm>
            <a:off x="2464616" y="2665486"/>
            <a:ext cx="1539856" cy="923014"/>
          </a:xfrm>
          <a:prstGeom prst="rect">
            <a:avLst/>
          </a:prstGeom>
          <a:noFill/>
          <a:ln>
            <a:noFill/>
          </a:ln>
        </p:spPr>
      </p:pic>
      <p:pic>
        <p:nvPicPr>
          <p:cNvPr id="57" name="Google Shape;210;p27">
            <a:extLst>
              <a:ext uri="{FF2B5EF4-FFF2-40B4-BE49-F238E27FC236}">
                <a16:creationId xmlns:a16="http://schemas.microsoft.com/office/drawing/2014/main" id="{C2790917-9ADE-FAA3-1C99-47D10A3E651E}"/>
              </a:ext>
            </a:extLst>
          </p:cNvPr>
          <p:cNvPicPr preferRelativeResize="0"/>
          <p:nvPr/>
        </p:nvPicPr>
        <p:blipFill>
          <a:blip r:embed="rId21">
            <a:alphaModFix/>
          </a:blip>
          <a:stretch>
            <a:fillRect/>
          </a:stretch>
        </p:blipFill>
        <p:spPr>
          <a:xfrm>
            <a:off x="2105821" y="4222641"/>
            <a:ext cx="2276997" cy="1280802"/>
          </a:xfrm>
          <a:prstGeom prst="rect">
            <a:avLst/>
          </a:prstGeom>
          <a:noFill/>
          <a:ln>
            <a:noFill/>
          </a:ln>
        </p:spPr>
      </p:pic>
      <p:pic>
        <p:nvPicPr>
          <p:cNvPr id="58" name="Google Shape;211;p27">
            <a:extLst>
              <a:ext uri="{FF2B5EF4-FFF2-40B4-BE49-F238E27FC236}">
                <a16:creationId xmlns:a16="http://schemas.microsoft.com/office/drawing/2014/main" id="{1277FD69-AFA4-2C97-8803-927AE463FDC8}"/>
              </a:ext>
            </a:extLst>
          </p:cNvPr>
          <p:cNvPicPr preferRelativeResize="0"/>
          <p:nvPr/>
        </p:nvPicPr>
        <p:blipFill>
          <a:blip r:embed="rId22">
            <a:alphaModFix/>
          </a:blip>
          <a:stretch>
            <a:fillRect/>
          </a:stretch>
        </p:blipFill>
        <p:spPr>
          <a:xfrm>
            <a:off x="10113263" y="2787963"/>
            <a:ext cx="1330574" cy="71068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 name="Rectangle 3">
            <a:extLst>
              <a:ext uri="{FF2B5EF4-FFF2-40B4-BE49-F238E27FC236}">
                <a16:creationId xmlns:a16="http://schemas.microsoft.com/office/drawing/2014/main" id="{802A343D-9840-BA8C-E02F-A9B8519F5974}"/>
              </a:ext>
            </a:extLst>
          </p:cNvPr>
          <p:cNvSpPr/>
          <p:nvPr/>
        </p:nvSpPr>
        <p:spPr bwMode="auto">
          <a:xfrm>
            <a:off x="228600" y="908720"/>
            <a:ext cx="5638800" cy="1774519"/>
          </a:xfrm>
          <a:prstGeom prst="rect">
            <a:avLst/>
          </a:prstGeom>
          <a:noFill/>
          <a:ln w="25400">
            <a:solidFill>
              <a:srgbClr val="0A8276"/>
            </a:solid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graphicFrame>
        <p:nvGraphicFramePr>
          <p:cNvPr id="464" name="Google Shape;464;p74"/>
          <p:cNvGraphicFramePr/>
          <p:nvPr>
            <p:extLst>
              <p:ext uri="{D42A27DB-BD31-4B8C-83A1-F6EECF244321}">
                <p14:modId xmlns:p14="http://schemas.microsoft.com/office/powerpoint/2010/main" val="576909832"/>
              </p:ext>
            </p:extLst>
          </p:nvPr>
        </p:nvGraphicFramePr>
        <p:xfrm>
          <a:off x="193208" y="2085594"/>
          <a:ext cx="11596002" cy="4750899"/>
        </p:xfrm>
        <a:graphic>
          <a:graphicData uri="http://schemas.openxmlformats.org/drawingml/2006/table">
            <a:tbl>
              <a:tblPr>
                <a:noFill/>
              </a:tblPr>
              <a:tblGrid>
                <a:gridCol w="1932667">
                  <a:extLst>
                    <a:ext uri="{9D8B030D-6E8A-4147-A177-3AD203B41FA5}">
                      <a16:colId xmlns:a16="http://schemas.microsoft.com/office/drawing/2014/main" val="20000"/>
                    </a:ext>
                  </a:extLst>
                </a:gridCol>
                <a:gridCol w="1932667">
                  <a:extLst>
                    <a:ext uri="{9D8B030D-6E8A-4147-A177-3AD203B41FA5}">
                      <a16:colId xmlns:a16="http://schemas.microsoft.com/office/drawing/2014/main" val="20001"/>
                    </a:ext>
                  </a:extLst>
                </a:gridCol>
                <a:gridCol w="1932667">
                  <a:extLst>
                    <a:ext uri="{9D8B030D-6E8A-4147-A177-3AD203B41FA5}">
                      <a16:colId xmlns:a16="http://schemas.microsoft.com/office/drawing/2014/main" val="20002"/>
                    </a:ext>
                  </a:extLst>
                </a:gridCol>
                <a:gridCol w="1932667">
                  <a:extLst>
                    <a:ext uri="{9D8B030D-6E8A-4147-A177-3AD203B41FA5}">
                      <a16:colId xmlns:a16="http://schemas.microsoft.com/office/drawing/2014/main" val="20003"/>
                    </a:ext>
                  </a:extLst>
                </a:gridCol>
                <a:gridCol w="1932667">
                  <a:extLst>
                    <a:ext uri="{9D8B030D-6E8A-4147-A177-3AD203B41FA5}">
                      <a16:colId xmlns:a16="http://schemas.microsoft.com/office/drawing/2014/main" val="20004"/>
                    </a:ext>
                  </a:extLst>
                </a:gridCol>
                <a:gridCol w="1932667">
                  <a:extLst>
                    <a:ext uri="{9D8B030D-6E8A-4147-A177-3AD203B41FA5}">
                      <a16:colId xmlns:a16="http://schemas.microsoft.com/office/drawing/2014/main" val="20005"/>
                    </a:ext>
                  </a:extLst>
                </a:gridCol>
              </a:tblGrid>
              <a:tr h="1543933">
                <a:tc>
                  <a:txBody>
                    <a:bodyPr/>
                    <a:lstStyle/>
                    <a:p>
                      <a:pPr marL="0" marR="0" lvl="0" indent="0" algn="ctr" rtl="0">
                        <a:lnSpc>
                          <a:spcPct val="100000"/>
                        </a:lnSpc>
                        <a:spcBef>
                          <a:spcPts val="0"/>
                        </a:spcBef>
                        <a:spcAft>
                          <a:spcPts val="0"/>
                        </a:spcAft>
                        <a:buClr>
                          <a:srgbClr val="000000"/>
                        </a:buClr>
                        <a:buSzPts val="1000"/>
                        <a:buFont typeface="Arial"/>
                        <a:buNone/>
                      </a:pPr>
                      <a:r>
                        <a:rPr lang="en-US" sz="1300" b="1" u="none" strike="noStrike" cap="none" dirty="0">
                          <a:solidFill>
                            <a:schemeClr val="dk1"/>
                          </a:solidFill>
                          <a:latin typeface="Open Sans"/>
                          <a:ea typeface="Open Sans"/>
                          <a:cs typeface="Open Sans"/>
                          <a:sym typeface="Open Sans"/>
                        </a:rPr>
                        <a:t>PSOC™ Control C3M5 Evaluation Kit</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US" sz="1300" b="1" u="none" strike="noStrike" cap="none" dirty="0">
                          <a:solidFill>
                            <a:schemeClr val="dk1"/>
                          </a:solidFill>
                          <a:latin typeface="Open Sans"/>
                          <a:ea typeface="Open Sans"/>
                          <a:cs typeface="Open Sans"/>
                          <a:sym typeface="Open Sans"/>
                        </a:rPr>
                        <a:t>PSOC™ Edge E84 Evaluation Kit</a:t>
                      </a: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US" sz="1300" b="1" u="none" strike="noStrike" cap="none" dirty="0">
                          <a:solidFill>
                            <a:schemeClr val="dk1"/>
                          </a:solidFill>
                          <a:latin typeface="Open Sans"/>
                          <a:ea typeface="Open Sans"/>
                          <a:cs typeface="Open Sans"/>
                          <a:sym typeface="Open Sans"/>
                        </a:rPr>
                        <a:t>PSOC™ 6 AI Kit</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nRF9160 DK</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STM32F746G Disco</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M5StickC PLUS</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extLst>
                  <a:ext uri="{0D108BD9-81ED-4DB2-BD59-A6C34878D82A}">
                    <a16:rowId xmlns:a16="http://schemas.microsoft.com/office/drawing/2014/main" val="10000"/>
                  </a:ext>
                </a:extLst>
              </a:tr>
              <a:tr h="1663033">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TDK RoboKit 1</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US" sz="1300" b="1" u="none" strike="noStrike" cap="none" dirty="0">
                          <a:solidFill>
                            <a:schemeClr val="dk1"/>
                          </a:solidFill>
                          <a:latin typeface="Open Sans"/>
                          <a:ea typeface="Open Sans"/>
                          <a:cs typeface="Open Sans"/>
                          <a:sym typeface="Open Sans"/>
                        </a:rPr>
                        <a:t>Arduino </a:t>
                      </a:r>
                      <a:r>
                        <a:rPr lang="en-US" sz="1300" b="1" u="none" strike="noStrike" cap="none" dirty="0" err="1">
                          <a:solidFill>
                            <a:schemeClr val="dk1"/>
                          </a:solidFill>
                          <a:latin typeface="Open Sans"/>
                          <a:ea typeface="Open Sans"/>
                          <a:cs typeface="Open Sans"/>
                          <a:sym typeface="Open Sans"/>
                        </a:rPr>
                        <a:t>Portenta</a:t>
                      </a:r>
                      <a:r>
                        <a:rPr lang="en-US" sz="1300" b="1" u="none" strike="noStrike" cap="none" dirty="0">
                          <a:solidFill>
                            <a:schemeClr val="dk1"/>
                          </a:solidFill>
                          <a:latin typeface="Open Sans"/>
                          <a:ea typeface="Open Sans"/>
                          <a:cs typeface="Open Sans"/>
                          <a:sym typeface="Open Sans"/>
                        </a:rPr>
                        <a:t> H7</a:t>
                      </a: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ESP32</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Arduino Nano 33 BLE</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Intel UP Squared</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Dragino LSN50 LoRA Sensor Node</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extLst>
                  <a:ext uri="{0D108BD9-81ED-4DB2-BD59-A6C34878D82A}">
                    <a16:rowId xmlns:a16="http://schemas.microsoft.com/office/drawing/2014/main" val="10001"/>
                  </a:ext>
                </a:extLst>
              </a:tr>
              <a:tr h="1543933">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Microchip SAM E54 Xplained Pro Evaluation Kit</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Raspberry Pi Pico</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Altera MAX10</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NXP i.MX8MP EVK</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a:solidFill>
                            <a:schemeClr val="dk1"/>
                          </a:solidFill>
                          <a:latin typeface="Open Sans"/>
                          <a:ea typeface="Open Sans"/>
                          <a:cs typeface="Open Sans"/>
                          <a:sym typeface="Open Sans"/>
                        </a:rPr>
                        <a:t>Adafruit Feather M0 LoRa</a:t>
                      </a:r>
                      <a:endParaRPr sz="1300" b="1" u="none" strike="noStrike" cap="none">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000"/>
                        <a:buFont typeface="Arial"/>
                        <a:buNone/>
                      </a:pPr>
                      <a:r>
                        <a:rPr lang="en" sz="1300" b="1" u="none" strike="noStrike" cap="none" dirty="0">
                          <a:solidFill>
                            <a:schemeClr val="dk1"/>
                          </a:solidFill>
                          <a:latin typeface="Open Sans"/>
                          <a:ea typeface="Open Sans"/>
                          <a:cs typeface="Open Sans"/>
                          <a:sym typeface="Open Sans"/>
                        </a:rPr>
                        <a:t>u-blox EVK-NINA-B3</a:t>
                      </a:r>
                      <a:endParaRPr sz="1300" b="1" u="none" strike="noStrike" cap="none" dirty="0">
                        <a:solidFill>
                          <a:schemeClr val="dk1"/>
                        </a:solidFill>
                        <a:latin typeface="Open Sans"/>
                        <a:ea typeface="Open Sans"/>
                        <a:cs typeface="Open Sans"/>
                        <a:sym typeface="Open Sans"/>
                      </a:endParaRPr>
                    </a:p>
                  </a:txBody>
                  <a:tcPr marL="121900" marR="121900" marT="121900" marB="121900">
                    <a:lnL w="9525" cap="flat" cmpd="sng">
                      <a:solidFill>
                        <a:srgbClr val="0075A3">
                          <a:alpha val="0"/>
                        </a:srgbClr>
                      </a:solidFill>
                      <a:prstDash val="solid"/>
                      <a:round/>
                      <a:headEnd type="none" w="sm" len="sm"/>
                      <a:tailEnd type="none" w="sm" len="sm"/>
                    </a:lnL>
                    <a:lnR w="9525" cap="flat" cmpd="sng">
                      <a:solidFill>
                        <a:srgbClr val="0075A3">
                          <a:alpha val="0"/>
                        </a:srgbClr>
                      </a:solidFill>
                      <a:prstDash val="solid"/>
                      <a:round/>
                      <a:headEnd type="none" w="sm" len="sm"/>
                      <a:tailEnd type="none" w="sm" len="sm"/>
                    </a:lnR>
                    <a:lnT w="9525" cap="flat" cmpd="sng">
                      <a:solidFill>
                        <a:srgbClr val="0075A3">
                          <a:alpha val="0"/>
                        </a:srgbClr>
                      </a:solidFill>
                      <a:prstDash val="solid"/>
                      <a:round/>
                      <a:headEnd type="none" w="sm" len="sm"/>
                      <a:tailEnd type="none" w="sm" len="sm"/>
                    </a:lnT>
                    <a:lnB w="9525" cap="flat" cmpd="sng">
                      <a:solidFill>
                        <a:srgbClr val="0075A3">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465" name="Google Shape;465;p74"/>
          <p:cNvSpPr txBox="1">
            <a:spLocks noGrp="1"/>
          </p:cNvSpPr>
          <p:nvPr>
            <p:ph type="title"/>
          </p:nvPr>
        </p:nvSpPr>
        <p:spPr>
          <a:prstGeom prst="rect">
            <a:avLst/>
          </a:prstGeom>
          <a:noFill/>
          <a:ln>
            <a:noFill/>
          </a:ln>
        </p:spPr>
        <p:txBody>
          <a:bodyPr spcFirstLastPara="1" vert="horz" wrap="square" lIns="121900" tIns="60933" rIns="121900" bIns="60933" rtlCol="0" anchor="t" anchorCtr="0">
            <a:noAutofit/>
          </a:bodyPr>
          <a:lstStyle/>
          <a:p>
            <a:r>
              <a:rPr lang="en" dirty="0"/>
              <a:t>1000+ supported boards… and growing</a:t>
            </a:r>
            <a:endParaRPr dirty="0"/>
          </a:p>
        </p:txBody>
      </p:sp>
      <p:grpSp>
        <p:nvGrpSpPr>
          <p:cNvPr id="466" name="Google Shape;466;p74"/>
          <p:cNvGrpSpPr/>
          <p:nvPr/>
        </p:nvGrpSpPr>
        <p:grpSpPr>
          <a:xfrm>
            <a:off x="3942544" y="5938013"/>
            <a:ext cx="3980529" cy="456065"/>
            <a:chOff x="5506794" y="4743714"/>
            <a:chExt cx="2985397" cy="342049"/>
          </a:xfrm>
        </p:grpSpPr>
        <p:sp>
          <p:nvSpPr>
            <p:cNvPr id="467" name="Google Shape;467;p74"/>
            <p:cNvSpPr/>
            <p:nvPr/>
          </p:nvSpPr>
          <p:spPr>
            <a:xfrm>
              <a:off x="5506794" y="4799675"/>
              <a:ext cx="2985300" cy="2466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468" name="Google Shape;468;p74"/>
            <p:cNvSpPr/>
            <p:nvPr/>
          </p:nvSpPr>
          <p:spPr>
            <a:xfrm>
              <a:off x="5916691" y="4808100"/>
              <a:ext cx="2575500" cy="246600"/>
            </a:xfrm>
            <a:prstGeom prst="roundRect">
              <a:avLst>
                <a:gd name="adj" fmla="val 16667"/>
              </a:avLst>
            </a:prstGeom>
            <a:noFill/>
            <a:ln>
              <a:noFill/>
            </a:ln>
          </p:spPr>
          <p:txBody>
            <a:bodyPr spcFirstLastPara="1" wrap="square" lIns="121900" tIns="60933" rIns="121900" bIns="60933" anchor="ctr" anchorCtr="0">
              <a:noAutofit/>
            </a:bodyPr>
            <a:lstStyle/>
            <a:p>
              <a:pPr>
                <a:spcBef>
                  <a:spcPts val="0"/>
                </a:spcBef>
                <a:spcAft>
                  <a:spcPts val="0"/>
                </a:spcAft>
                <a:buClr>
                  <a:srgbClr val="9933FF"/>
                </a:buClr>
                <a:buSzPts val="1800"/>
              </a:pPr>
              <a:r>
                <a:rPr lang="en" sz="1333" b="1">
                  <a:solidFill>
                    <a:schemeClr val="lt1"/>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docs.zephyrproject.org/latest/boards</a:t>
              </a:r>
              <a:endParaRPr sz="1333" b="1">
                <a:solidFill>
                  <a:schemeClr val="lt1"/>
                </a:solidFill>
                <a:latin typeface="Open Sans"/>
                <a:ea typeface="Open Sans"/>
                <a:cs typeface="Open Sans"/>
                <a:sym typeface="Open Sans"/>
              </a:endParaRPr>
            </a:p>
          </p:txBody>
        </p:sp>
        <p:pic>
          <p:nvPicPr>
            <p:cNvPr id="469" name="Google Shape;469;p74"/>
            <p:cNvPicPr preferRelativeResize="0"/>
            <p:nvPr/>
          </p:nvPicPr>
          <p:blipFill rotWithShape="1">
            <a:blip r:embed="rId4">
              <a:alphaModFix/>
            </a:blip>
            <a:srcRect/>
            <a:stretch/>
          </p:blipFill>
          <p:spPr>
            <a:xfrm>
              <a:off x="5573720" y="4743714"/>
              <a:ext cx="342049" cy="342049"/>
            </a:xfrm>
            <a:prstGeom prst="rect">
              <a:avLst/>
            </a:prstGeom>
            <a:noFill/>
            <a:ln>
              <a:noFill/>
            </a:ln>
          </p:spPr>
        </p:pic>
      </p:grpSp>
      <p:pic>
        <p:nvPicPr>
          <p:cNvPr id="470" name="Google Shape;470;p74"/>
          <p:cNvPicPr preferRelativeResize="0"/>
          <p:nvPr/>
        </p:nvPicPr>
        <p:blipFill rotWithShape="1">
          <a:blip r:embed="rId5">
            <a:alphaModFix/>
          </a:blip>
          <a:srcRect/>
          <a:stretch/>
        </p:blipFill>
        <p:spPr>
          <a:xfrm>
            <a:off x="8388015" y="4461727"/>
            <a:ext cx="1010660" cy="783267"/>
          </a:xfrm>
          <a:prstGeom prst="rect">
            <a:avLst/>
          </a:prstGeom>
          <a:noFill/>
          <a:ln>
            <a:noFill/>
          </a:ln>
        </p:spPr>
      </p:pic>
      <p:pic>
        <p:nvPicPr>
          <p:cNvPr id="471" name="Google Shape;471;p74"/>
          <p:cNvPicPr preferRelativeResize="0"/>
          <p:nvPr/>
        </p:nvPicPr>
        <p:blipFill rotWithShape="1">
          <a:blip r:embed="rId6">
            <a:alphaModFix/>
          </a:blip>
          <a:srcRect/>
          <a:stretch/>
        </p:blipFill>
        <p:spPr>
          <a:xfrm>
            <a:off x="4401403" y="4497331"/>
            <a:ext cx="1265879" cy="712061"/>
          </a:xfrm>
          <a:prstGeom prst="rect">
            <a:avLst/>
          </a:prstGeom>
          <a:noFill/>
          <a:ln>
            <a:noFill/>
          </a:ln>
        </p:spPr>
      </p:pic>
      <p:pic>
        <p:nvPicPr>
          <p:cNvPr id="472" name="Google Shape;472;p74"/>
          <p:cNvPicPr preferRelativeResize="0"/>
          <p:nvPr/>
        </p:nvPicPr>
        <p:blipFill rotWithShape="1">
          <a:blip r:embed="rId7">
            <a:alphaModFix/>
          </a:blip>
          <a:srcRect/>
          <a:stretch/>
        </p:blipFill>
        <p:spPr>
          <a:xfrm>
            <a:off x="6248441" y="4330090"/>
            <a:ext cx="1392467" cy="1011876"/>
          </a:xfrm>
          <a:prstGeom prst="rect">
            <a:avLst/>
          </a:prstGeom>
          <a:noFill/>
          <a:ln>
            <a:noFill/>
          </a:ln>
        </p:spPr>
      </p:pic>
      <p:pic>
        <p:nvPicPr>
          <p:cNvPr id="473" name="Google Shape;473;p74"/>
          <p:cNvPicPr preferRelativeResize="0"/>
          <p:nvPr/>
        </p:nvPicPr>
        <p:blipFill rotWithShape="1">
          <a:blip r:embed="rId8">
            <a:alphaModFix/>
          </a:blip>
          <a:srcRect/>
          <a:stretch/>
        </p:blipFill>
        <p:spPr>
          <a:xfrm rot="2832266">
            <a:off x="2540575" y="4427946"/>
            <a:ext cx="1019399" cy="1019399"/>
          </a:xfrm>
          <a:prstGeom prst="rect">
            <a:avLst/>
          </a:prstGeom>
          <a:noFill/>
          <a:ln>
            <a:noFill/>
          </a:ln>
        </p:spPr>
      </p:pic>
      <p:pic>
        <p:nvPicPr>
          <p:cNvPr id="474" name="Google Shape;474;p74"/>
          <p:cNvPicPr preferRelativeResize="0"/>
          <p:nvPr/>
        </p:nvPicPr>
        <p:blipFill rotWithShape="1">
          <a:blip r:embed="rId9">
            <a:alphaModFix/>
          </a:blip>
          <a:srcRect/>
          <a:stretch/>
        </p:blipFill>
        <p:spPr>
          <a:xfrm>
            <a:off x="530681" y="4482461"/>
            <a:ext cx="1370527" cy="995916"/>
          </a:xfrm>
          <a:prstGeom prst="rect">
            <a:avLst/>
          </a:prstGeom>
          <a:noFill/>
          <a:ln>
            <a:noFill/>
          </a:ln>
        </p:spPr>
      </p:pic>
      <p:pic>
        <p:nvPicPr>
          <p:cNvPr id="475" name="Google Shape;475;p74"/>
          <p:cNvPicPr preferRelativeResize="0"/>
          <p:nvPr/>
        </p:nvPicPr>
        <p:blipFill rotWithShape="1">
          <a:blip r:embed="rId10">
            <a:alphaModFix/>
          </a:blip>
          <a:srcRect/>
          <a:stretch/>
        </p:blipFill>
        <p:spPr>
          <a:xfrm>
            <a:off x="517084" y="2831524"/>
            <a:ext cx="1256315" cy="897009"/>
          </a:xfrm>
          <a:prstGeom prst="rect">
            <a:avLst/>
          </a:prstGeom>
          <a:noFill/>
          <a:ln>
            <a:noFill/>
          </a:ln>
        </p:spPr>
      </p:pic>
      <p:pic>
        <p:nvPicPr>
          <p:cNvPr id="476" name="Google Shape;476;p74"/>
          <p:cNvPicPr preferRelativeResize="0"/>
          <p:nvPr/>
        </p:nvPicPr>
        <p:blipFill rotWithShape="1">
          <a:blip r:embed="rId11">
            <a:alphaModFix/>
          </a:blip>
          <a:srcRect/>
          <a:stretch/>
        </p:blipFill>
        <p:spPr>
          <a:xfrm>
            <a:off x="2495235" y="2831524"/>
            <a:ext cx="1122440" cy="842477"/>
          </a:xfrm>
          <a:prstGeom prst="rect">
            <a:avLst/>
          </a:prstGeom>
          <a:noFill/>
          <a:ln>
            <a:noFill/>
          </a:ln>
        </p:spPr>
      </p:pic>
      <p:pic>
        <p:nvPicPr>
          <p:cNvPr id="477" name="Google Shape;477;p74"/>
          <p:cNvPicPr preferRelativeResize="0"/>
          <p:nvPr/>
        </p:nvPicPr>
        <p:blipFill rotWithShape="1">
          <a:blip r:embed="rId12">
            <a:alphaModFix/>
          </a:blip>
          <a:srcRect/>
          <a:stretch/>
        </p:blipFill>
        <p:spPr>
          <a:xfrm rot="3599992">
            <a:off x="4522963" y="2530914"/>
            <a:ext cx="904847" cy="1356819"/>
          </a:xfrm>
          <a:prstGeom prst="rect">
            <a:avLst/>
          </a:prstGeom>
          <a:noFill/>
          <a:ln>
            <a:noFill/>
          </a:ln>
        </p:spPr>
      </p:pic>
      <p:pic>
        <p:nvPicPr>
          <p:cNvPr id="478" name="Google Shape;478;p74"/>
          <p:cNvPicPr preferRelativeResize="0"/>
          <p:nvPr/>
        </p:nvPicPr>
        <p:blipFill rotWithShape="1">
          <a:blip r:embed="rId13">
            <a:alphaModFix/>
          </a:blip>
          <a:srcRect/>
          <a:stretch/>
        </p:blipFill>
        <p:spPr>
          <a:xfrm>
            <a:off x="8253302" y="2788087"/>
            <a:ext cx="1280069" cy="842475"/>
          </a:xfrm>
          <a:prstGeom prst="rect">
            <a:avLst/>
          </a:prstGeom>
          <a:noFill/>
          <a:ln>
            <a:noFill/>
          </a:ln>
        </p:spPr>
      </p:pic>
      <p:pic>
        <p:nvPicPr>
          <p:cNvPr id="479" name="Google Shape;479;p74"/>
          <p:cNvPicPr preferRelativeResize="0"/>
          <p:nvPr/>
        </p:nvPicPr>
        <p:blipFill rotWithShape="1">
          <a:blip r:embed="rId14">
            <a:alphaModFix/>
          </a:blip>
          <a:srcRect/>
          <a:stretch/>
        </p:blipFill>
        <p:spPr>
          <a:xfrm>
            <a:off x="10288390" y="2609761"/>
            <a:ext cx="1142105" cy="1142105"/>
          </a:xfrm>
          <a:prstGeom prst="rect">
            <a:avLst/>
          </a:prstGeom>
          <a:noFill/>
          <a:ln>
            <a:noFill/>
          </a:ln>
        </p:spPr>
      </p:pic>
      <p:pic>
        <p:nvPicPr>
          <p:cNvPr id="480" name="Google Shape;480;p74"/>
          <p:cNvPicPr preferRelativeResize="0"/>
          <p:nvPr/>
        </p:nvPicPr>
        <p:blipFill rotWithShape="1">
          <a:blip r:embed="rId15">
            <a:alphaModFix/>
          </a:blip>
          <a:srcRect/>
          <a:stretch/>
        </p:blipFill>
        <p:spPr>
          <a:xfrm>
            <a:off x="8276605" y="1064591"/>
            <a:ext cx="1233472" cy="1233472"/>
          </a:xfrm>
          <a:prstGeom prst="rect">
            <a:avLst/>
          </a:prstGeom>
          <a:noFill/>
          <a:ln>
            <a:noFill/>
          </a:ln>
        </p:spPr>
      </p:pic>
      <p:pic>
        <p:nvPicPr>
          <p:cNvPr id="482" name="Google Shape;482;p74"/>
          <p:cNvPicPr preferRelativeResize="0"/>
          <p:nvPr/>
        </p:nvPicPr>
        <p:blipFill rotWithShape="1">
          <a:blip r:embed="rId16">
            <a:alphaModFix/>
          </a:blip>
          <a:srcRect/>
          <a:stretch/>
        </p:blipFill>
        <p:spPr>
          <a:xfrm>
            <a:off x="6159292" y="1374483"/>
            <a:ext cx="1497741" cy="546424"/>
          </a:xfrm>
          <a:prstGeom prst="rect">
            <a:avLst/>
          </a:prstGeom>
          <a:noFill/>
          <a:ln>
            <a:noFill/>
          </a:ln>
        </p:spPr>
      </p:pic>
      <p:pic>
        <p:nvPicPr>
          <p:cNvPr id="483" name="Google Shape;483;p74"/>
          <p:cNvPicPr preferRelativeResize="0"/>
          <p:nvPr/>
        </p:nvPicPr>
        <p:blipFill rotWithShape="1">
          <a:blip r:embed="rId17">
            <a:alphaModFix/>
          </a:blip>
          <a:srcRect/>
          <a:stretch/>
        </p:blipFill>
        <p:spPr>
          <a:xfrm>
            <a:off x="10205059" y="1101644"/>
            <a:ext cx="1064099" cy="1064099"/>
          </a:xfrm>
          <a:prstGeom prst="rect">
            <a:avLst/>
          </a:prstGeom>
          <a:noFill/>
          <a:ln>
            <a:noFill/>
          </a:ln>
        </p:spPr>
      </p:pic>
      <p:pic>
        <p:nvPicPr>
          <p:cNvPr id="484" name="Google Shape;484;p74"/>
          <p:cNvPicPr preferRelativeResize="0"/>
          <p:nvPr/>
        </p:nvPicPr>
        <p:blipFill rotWithShape="1">
          <a:blip r:embed="rId18">
            <a:alphaModFix/>
          </a:blip>
          <a:srcRect/>
          <a:stretch/>
        </p:blipFill>
        <p:spPr>
          <a:xfrm>
            <a:off x="6402882" y="2941531"/>
            <a:ext cx="1010529" cy="738805"/>
          </a:xfrm>
          <a:prstGeom prst="rect">
            <a:avLst/>
          </a:prstGeom>
          <a:noFill/>
          <a:ln>
            <a:noFill/>
          </a:ln>
        </p:spPr>
      </p:pic>
      <p:pic>
        <p:nvPicPr>
          <p:cNvPr id="487" name="Google Shape;487;p74"/>
          <p:cNvPicPr preferRelativeResize="0"/>
          <p:nvPr/>
        </p:nvPicPr>
        <p:blipFill rotWithShape="1">
          <a:blip r:embed="rId19">
            <a:alphaModFix/>
          </a:blip>
          <a:srcRect/>
          <a:stretch/>
        </p:blipFill>
        <p:spPr>
          <a:xfrm>
            <a:off x="10344118" y="4592972"/>
            <a:ext cx="1030649" cy="660723"/>
          </a:xfrm>
          <a:prstGeom prst="rect">
            <a:avLst/>
          </a:prstGeom>
          <a:noFill/>
          <a:ln>
            <a:noFill/>
          </a:ln>
        </p:spPr>
      </p:pic>
      <p:sp>
        <p:nvSpPr>
          <p:cNvPr id="5" name="TextBox 4">
            <a:extLst>
              <a:ext uri="{FF2B5EF4-FFF2-40B4-BE49-F238E27FC236}">
                <a16:creationId xmlns:a16="http://schemas.microsoft.com/office/drawing/2014/main" id="{AF8DE285-29A5-7803-77DB-32D80727F48C}"/>
              </a:ext>
            </a:extLst>
          </p:cNvPr>
          <p:cNvSpPr txBox="1"/>
          <p:nvPr/>
        </p:nvSpPr>
        <p:spPr bwMode="auto">
          <a:xfrm>
            <a:off x="251725" y="908720"/>
            <a:ext cx="1600378" cy="307777"/>
          </a:xfrm>
          <a:prstGeom prst="rect">
            <a:avLst/>
          </a:prstGeom>
          <a:noFill/>
          <a:ln w="9525">
            <a:noFill/>
            <a:miter lim="800000"/>
            <a:headEnd/>
            <a:tailEnd/>
          </a:ln>
          <a:effectLst/>
        </p:spPr>
        <p:txBody>
          <a:bodyPr wrap="square">
            <a:spAutoFit/>
          </a:bodyPr>
          <a:lstStyle/>
          <a:p>
            <a:r>
              <a:rPr lang="en" b="1" dirty="0">
                <a:solidFill>
                  <a:srgbClr val="0A8276"/>
                </a:solidFill>
              </a:rPr>
              <a:t>Infineon Boards</a:t>
            </a:r>
            <a:endParaRPr lang="en-US" b="1" dirty="0">
              <a:solidFill>
                <a:srgbClr val="0A8276"/>
              </a:solidFill>
            </a:endParaRPr>
          </a:p>
        </p:txBody>
      </p:sp>
      <p:pic>
        <p:nvPicPr>
          <p:cNvPr id="6" name="Picture 5" descr="A close-up of a circuit board&#10;&#10;AI-generated content may be incorrect.">
            <a:extLst>
              <a:ext uri="{FF2B5EF4-FFF2-40B4-BE49-F238E27FC236}">
                <a16:creationId xmlns:a16="http://schemas.microsoft.com/office/drawing/2014/main" id="{6E5194C8-A468-249B-C698-D84050B2B3B7}"/>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rot="679681">
            <a:off x="4518249" y="1251662"/>
            <a:ext cx="1053922" cy="818546"/>
          </a:xfrm>
          <a:prstGeom prst="rect">
            <a:avLst/>
          </a:prstGeom>
        </p:spPr>
      </p:pic>
      <p:pic>
        <p:nvPicPr>
          <p:cNvPr id="7" name="Picture 6">
            <a:extLst>
              <a:ext uri="{FF2B5EF4-FFF2-40B4-BE49-F238E27FC236}">
                <a16:creationId xmlns:a16="http://schemas.microsoft.com/office/drawing/2014/main" id="{02602C81-4458-7417-FC83-22A71A72D588}"/>
              </a:ext>
            </a:extLst>
          </p:cNvPr>
          <p:cNvPicPr>
            <a:picLocks noChangeAspect="1"/>
          </p:cNvPicPr>
          <p:nvPr/>
        </p:nvPicPr>
        <p:blipFill>
          <a:blip r:embed="rId21"/>
          <a:stretch>
            <a:fillRect/>
          </a:stretch>
        </p:blipFill>
        <p:spPr>
          <a:xfrm>
            <a:off x="462897" y="1298421"/>
            <a:ext cx="1387957" cy="755666"/>
          </a:xfrm>
          <a:prstGeom prst="rect">
            <a:avLst/>
          </a:prstGeom>
        </p:spPr>
      </p:pic>
      <p:pic>
        <p:nvPicPr>
          <p:cNvPr id="8" name="Picture 7" descr="A close-up of a circuit board&#10;&#10;AI-generated content may be incorrect.">
            <a:extLst>
              <a:ext uri="{FF2B5EF4-FFF2-40B4-BE49-F238E27FC236}">
                <a16:creationId xmlns:a16="http://schemas.microsoft.com/office/drawing/2014/main" id="{BA3463CA-9E9A-88E2-6698-0B27BD90BC8D}"/>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1951621" y="1219223"/>
            <a:ext cx="1908306" cy="86637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75"/>
          <p:cNvSpPr txBox="1">
            <a:spLocks noGrp="1"/>
          </p:cNvSpPr>
          <p:nvPr>
            <p:ph type="title"/>
          </p:nvPr>
        </p:nvSpPr>
        <p:spPr>
          <a:prstGeom prst="rect">
            <a:avLst/>
          </a:prstGeom>
          <a:noFill/>
          <a:ln>
            <a:noFill/>
          </a:ln>
        </p:spPr>
        <p:txBody>
          <a:bodyPr spcFirstLastPara="1" vert="horz" wrap="square" lIns="121900" tIns="60933" rIns="121900" bIns="60933" rtlCol="0" anchor="t" anchorCtr="0">
            <a:noAutofit/>
          </a:bodyPr>
          <a:lstStyle/>
          <a:p>
            <a:r>
              <a:rPr lang="en" dirty="0"/>
              <a:t>270+ Sensors Already Integrated</a:t>
            </a:r>
            <a:endParaRPr dirty="0"/>
          </a:p>
        </p:txBody>
      </p:sp>
      <p:grpSp>
        <p:nvGrpSpPr>
          <p:cNvPr id="493" name="Google Shape;493;p75"/>
          <p:cNvGrpSpPr/>
          <p:nvPr/>
        </p:nvGrpSpPr>
        <p:grpSpPr>
          <a:xfrm>
            <a:off x="2927354" y="5944188"/>
            <a:ext cx="6337295" cy="456065"/>
            <a:chOff x="3297000" y="4743714"/>
            <a:chExt cx="4752971" cy="342049"/>
          </a:xfrm>
        </p:grpSpPr>
        <p:sp>
          <p:nvSpPr>
            <p:cNvPr id="494" name="Google Shape;494;p75"/>
            <p:cNvSpPr/>
            <p:nvPr/>
          </p:nvSpPr>
          <p:spPr>
            <a:xfrm>
              <a:off x="3297000" y="4799675"/>
              <a:ext cx="4686000" cy="246600"/>
            </a:xfrm>
            <a:prstGeom prst="roundRect">
              <a:avLst>
                <a:gd name="adj" fmla="val 16667"/>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495" name="Google Shape;495;p75"/>
            <p:cNvSpPr/>
            <p:nvPr/>
          </p:nvSpPr>
          <p:spPr>
            <a:xfrm>
              <a:off x="3706871" y="4808100"/>
              <a:ext cx="4343100" cy="246600"/>
            </a:xfrm>
            <a:prstGeom prst="roundRect">
              <a:avLst>
                <a:gd name="adj" fmla="val 16667"/>
              </a:avLst>
            </a:prstGeom>
            <a:noFill/>
            <a:ln>
              <a:noFill/>
            </a:ln>
          </p:spPr>
          <p:txBody>
            <a:bodyPr spcFirstLastPara="1" wrap="square" lIns="121900" tIns="60933" rIns="121900" bIns="60933" anchor="ctr" anchorCtr="0">
              <a:noAutofit/>
            </a:bodyPr>
            <a:lstStyle/>
            <a:p>
              <a:pPr>
                <a:spcBef>
                  <a:spcPts val="0"/>
                </a:spcBef>
                <a:spcAft>
                  <a:spcPts val="0"/>
                </a:spcAft>
                <a:buClr>
                  <a:srgbClr val="9933FF"/>
                </a:buClr>
                <a:buSzPts val="1800"/>
              </a:pPr>
              <a:r>
                <a:rPr lang="en" sz="1333" b="1">
                  <a:solidFill>
                    <a:schemeClr val="lt1"/>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github.com/zephyrproject-rtos/zephyr/tree/main/drivers/sensor</a:t>
              </a:r>
              <a:endParaRPr sz="1333" b="1">
                <a:solidFill>
                  <a:schemeClr val="lt1"/>
                </a:solidFill>
                <a:latin typeface="Open Sans"/>
                <a:ea typeface="Open Sans"/>
                <a:cs typeface="Open Sans"/>
                <a:sym typeface="Open Sans"/>
              </a:endParaRPr>
            </a:p>
          </p:txBody>
        </p:sp>
        <p:pic>
          <p:nvPicPr>
            <p:cNvPr id="496" name="Google Shape;496;p75"/>
            <p:cNvPicPr preferRelativeResize="0"/>
            <p:nvPr/>
          </p:nvPicPr>
          <p:blipFill rotWithShape="1">
            <a:blip r:embed="rId4">
              <a:alphaModFix/>
            </a:blip>
            <a:srcRect/>
            <a:stretch/>
          </p:blipFill>
          <p:spPr>
            <a:xfrm>
              <a:off x="3363920" y="4743714"/>
              <a:ext cx="342049" cy="342049"/>
            </a:xfrm>
            <a:prstGeom prst="rect">
              <a:avLst/>
            </a:prstGeom>
            <a:noFill/>
            <a:ln>
              <a:noFill/>
            </a:ln>
          </p:spPr>
        </p:pic>
      </p:grpSp>
      <p:graphicFrame>
        <p:nvGraphicFramePr>
          <p:cNvPr id="497" name="Google Shape;497;p75"/>
          <p:cNvGraphicFramePr/>
          <p:nvPr/>
        </p:nvGraphicFramePr>
        <p:xfrm>
          <a:off x="601234" y="1177368"/>
          <a:ext cx="11358634" cy="5120600"/>
        </p:xfrm>
        <a:graphic>
          <a:graphicData uri="http://schemas.openxmlformats.org/drawingml/2006/table">
            <a:tbl>
              <a:tblPr>
                <a:noFill/>
              </a:tblPr>
              <a:tblGrid>
                <a:gridCol w="1715567">
                  <a:extLst>
                    <a:ext uri="{9D8B030D-6E8A-4147-A177-3AD203B41FA5}">
                      <a16:colId xmlns:a16="http://schemas.microsoft.com/office/drawing/2014/main" val="20000"/>
                    </a:ext>
                  </a:extLst>
                </a:gridCol>
                <a:gridCol w="1733367">
                  <a:extLst>
                    <a:ext uri="{9D8B030D-6E8A-4147-A177-3AD203B41FA5}">
                      <a16:colId xmlns:a16="http://schemas.microsoft.com/office/drawing/2014/main" val="20001"/>
                    </a:ext>
                  </a:extLst>
                </a:gridCol>
                <a:gridCol w="1971367">
                  <a:extLst>
                    <a:ext uri="{9D8B030D-6E8A-4147-A177-3AD203B41FA5}">
                      <a16:colId xmlns:a16="http://schemas.microsoft.com/office/drawing/2014/main" val="20002"/>
                    </a:ext>
                  </a:extLst>
                </a:gridCol>
                <a:gridCol w="1735733">
                  <a:extLst>
                    <a:ext uri="{9D8B030D-6E8A-4147-A177-3AD203B41FA5}">
                      <a16:colId xmlns:a16="http://schemas.microsoft.com/office/drawing/2014/main" val="20003"/>
                    </a:ext>
                  </a:extLst>
                </a:gridCol>
                <a:gridCol w="2309500">
                  <a:extLst>
                    <a:ext uri="{9D8B030D-6E8A-4147-A177-3AD203B41FA5}">
                      <a16:colId xmlns:a16="http://schemas.microsoft.com/office/drawing/2014/main" val="20004"/>
                    </a:ext>
                  </a:extLst>
                </a:gridCol>
                <a:gridCol w="1893100">
                  <a:extLst>
                    <a:ext uri="{9D8B030D-6E8A-4147-A177-3AD203B41FA5}">
                      <a16:colId xmlns:a16="http://schemas.microsoft.com/office/drawing/2014/main" val="20005"/>
                    </a:ext>
                  </a:extLst>
                </a:gridCol>
              </a:tblGrid>
              <a:tr h="5120600">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adt7420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adxl345</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adxl362</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adxl372</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ak8975</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amg88xx</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ams_as5600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ams_iAQcore</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apds9960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bma280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bmc150_magn</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bme280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bme680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bmg160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bmi160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bmi270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bmm150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bmp388</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bq274xx</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ccs811</a:t>
                      </a:r>
                      <a:endParaRPr sz="1500" u="none" strike="noStrike" cap="none" dirty="0">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dht</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dps310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ds18b20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ens210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esp32_temp</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fdc2x1x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fxas21002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fxos8700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grove</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grow_r502a</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hmc5883l</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hp206c</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hts221</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i3g4250d</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icm42605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icm42670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icm42688</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icp10125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iis2dh</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iis2dlpc</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endParaRPr sz="1500" u="none" strike="noStrike" cap="none">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iis2iclx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iis2mdc</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iis3dhhc</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ina219</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ina23x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isl29035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ism330dhcx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ite_tach_it8xxx2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ite_vcmp_it8xxx2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lis2dh</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lis2ds12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lis2dw12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lis2mdl</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lis3mdl</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lm75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lm77</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lps22hb</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lps22hh</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lps25hb</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lsm303dlhc_magn</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endParaRPr sz="1500" u="none" strike="noStrike" cap="none">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lsm6ds0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lsm6dsl</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lsm6dso</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lsm9ds0_gyro</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lsm9ds0_mfd</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max17055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max17262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max30101</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max31875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max44009</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max6675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mchp_tach_xec</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mcp9808</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mcux_acmp</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mhz19b</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mpr</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mpu6050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mpu9250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ms5607</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ms5837</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endParaRPr sz="1500" u="none" strike="noStrike" cap="none">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nrf5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nuvoton_adc_cmp_npcx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nuvoton_tach_npcx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nxp_kinetis_temp</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opt3001</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pcnt_esp32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pms7003</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qdec_mcux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qdec_nrfx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qdec_sam</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qdec_stm32</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rpi_pico_temp</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sbs_gauge</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sgp40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sht3xd</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sht4x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shtcx</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si7006</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si7055</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a:solidFill>
                            <a:srgbClr val="CCCCCC"/>
                          </a:solidFill>
                          <a:latin typeface="Inconsolata"/>
                          <a:ea typeface="Inconsolata"/>
                          <a:cs typeface="Inconsolata"/>
                          <a:sym typeface="Inconsolata"/>
                        </a:rPr>
                        <a:t>si7060</a:t>
                      </a:r>
                      <a:endParaRPr sz="1500" u="none" strike="noStrike" cap="none">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endParaRPr sz="1500" u="none" strike="noStrike" cap="none">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si7210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sm351lt</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stm32_temp</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stm32_vbat</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stmemsc</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stts751</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sx9500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th02</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ti_hdc</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ti_hdc20xx</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tmp007</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tmp108</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tmp112</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tmp116</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vcnl4040</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vl53l0x</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wsen_hids</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r>
                        <a:rPr lang="en" sz="1500" u="none" strike="noStrike" cap="none" dirty="0">
                          <a:solidFill>
                            <a:srgbClr val="CCCCCC"/>
                          </a:solidFill>
                          <a:latin typeface="Inconsolata"/>
                          <a:ea typeface="Inconsolata"/>
                          <a:cs typeface="Inconsolata"/>
                          <a:sym typeface="Inconsolata"/>
                        </a:rPr>
                        <a:t>wsen_itds</a:t>
                      </a:r>
                      <a:endParaRPr sz="1500" u="none" strike="noStrike" cap="none" dirty="0">
                        <a:solidFill>
                          <a:srgbClr val="CCCCCC"/>
                        </a:solidFill>
                        <a:latin typeface="Inconsolata"/>
                        <a:ea typeface="Inconsolata"/>
                        <a:cs typeface="Inconsolata"/>
                        <a:sym typeface="Inconsolata"/>
                      </a:endParaRPr>
                    </a:p>
                    <a:p>
                      <a:pPr marL="0" marR="0" lvl="0" indent="0" algn="l" rtl="0">
                        <a:lnSpc>
                          <a:spcPct val="100000"/>
                        </a:lnSpc>
                        <a:spcBef>
                          <a:spcPts val="0"/>
                        </a:spcBef>
                        <a:spcAft>
                          <a:spcPts val="0"/>
                        </a:spcAft>
                        <a:buClr>
                          <a:srgbClr val="000000"/>
                        </a:buClr>
                        <a:buSzPts val="1100"/>
                        <a:buFont typeface="Arial"/>
                        <a:buNone/>
                      </a:pPr>
                      <a:endParaRPr sz="1500" u="none" strike="noStrike" cap="none" dirty="0">
                        <a:solidFill>
                          <a:srgbClr val="CCCCCC"/>
                        </a:solidFill>
                        <a:latin typeface="Inconsolata"/>
                        <a:ea typeface="Inconsolata"/>
                        <a:cs typeface="Inconsolata"/>
                        <a:sym typeface="Inconsolata"/>
                      </a:endParaRPr>
                    </a:p>
                  </a:txBody>
                  <a:tcPr marL="121900" marR="121900" marT="121900" marB="121900">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498" name="Google Shape;498;p75"/>
          <p:cNvGrpSpPr/>
          <p:nvPr/>
        </p:nvGrpSpPr>
        <p:grpSpPr>
          <a:xfrm>
            <a:off x="2317124" y="1681225"/>
            <a:ext cx="7557728" cy="3603972"/>
            <a:chOff x="2090868" y="1567867"/>
            <a:chExt cx="5668296" cy="2702979"/>
          </a:xfrm>
        </p:grpSpPr>
        <p:pic>
          <p:nvPicPr>
            <p:cNvPr id="499" name="Google Shape;499;p75"/>
            <p:cNvPicPr preferRelativeResize="0"/>
            <p:nvPr/>
          </p:nvPicPr>
          <p:blipFill rotWithShape="1">
            <a:blip r:embed="rId5">
              <a:alphaModFix/>
              <a:duotone>
                <a:schemeClr val="accent1">
                  <a:shade val="45000"/>
                  <a:satMod val="135000"/>
                </a:schemeClr>
                <a:prstClr val="white"/>
              </a:duotone>
            </a:blip>
            <a:srcRect/>
            <a:stretch/>
          </p:blipFill>
          <p:spPr>
            <a:xfrm>
              <a:off x="3626527" y="3209511"/>
              <a:ext cx="1061335" cy="1061335"/>
            </a:xfrm>
            <a:prstGeom prst="rect">
              <a:avLst/>
            </a:prstGeom>
            <a:noFill/>
            <a:ln>
              <a:noFill/>
            </a:ln>
            <a:effectLst>
              <a:outerShdw blurRad="57150" dist="57150" dir="2400000" algn="bl" rotWithShape="0">
                <a:srgbClr val="979797">
                  <a:alpha val="22000"/>
                </a:srgbClr>
              </a:outerShdw>
            </a:effectLst>
          </p:spPr>
        </p:pic>
        <p:pic>
          <p:nvPicPr>
            <p:cNvPr id="500" name="Google Shape;500;p75"/>
            <p:cNvPicPr preferRelativeResize="0"/>
            <p:nvPr/>
          </p:nvPicPr>
          <p:blipFill rotWithShape="1">
            <a:blip r:embed="rId6">
              <a:alphaModFix/>
              <a:duotone>
                <a:schemeClr val="accent1">
                  <a:shade val="45000"/>
                  <a:satMod val="135000"/>
                </a:schemeClr>
                <a:prstClr val="white"/>
              </a:duotone>
            </a:blip>
            <a:srcRect/>
            <a:stretch/>
          </p:blipFill>
          <p:spPr>
            <a:xfrm>
              <a:off x="6697784" y="1567867"/>
              <a:ext cx="1061335" cy="1061335"/>
            </a:xfrm>
            <a:prstGeom prst="rect">
              <a:avLst/>
            </a:prstGeom>
            <a:noFill/>
            <a:ln>
              <a:noFill/>
            </a:ln>
            <a:effectLst>
              <a:outerShdw blurRad="57150" dist="57150" dir="2400000" algn="bl" rotWithShape="0">
                <a:srgbClr val="979797">
                  <a:alpha val="22000"/>
                </a:srgbClr>
              </a:outerShdw>
            </a:effectLst>
          </p:spPr>
        </p:pic>
        <p:pic>
          <p:nvPicPr>
            <p:cNvPr id="501" name="Google Shape;501;p75"/>
            <p:cNvPicPr preferRelativeResize="0"/>
            <p:nvPr/>
          </p:nvPicPr>
          <p:blipFill rotWithShape="1">
            <a:blip r:embed="rId7">
              <a:alphaModFix/>
              <a:duotone>
                <a:schemeClr val="accent1">
                  <a:shade val="45000"/>
                  <a:satMod val="135000"/>
                </a:schemeClr>
                <a:prstClr val="white"/>
              </a:duotone>
            </a:blip>
            <a:srcRect/>
            <a:stretch/>
          </p:blipFill>
          <p:spPr>
            <a:xfrm>
              <a:off x="5162187" y="3209511"/>
              <a:ext cx="1061335" cy="1061335"/>
            </a:xfrm>
            <a:prstGeom prst="rect">
              <a:avLst/>
            </a:prstGeom>
            <a:noFill/>
            <a:ln>
              <a:noFill/>
            </a:ln>
            <a:effectLst>
              <a:outerShdw blurRad="57150" dist="57150" dir="2400000" algn="bl" rotWithShape="0">
                <a:srgbClr val="979797">
                  <a:alpha val="22000"/>
                </a:srgbClr>
              </a:outerShdw>
            </a:effectLst>
          </p:spPr>
        </p:pic>
        <p:pic>
          <p:nvPicPr>
            <p:cNvPr id="502" name="Google Shape;502;p75"/>
            <p:cNvPicPr preferRelativeResize="0"/>
            <p:nvPr/>
          </p:nvPicPr>
          <p:blipFill rotWithShape="1">
            <a:blip r:embed="rId8">
              <a:alphaModFix/>
              <a:duotone>
                <a:schemeClr val="accent1">
                  <a:shade val="45000"/>
                  <a:satMod val="135000"/>
                </a:schemeClr>
                <a:prstClr val="white"/>
              </a:duotone>
            </a:blip>
            <a:srcRect/>
            <a:stretch/>
          </p:blipFill>
          <p:spPr>
            <a:xfrm>
              <a:off x="3626511" y="1567867"/>
              <a:ext cx="1061335" cy="1061335"/>
            </a:xfrm>
            <a:prstGeom prst="rect">
              <a:avLst/>
            </a:prstGeom>
            <a:noFill/>
            <a:ln>
              <a:noFill/>
            </a:ln>
            <a:effectLst>
              <a:outerShdw blurRad="57150" dist="57150" dir="2400000" algn="bl" rotWithShape="0">
                <a:srgbClr val="979797">
                  <a:alpha val="22000"/>
                </a:srgbClr>
              </a:outerShdw>
            </a:effectLst>
          </p:spPr>
        </p:pic>
        <p:pic>
          <p:nvPicPr>
            <p:cNvPr id="503" name="Google Shape;503;p75"/>
            <p:cNvPicPr preferRelativeResize="0"/>
            <p:nvPr/>
          </p:nvPicPr>
          <p:blipFill rotWithShape="1">
            <a:blip r:embed="rId9">
              <a:alphaModFix/>
              <a:duotone>
                <a:schemeClr val="accent1">
                  <a:shade val="45000"/>
                  <a:satMod val="135000"/>
                </a:schemeClr>
                <a:prstClr val="white"/>
              </a:duotone>
            </a:blip>
            <a:srcRect/>
            <a:stretch/>
          </p:blipFill>
          <p:spPr>
            <a:xfrm>
              <a:off x="2090868" y="3209511"/>
              <a:ext cx="1061335" cy="1061335"/>
            </a:xfrm>
            <a:prstGeom prst="rect">
              <a:avLst/>
            </a:prstGeom>
            <a:noFill/>
            <a:ln>
              <a:noFill/>
            </a:ln>
            <a:effectLst>
              <a:outerShdw blurRad="57150" dist="57150" dir="2400000" algn="bl" rotWithShape="0">
                <a:srgbClr val="979797">
                  <a:alpha val="22000"/>
                </a:srgbClr>
              </a:outerShdw>
            </a:effectLst>
          </p:spPr>
        </p:pic>
        <p:pic>
          <p:nvPicPr>
            <p:cNvPr id="504" name="Google Shape;504;p75"/>
            <p:cNvPicPr preferRelativeResize="0"/>
            <p:nvPr/>
          </p:nvPicPr>
          <p:blipFill rotWithShape="1">
            <a:blip r:embed="rId10">
              <a:alphaModFix/>
              <a:duotone>
                <a:schemeClr val="accent1">
                  <a:shade val="45000"/>
                  <a:satMod val="135000"/>
                </a:schemeClr>
                <a:prstClr val="white"/>
              </a:duotone>
            </a:blip>
            <a:srcRect/>
            <a:stretch/>
          </p:blipFill>
          <p:spPr>
            <a:xfrm>
              <a:off x="2090875" y="1567867"/>
              <a:ext cx="1061335" cy="1061335"/>
            </a:xfrm>
            <a:prstGeom prst="rect">
              <a:avLst/>
            </a:prstGeom>
            <a:noFill/>
            <a:ln>
              <a:noFill/>
            </a:ln>
            <a:effectLst>
              <a:outerShdw blurRad="57150" dist="57150" dir="2400000" algn="bl" rotWithShape="0">
                <a:srgbClr val="979797">
                  <a:alpha val="22000"/>
                </a:srgbClr>
              </a:outerShdw>
            </a:effectLst>
          </p:spPr>
        </p:pic>
        <p:pic>
          <p:nvPicPr>
            <p:cNvPr id="505" name="Google Shape;505;p75"/>
            <p:cNvPicPr preferRelativeResize="0"/>
            <p:nvPr/>
          </p:nvPicPr>
          <p:blipFill rotWithShape="1">
            <a:blip r:embed="rId11">
              <a:alphaModFix/>
              <a:duotone>
                <a:schemeClr val="accent1">
                  <a:shade val="45000"/>
                  <a:satMod val="135000"/>
                </a:schemeClr>
                <a:prstClr val="white"/>
              </a:duotone>
            </a:blip>
            <a:srcRect/>
            <a:stretch/>
          </p:blipFill>
          <p:spPr>
            <a:xfrm>
              <a:off x="5162147" y="1567867"/>
              <a:ext cx="1061335" cy="1061335"/>
            </a:xfrm>
            <a:prstGeom prst="rect">
              <a:avLst/>
            </a:prstGeom>
            <a:noFill/>
            <a:ln>
              <a:noFill/>
            </a:ln>
            <a:effectLst>
              <a:outerShdw blurRad="57150" dist="57150" dir="2400000" algn="bl" rotWithShape="0">
                <a:srgbClr val="979797">
                  <a:alpha val="22000"/>
                </a:srgbClr>
              </a:outerShdw>
            </a:effectLst>
          </p:spPr>
        </p:pic>
        <p:pic>
          <p:nvPicPr>
            <p:cNvPr id="506" name="Google Shape;506;p75"/>
            <p:cNvPicPr preferRelativeResize="0"/>
            <p:nvPr/>
          </p:nvPicPr>
          <p:blipFill rotWithShape="1">
            <a:blip r:embed="rId12">
              <a:alphaModFix/>
              <a:duotone>
                <a:schemeClr val="accent1">
                  <a:shade val="45000"/>
                  <a:satMod val="135000"/>
                </a:schemeClr>
                <a:prstClr val="white"/>
              </a:duotone>
            </a:blip>
            <a:srcRect/>
            <a:stretch/>
          </p:blipFill>
          <p:spPr>
            <a:xfrm>
              <a:off x="6697846" y="3209519"/>
              <a:ext cx="1061318" cy="1061318"/>
            </a:xfrm>
            <a:prstGeom prst="rect">
              <a:avLst/>
            </a:prstGeom>
            <a:noFill/>
            <a:ln>
              <a:noFill/>
            </a:ln>
            <a:effectLst>
              <a:outerShdw blurRad="57150" dist="57150" dir="2400000" algn="bl" rotWithShape="0">
                <a:srgbClr val="979797">
                  <a:alpha val="2200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grpSp>
        <p:nvGrpSpPr>
          <p:cNvPr id="1242" name="Google Shape;1242;p141"/>
          <p:cNvGrpSpPr/>
          <p:nvPr/>
        </p:nvGrpSpPr>
        <p:grpSpPr>
          <a:xfrm>
            <a:off x="257601" y="3263665"/>
            <a:ext cx="11547844" cy="3090037"/>
            <a:chOff x="2700" y="34273"/>
            <a:chExt cx="8660883" cy="2223902"/>
          </a:xfrm>
        </p:grpSpPr>
        <p:sp>
          <p:nvSpPr>
            <p:cNvPr id="1243" name="Google Shape;1243;p141"/>
            <p:cNvSpPr txBox="1"/>
            <p:nvPr/>
          </p:nvSpPr>
          <p:spPr>
            <a:xfrm>
              <a:off x="2955693" y="351075"/>
              <a:ext cx="2743500" cy="1907100"/>
            </a:xfrm>
            <a:prstGeom prst="rect">
              <a:avLst/>
            </a:prstGeom>
            <a:noFill/>
            <a:ln>
              <a:noFill/>
            </a:ln>
          </p:spPr>
          <p:txBody>
            <a:bodyPr spcFirstLastPara="1" wrap="square" lIns="78200" tIns="78200" rIns="104300" bIns="117333" anchor="t" anchorCtr="0">
              <a:noAutofit/>
            </a:bodyPr>
            <a:lstStyle/>
            <a:p>
              <a:pPr marL="285750"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Highest technical decision body consisting of project maintainers and voting members</a:t>
              </a:r>
              <a:endParaRPr dirty="0">
                <a:latin typeface="+mn-lt"/>
                <a:ea typeface="Open Sans"/>
                <a:cs typeface="Open Sans"/>
                <a:sym typeface="Open Sans"/>
              </a:endParaRPr>
            </a:p>
            <a:p>
              <a:pPr marL="285750"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Sets technical direction for the project</a:t>
              </a:r>
              <a:endParaRPr dirty="0">
                <a:latin typeface="+mn-lt"/>
                <a:ea typeface="Open Sans"/>
                <a:cs typeface="Open Sans"/>
                <a:sym typeface="Open Sans"/>
              </a:endParaRPr>
            </a:p>
            <a:p>
              <a:pPr marL="285750"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Coordinates X-community collaboration </a:t>
              </a:r>
              <a:endParaRPr dirty="0">
                <a:latin typeface="+mn-lt"/>
                <a:ea typeface="Open Sans"/>
                <a:cs typeface="Open Sans"/>
                <a:sym typeface="Open Sans"/>
              </a:endParaRPr>
            </a:p>
            <a:p>
              <a:pPr marL="630238" lvl="8" indent="-285750">
                <a:buClr>
                  <a:srgbClr val="0A8276"/>
                </a:buClr>
                <a:buSzPts val="800"/>
                <a:buFont typeface="Arial" panose="020B0604020202020204" pitchFamily="34" charset="0"/>
                <a:buChar char="‒"/>
              </a:pPr>
              <a:r>
                <a:rPr lang="en" dirty="0">
                  <a:latin typeface="+mn-lt"/>
                  <a:ea typeface="Open Sans"/>
                  <a:cs typeface="Open Sans"/>
                  <a:sym typeface="Open Sans"/>
                </a:rPr>
                <a:t>Sets up new projects</a:t>
              </a:r>
              <a:endParaRPr dirty="0">
                <a:latin typeface="+mn-lt"/>
                <a:ea typeface="Open Sans"/>
                <a:cs typeface="Open Sans"/>
                <a:sym typeface="Open Sans"/>
              </a:endParaRPr>
            </a:p>
            <a:p>
              <a:pPr marL="630238" lvl="8" indent="-285750">
                <a:buClr>
                  <a:srgbClr val="0A8276"/>
                </a:buClr>
                <a:buSzPts val="800"/>
                <a:buFont typeface="Arial" panose="020B0604020202020204" pitchFamily="34" charset="0"/>
                <a:buChar char="‒"/>
              </a:pPr>
              <a:r>
                <a:rPr lang="en" dirty="0">
                  <a:latin typeface="+mn-lt"/>
                  <a:ea typeface="Open Sans"/>
                  <a:cs typeface="Open Sans"/>
                  <a:sym typeface="Open Sans"/>
                </a:rPr>
                <a:t>Coordinates releases</a:t>
              </a:r>
              <a:endParaRPr dirty="0">
                <a:latin typeface="+mn-lt"/>
                <a:ea typeface="Open Sans"/>
                <a:cs typeface="Open Sans"/>
                <a:sym typeface="Open Sans"/>
              </a:endParaRPr>
            </a:p>
            <a:p>
              <a:pPr marL="630238" lvl="8" indent="-285750">
                <a:buClr>
                  <a:srgbClr val="0A8276"/>
                </a:buClr>
                <a:buSzPts val="800"/>
                <a:buFont typeface="Arial" panose="020B0604020202020204" pitchFamily="34" charset="0"/>
                <a:buChar char="‒"/>
              </a:pPr>
              <a:r>
                <a:rPr lang="en" dirty="0">
                  <a:latin typeface="+mn-lt"/>
                  <a:ea typeface="Open Sans"/>
                  <a:cs typeface="Open Sans"/>
                  <a:sym typeface="Open Sans"/>
                </a:rPr>
                <a:t>Enforces development processes</a:t>
              </a:r>
              <a:endParaRPr dirty="0">
                <a:latin typeface="+mn-lt"/>
                <a:ea typeface="Open Sans"/>
                <a:cs typeface="Open Sans"/>
                <a:sym typeface="Open Sans"/>
              </a:endParaRPr>
            </a:p>
            <a:p>
              <a:pPr marL="630238" lvl="8" indent="-285750">
                <a:buClr>
                  <a:srgbClr val="0A8276"/>
                </a:buClr>
                <a:buSzPts val="800"/>
                <a:buFont typeface="Arial" panose="020B0604020202020204" pitchFamily="34" charset="0"/>
                <a:buChar char="‒"/>
              </a:pPr>
              <a:r>
                <a:rPr lang="en" dirty="0">
                  <a:latin typeface="+mn-lt"/>
                  <a:ea typeface="Open Sans"/>
                  <a:cs typeface="Open Sans"/>
                  <a:sym typeface="Open Sans"/>
                </a:rPr>
                <a:t>Moderates working groups</a:t>
              </a:r>
              <a:endParaRPr dirty="0">
                <a:latin typeface="+mn-lt"/>
                <a:ea typeface="Open Sans"/>
                <a:cs typeface="Open Sans"/>
                <a:sym typeface="Open Sans"/>
              </a:endParaRPr>
            </a:p>
            <a:p>
              <a:pPr marL="285750"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Oversees relationships with other relevant projects</a:t>
              </a:r>
              <a:endParaRPr dirty="0">
                <a:latin typeface="+mn-lt"/>
                <a:ea typeface="Open Sans"/>
                <a:cs typeface="Open Sans"/>
                <a:sym typeface="Open Sans"/>
              </a:endParaRPr>
            </a:p>
          </p:txBody>
        </p:sp>
        <p:sp>
          <p:nvSpPr>
            <p:cNvPr id="1244" name="Google Shape;1244;p141"/>
            <p:cNvSpPr/>
            <p:nvPr/>
          </p:nvSpPr>
          <p:spPr>
            <a:xfrm>
              <a:off x="2708" y="34273"/>
              <a:ext cx="2640600" cy="316800"/>
            </a:xfrm>
            <a:prstGeom prst="rect">
              <a:avLst/>
            </a:prstGeom>
            <a:solidFill>
              <a:srgbClr val="715A92"/>
            </a:solidFill>
            <a:ln w="25400" cap="flat" cmpd="sng">
              <a:solidFill>
                <a:srgbClr val="715A92"/>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1245" name="Google Shape;1245;p141"/>
            <p:cNvSpPr txBox="1"/>
            <p:nvPr/>
          </p:nvSpPr>
          <p:spPr>
            <a:xfrm>
              <a:off x="2708" y="34273"/>
              <a:ext cx="2640600" cy="316800"/>
            </a:xfrm>
            <a:prstGeom prst="rect">
              <a:avLst/>
            </a:prstGeom>
            <a:solidFill>
              <a:srgbClr val="0A8276"/>
            </a:solidFill>
            <a:ln>
              <a:noFill/>
            </a:ln>
          </p:spPr>
          <p:txBody>
            <a:bodyPr spcFirstLastPara="1" wrap="square" lIns="104300" tIns="59600" rIns="104300" bIns="59600" anchor="ctr" anchorCtr="0">
              <a:noAutofit/>
            </a:bodyPr>
            <a:lstStyle/>
            <a:p>
              <a:pPr algn="ctr">
                <a:lnSpc>
                  <a:spcPct val="90000"/>
                </a:lnSpc>
                <a:spcBef>
                  <a:spcPts val="0"/>
                </a:spcBef>
                <a:spcAft>
                  <a:spcPts val="0"/>
                </a:spcAft>
                <a:buClr>
                  <a:schemeClr val="lt1"/>
                </a:buClr>
                <a:buSzPts val="1100"/>
              </a:pPr>
              <a:r>
                <a:rPr lang="en" sz="1467" b="1">
                  <a:solidFill>
                    <a:schemeClr val="lt1"/>
                  </a:solidFill>
                  <a:latin typeface="Open Sans"/>
                  <a:ea typeface="Open Sans"/>
                  <a:cs typeface="Open Sans"/>
                  <a:sym typeface="Open Sans"/>
                </a:rPr>
                <a:t>Governing Board</a:t>
              </a:r>
              <a:endParaRPr sz="1467" b="1">
                <a:solidFill>
                  <a:srgbClr val="000000"/>
                </a:solidFill>
                <a:latin typeface="Open Sans"/>
                <a:ea typeface="Open Sans"/>
                <a:cs typeface="Open Sans"/>
                <a:sym typeface="Open Sans"/>
              </a:endParaRPr>
            </a:p>
          </p:txBody>
        </p:sp>
        <p:sp>
          <p:nvSpPr>
            <p:cNvPr id="1246" name="Google Shape;1246;p141"/>
            <p:cNvSpPr/>
            <p:nvPr/>
          </p:nvSpPr>
          <p:spPr>
            <a:xfrm>
              <a:off x="2708" y="351073"/>
              <a:ext cx="2640600" cy="19071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1247" name="Google Shape;1247;p141"/>
            <p:cNvSpPr txBox="1"/>
            <p:nvPr/>
          </p:nvSpPr>
          <p:spPr>
            <a:xfrm>
              <a:off x="2700" y="351071"/>
              <a:ext cx="2640600" cy="1828200"/>
            </a:xfrm>
            <a:prstGeom prst="rect">
              <a:avLst/>
            </a:prstGeom>
            <a:noFill/>
            <a:ln>
              <a:noFill/>
            </a:ln>
          </p:spPr>
          <p:txBody>
            <a:bodyPr spcFirstLastPara="1" wrap="square" lIns="78200" tIns="78200" rIns="104300" bIns="117333" anchor="t" anchorCtr="0">
              <a:noAutofit/>
            </a:bodyPr>
            <a:lstStyle/>
            <a:p>
              <a:pPr marL="302682" indent="-285750">
                <a:spcBef>
                  <a:spcPts val="0"/>
                </a:spcBef>
                <a:spcAft>
                  <a:spcPts val="300"/>
                </a:spcAft>
                <a:buClr>
                  <a:srgbClr val="0A8276"/>
                </a:buClr>
                <a:buSzPts val="800"/>
                <a:buFont typeface="Arial" panose="020B0604020202020204" pitchFamily="34" charset="0"/>
                <a:buChar char="‒"/>
              </a:pPr>
              <a:r>
                <a:rPr lang="en" dirty="0">
                  <a:sym typeface="Open Sans"/>
                </a:rPr>
                <a:t>Decides project goals and strategic objectives</a:t>
              </a:r>
              <a:endParaRPr dirty="0">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sym typeface="Open Sans"/>
                </a:rPr>
                <a:t>Makes business , marketing and legal decisions</a:t>
              </a:r>
              <a:endParaRPr dirty="0">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sym typeface="Open Sans"/>
                </a:rPr>
                <a:t>Prioritizes investments and oversees budget</a:t>
              </a:r>
              <a:endParaRPr dirty="0">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sym typeface="Open Sans"/>
                </a:rPr>
                <a:t>Oversees marketing such as PR/AR, branding, others</a:t>
              </a:r>
              <a:endParaRPr dirty="0">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sym typeface="Open Sans"/>
                </a:rPr>
                <a:t>Identifies member requirements</a:t>
              </a:r>
              <a:endParaRPr dirty="0">
                <a:sym typeface="Open Sans"/>
              </a:endParaRPr>
            </a:p>
          </p:txBody>
        </p:sp>
        <p:sp>
          <p:nvSpPr>
            <p:cNvPr id="1248" name="Google Shape;1248;p141"/>
            <p:cNvSpPr/>
            <p:nvPr/>
          </p:nvSpPr>
          <p:spPr>
            <a:xfrm>
              <a:off x="3012845" y="34273"/>
              <a:ext cx="2640600" cy="316800"/>
            </a:xfrm>
            <a:prstGeom prst="rect">
              <a:avLst/>
            </a:prstGeom>
            <a:solidFill>
              <a:srgbClr val="917EAC"/>
            </a:solidFill>
            <a:ln w="25400" cap="flat" cmpd="sng">
              <a:solidFill>
                <a:srgbClr val="917EAC"/>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1249" name="Google Shape;1249;p141"/>
            <p:cNvSpPr txBox="1"/>
            <p:nvPr/>
          </p:nvSpPr>
          <p:spPr>
            <a:xfrm>
              <a:off x="3012845" y="34273"/>
              <a:ext cx="2640600" cy="316800"/>
            </a:xfrm>
            <a:prstGeom prst="rect">
              <a:avLst/>
            </a:prstGeom>
            <a:solidFill>
              <a:srgbClr val="3B9B91"/>
            </a:solidFill>
            <a:ln>
              <a:noFill/>
            </a:ln>
          </p:spPr>
          <p:txBody>
            <a:bodyPr spcFirstLastPara="1" wrap="square" lIns="104300" tIns="59600" rIns="104300" bIns="59600" anchor="ctr" anchorCtr="0">
              <a:noAutofit/>
            </a:bodyPr>
            <a:lstStyle/>
            <a:p>
              <a:pPr algn="ctr">
                <a:lnSpc>
                  <a:spcPct val="90000"/>
                </a:lnSpc>
                <a:spcBef>
                  <a:spcPts val="0"/>
                </a:spcBef>
                <a:spcAft>
                  <a:spcPts val="0"/>
                </a:spcAft>
                <a:buClr>
                  <a:schemeClr val="lt1"/>
                </a:buClr>
                <a:buSzPts val="1100"/>
              </a:pPr>
              <a:r>
                <a:rPr lang="en" sz="1467" b="1">
                  <a:solidFill>
                    <a:schemeClr val="lt1"/>
                  </a:solidFill>
                  <a:latin typeface="Open Sans"/>
                  <a:ea typeface="Open Sans"/>
                  <a:cs typeface="Open Sans"/>
                  <a:sym typeface="Open Sans"/>
                </a:rPr>
                <a:t>Technical Steering Committee</a:t>
              </a:r>
              <a:endParaRPr sz="1467" b="1">
                <a:solidFill>
                  <a:srgbClr val="000000"/>
                </a:solidFill>
                <a:latin typeface="Open Sans"/>
                <a:ea typeface="Open Sans"/>
                <a:cs typeface="Open Sans"/>
                <a:sym typeface="Open Sans"/>
              </a:endParaRPr>
            </a:p>
          </p:txBody>
        </p:sp>
        <p:sp>
          <p:nvSpPr>
            <p:cNvPr id="1250" name="Google Shape;1250;p141"/>
            <p:cNvSpPr/>
            <p:nvPr/>
          </p:nvSpPr>
          <p:spPr>
            <a:xfrm>
              <a:off x="6022983" y="34273"/>
              <a:ext cx="2640600" cy="316800"/>
            </a:xfrm>
            <a:prstGeom prst="rect">
              <a:avLst/>
            </a:prstGeom>
            <a:solidFill>
              <a:srgbClr val="B2A7C3"/>
            </a:solidFill>
            <a:ln w="25400" cap="flat" cmpd="sng">
              <a:solidFill>
                <a:srgbClr val="B2A7C3"/>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rgbClr val="000000"/>
                </a:buClr>
                <a:buSzPts val="1400"/>
              </a:pPr>
              <a:endParaRPr sz="1867">
                <a:solidFill>
                  <a:srgbClr val="000000"/>
                </a:solidFill>
                <a:latin typeface="Arial"/>
                <a:ea typeface="Arial"/>
                <a:cs typeface="Arial"/>
                <a:sym typeface="Arial"/>
              </a:endParaRPr>
            </a:p>
          </p:txBody>
        </p:sp>
        <p:sp>
          <p:nvSpPr>
            <p:cNvPr id="1251" name="Google Shape;1251;p141"/>
            <p:cNvSpPr txBox="1"/>
            <p:nvPr/>
          </p:nvSpPr>
          <p:spPr>
            <a:xfrm>
              <a:off x="6022983" y="34273"/>
              <a:ext cx="2640600" cy="316800"/>
            </a:xfrm>
            <a:prstGeom prst="rect">
              <a:avLst/>
            </a:prstGeom>
            <a:solidFill>
              <a:srgbClr val="6CB4AD"/>
            </a:solidFill>
            <a:ln>
              <a:noFill/>
            </a:ln>
          </p:spPr>
          <p:txBody>
            <a:bodyPr spcFirstLastPara="1" wrap="square" lIns="104300" tIns="59600" rIns="104300" bIns="59600" anchor="ctr" anchorCtr="0">
              <a:noAutofit/>
            </a:bodyPr>
            <a:lstStyle/>
            <a:p>
              <a:pPr algn="ctr">
                <a:lnSpc>
                  <a:spcPct val="90000"/>
                </a:lnSpc>
                <a:spcBef>
                  <a:spcPts val="0"/>
                </a:spcBef>
                <a:spcAft>
                  <a:spcPts val="0"/>
                </a:spcAft>
                <a:buClr>
                  <a:schemeClr val="lt1"/>
                </a:buClr>
                <a:buSzPts val="1100"/>
              </a:pPr>
              <a:r>
                <a:rPr lang="en" sz="1467" b="1">
                  <a:solidFill>
                    <a:schemeClr val="lt1"/>
                  </a:solidFill>
                  <a:latin typeface="Open Sans"/>
                  <a:ea typeface="Open Sans"/>
                  <a:cs typeface="Open Sans"/>
                  <a:sym typeface="Open Sans"/>
                </a:rPr>
                <a:t>Community</a:t>
              </a:r>
              <a:endParaRPr sz="1467" b="1">
                <a:solidFill>
                  <a:srgbClr val="000000"/>
                </a:solidFill>
                <a:latin typeface="Open Sans"/>
                <a:ea typeface="Open Sans"/>
                <a:cs typeface="Open Sans"/>
                <a:sym typeface="Open Sans"/>
              </a:endParaRPr>
            </a:p>
          </p:txBody>
        </p:sp>
        <p:sp>
          <p:nvSpPr>
            <p:cNvPr id="1252" name="Google Shape;1252;p141"/>
            <p:cNvSpPr txBox="1"/>
            <p:nvPr/>
          </p:nvSpPr>
          <p:spPr>
            <a:xfrm>
              <a:off x="6022983" y="351074"/>
              <a:ext cx="2640600" cy="1410900"/>
            </a:xfrm>
            <a:prstGeom prst="rect">
              <a:avLst/>
            </a:prstGeom>
            <a:noFill/>
            <a:ln>
              <a:noFill/>
            </a:ln>
          </p:spPr>
          <p:txBody>
            <a:bodyPr spcFirstLastPara="1" wrap="square" lIns="78200" tIns="78200" rIns="104300" bIns="117333" anchor="t" anchorCtr="0">
              <a:noAutofit/>
            </a:bodyPr>
            <a:lstStyle/>
            <a:p>
              <a:pPr marL="302682"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Code base is open to all contributors,  need not be a member to contribute.</a:t>
              </a:r>
              <a:endParaRPr dirty="0">
                <a:latin typeface="+mn-lt"/>
                <a:ea typeface="Open Sans"/>
                <a:cs typeface="Open Sans"/>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Path to committer and maintainer status through peer assessed merit of contributions and code reviews</a:t>
              </a:r>
              <a:endParaRPr dirty="0">
                <a:latin typeface="+mn-lt"/>
                <a:ea typeface="Open Sans"/>
                <a:cs typeface="Open Sans"/>
                <a:sym typeface="Open Sans"/>
              </a:endParaRPr>
            </a:p>
            <a:p>
              <a:pPr marL="302682" indent="-285750">
                <a:spcBef>
                  <a:spcPts val="0"/>
                </a:spcBef>
                <a:spcAft>
                  <a:spcPts val="300"/>
                </a:spcAft>
                <a:buClr>
                  <a:srgbClr val="0A8276"/>
                </a:buClr>
                <a:buSzPts val="800"/>
                <a:buFont typeface="Arial" panose="020B0604020202020204" pitchFamily="34" charset="0"/>
                <a:buChar char="‒"/>
              </a:pPr>
              <a:r>
                <a:rPr lang="en" dirty="0">
                  <a:latin typeface="+mn-lt"/>
                  <a:ea typeface="Open Sans"/>
                  <a:cs typeface="Open Sans"/>
                  <a:sym typeface="Open Sans"/>
                </a:rPr>
                <a:t>Ecosystem enablement</a:t>
              </a:r>
              <a:endParaRPr dirty="0">
                <a:latin typeface="+mn-lt"/>
                <a:ea typeface="Open Sans"/>
                <a:cs typeface="Open Sans"/>
                <a:sym typeface="Open Sans"/>
              </a:endParaRPr>
            </a:p>
          </p:txBody>
        </p:sp>
      </p:grpSp>
      <p:sp>
        <p:nvSpPr>
          <p:cNvPr id="1253" name="Google Shape;1253;p141"/>
          <p:cNvSpPr txBox="1"/>
          <p:nvPr/>
        </p:nvSpPr>
        <p:spPr>
          <a:xfrm>
            <a:off x="323367" y="2617923"/>
            <a:ext cx="11692400" cy="427599"/>
          </a:xfrm>
          <a:prstGeom prst="rect">
            <a:avLst/>
          </a:prstGeom>
          <a:noFill/>
          <a:ln>
            <a:noFill/>
          </a:ln>
        </p:spPr>
        <p:txBody>
          <a:bodyPr spcFirstLastPara="1" wrap="square" lIns="91400" tIns="45700" rIns="91400" bIns="45700" anchor="t" anchorCtr="0">
            <a:noAutofit/>
          </a:bodyPr>
          <a:lstStyle/>
          <a:p>
            <a:pPr algn="ctr">
              <a:spcBef>
                <a:spcPts val="0"/>
              </a:spcBef>
              <a:spcAft>
                <a:spcPts val="0"/>
              </a:spcAft>
              <a:buClr>
                <a:srgbClr val="6600CC"/>
              </a:buClr>
              <a:buSzPts val="1800"/>
            </a:pPr>
            <a:r>
              <a:rPr lang="en" sz="2000" b="1" u="sng" dirty="0">
                <a:solidFill>
                  <a:schemeClr val="accent1"/>
                </a:solidFill>
                <a:latin typeface="Open Sans"/>
                <a:ea typeface="Open Sans"/>
                <a:cs typeface="Open Sans"/>
                <a:sym typeface="Open Sans"/>
              </a:rPr>
              <a:t>Goal</a:t>
            </a:r>
            <a:r>
              <a:rPr lang="en" sz="2000" b="1" dirty="0">
                <a:solidFill>
                  <a:schemeClr val="accent1"/>
                </a:solidFill>
                <a:latin typeface="Open Sans"/>
                <a:ea typeface="Open Sans"/>
                <a:cs typeface="Open Sans"/>
                <a:sym typeface="Open Sans"/>
              </a:rPr>
              <a:t>: Separate business decisions from meritocracy-based, technical decisions</a:t>
            </a:r>
            <a:endParaRPr b="1" dirty="0">
              <a:solidFill>
                <a:schemeClr val="accent1"/>
              </a:solidFill>
              <a:latin typeface="Open Sans"/>
              <a:ea typeface="Open Sans"/>
              <a:cs typeface="Open Sans"/>
              <a:sym typeface="Open Sans"/>
            </a:endParaRPr>
          </a:p>
        </p:txBody>
      </p:sp>
      <p:grpSp>
        <p:nvGrpSpPr>
          <p:cNvPr id="1254" name="Google Shape;1254;p141"/>
          <p:cNvGrpSpPr/>
          <p:nvPr/>
        </p:nvGrpSpPr>
        <p:grpSpPr>
          <a:xfrm>
            <a:off x="328367" y="1111618"/>
            <a:ext cx="11698749" cy="1167432"/>
            <a:chOff x="246275" y="884567"/>
            <a:chExt cx="8774062" cy="875574"/>
          </a:xfrm>
        </p:grpSpPr>
        <p:sp>
          <p:nvSpPr>
            <p:cNvPr id="1255" name="Google Shape;1255;p141"/>
            <p:cNvSpPr/>
            <p:nvPr/>
          </p:nvSpPr>
          <p:spPr>
            <a:xfrm>
              <a:off x="4428412" y="1243166"/>
              <a:ext cx="1187400" cy="150600"/>
            </a:xfrm>
            <a:custGeom>
              <a:avLst/>
              <a:gdLst/>
              <a:ahLst/>
              <a:cxnLst/>
              <a:rect l="l" t="t" r="r" b="b"/>
              <a:pathLst>
                <a:path w="120000" h="120000" extrusionOk="0">
                  <a:moveTo>
                    <a:pt x="0" y="0"/>
                  </a:moveTo>
                  <a:lnTo>
                    <a:pt x="0" y="59999"/>
                  </a:lnTo>
                  <a:lnTo>
                    <a:pt x="120000" y="59999"/>
                  </a:lnTo>
                  <a:lnTo>
                    <a:pt x="12000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56" name="Google Shape;1256;p141"/>
            <p:cNvSpPr/>
            <p:nvPr/>
          </p:nvSpPr>
          <p:spPr>
            <a:xfrm>
              <a:off x="4428422" y="1243160"/>
              <a:ext cx="433800" cy="150600"/>
            </a:xfrm>
            <a:custGeom>
              <a:avLst/>
              <a:gdLst/>
              <a:ahLst/>
              <a:cxnLst/>
              <a:rect l="l" t="t" r="r" b="b"/>
              <a:pathLst>
                <a:path w="120000" h="120000" extrusionOk="0">
                  <a:moveTo>
                    <a:pt x="0" y="0"/>
                  </a:moveTo>
                  <a:lnTo>
                    <a:pt x="0" y="59999"/>
                  </a:lnTo>
                  <a:lnTo>
                    <a:pt x="120000" y="59999"/>
                  </a:lnTo>
                  <a:lnTo>
                    <a:pt x="12000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57" name="Google Shape;1257;p141"/>
            <p:cNvSpPr/>
            <p:nvPr/>
          </p:nvSpPr>
          <p:spPr>
            <a:xfrm>
              <a:off x="4108820" y="1243166"/>
              <a:ext cx="320700" cy="150600"/>
            </a:xfrm>
            <a:custGeom>
              <a:avLst/>
              <a:gdLst/>
              <a:ahLst/>
              <a:cxnLst/>
              <a:rect l="l" t="t" r="r" b="b"/>
              <a:pathLst>
                <a:path w="120000" h="120000" extrusionOk="0">
                  <a:moveTo>
                    <a:pt x="120000" y="0"/>
                  </a:moveTo>
                  <a:lnTo>
                    <a:pt x="120000" y="59999"/>
                  </a:lnTo>
                  <a:lnTo>
                    <a:pt x="0" y="59999"/>
                  </a:lnTo>
                  <a:lnTo>
                    <a:pt x="0" y="119999"/>
                  </a:lnTo>
                </a:path>
              </a:pathLst>
            </a:custGeom>
            <a:noFill/>
            <a:ln w="12700" cap="flat" cmpd="sng">
              <a:solidFill>
                <a:srgbClr val="AF7FE4"/>
              </a:solidFill>
              <a:prstDash val="solid"/>
              <a:round/>
              <a:headEnd type="none" w="sm" len="sm"/>
              <a:tailEnd type="none" w="sm" len="sm"/>
            </a:ln>
          </p:spPr>
          <p:txBody>
            <a:bodyPr/>
            <a:lstStyle/>
            <a:p>
              <a:endParaRPr lang="en-US" sz="1867"/>
            </a:p>
          </p:txBody>
        </p:sp>
        <p:sp>
          <p:nvSpPr>
            <p:cNvPr id="1258" name="Google Shape;1258;p141"/>
            <p:cNvSpPr/>
            <p:nvPr/>
          </p:nvSpPr>
          <p:spPr>
            <a:xfrm>
              <a:off x="3183882" y="1243166"/>
              <a:ext cx="1244400" cy="150600"/>
            </a:xfrm>
            <a:custGeom>
              <a:avLst/>
              <a:gdLst/>
              <a:ahLst/>
              <a:cxnLst/>
              <a:rect l="l" t="t" r="r" b="b"/>
              <a:pathLst>
                <a:path w="120000" h="120000" extrusionOk="0">
                  <a:moveTo>
                    <a:pt x="120000" y="0"/>
                  </a:moveTo>
                  <a:lnTo>
                    <a:pt x="120000" y="59999"/>
                  </a:lnTo>
                  <a:lnTo>
                    <a:pt x="0" y="59999"/>
                  </a:lnTo>
                  <a:lnTo>
                    <a:pt x="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59" name="Google Shape;1259;p141"/>
            <p:cNvSpPr/>
            <p:nvPr/>
          </p:nvSpPr>
          <p:spPr>
            <a:xfrm>
              <a:off x="1391140" y="1243160"/>
              <a:ext cx="964500" cy="150600"/>
            </a:xfrm>
            <a:custGeom>
              <a:avLst/>
              <a:gdLst/>
              <a:ahLst/>
              <a:cxnLst/>
              <a:rect l="l" t="t" r="r" b="b"/>
              <a:pathLst>
                <a:path w="120000" h="120000" extrusionOk="0">
                  <a:moveTo>
                    <a:pt x="0" y="0"/>
                  </a:moveTo>
                  <a:lnTo>
                    <a:pt x="0" y="59999"/>
                  </a:lnTo>
                  <a:lnTo>
                    <a:pt x="120000" y="59999"/>
                  </a:lnTo>
                  <a:lnTo>
                    <a:pt x="12000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60" name="Google Shape;1260;p141"/>
            <p:cNvSpPr/>
            <p:nvPr/>
          </p:nvSpPr>
          <p:spPr>
            <a:xfrm>
              <a:off x="627875" y="1243160"/>
              <a:ext cx="763200" cy="150600"/>
            </a:xfrm>
            <a:custGeom>
              <a:avLst/>
              <a:gdLst/>
              <a:ahLst/>
              <a:cxnLst/>
              <a:rect l="l" t="t" r="r" b="b"/>
              <a:pathLst>
                <a:path w="120000" h="120000" extrusionOk="0">
                  <a:moveTo>
                    <a:pt x="120000" y="0"/>
                  </a:moveTo>
                  <a:lnTo>
                    <a:pt x="120000" y="59999"/>
                  </a:lnTo>
                  <a:lnTo>
                    <a:pt x="0" y="59999"/>
                  </a:lnTo>
                  <a:lnTo>
                    <a:pt x="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61" name="Google Shape;1261;p141"/>
            <p:cNvSpPr/>
            <p:nvPr/>
          </p:nvSpPr>
          <p:spPr>
            <a:xfrm>
              <a:off x="1211843" y="88456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2" name="Google Shape;1262;p141"/>
            <p:cNvSpPr/>
            <p:nvPr/>
          </p:nvSpPr>
          <p:spPr>
            <a:xfrm>
              <a:off x="1211843" y="884567"/>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3" name="Google Shape;1263;p141"/>
            <p:cNvSpPr/>
            <p:nvPr/>
          </p:nvSpPr>
          <p:spPr>
            <a:xfrm>
              <a:off x="1032547" y="949113"/>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4" name="Google Shape;1264;p141"/>
            <p:cNvSpPr/>
            <p:nvPr/>
          </p:nvSpPr>
          <p:spPr>
            <a:xfrm>
              <a:off x="448578"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5" name="Google Shape;1265;p141"/>
            <p:cNvSpPr/>
            <p:nvPr/>
          </p:nvSpPr>
          <p:spPr>
            <a:xfrm>
              <a:off x="448578"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6" name="Google Shape;1266;p141"/>
            <p:cNvSpPr/>
            <p:nvPr/>
          </p:nvSpPr>
          <p:spPr>
            <a:xfrm>
              <a:off x="269281"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7" name="Google Shape;1267;p141"/>
            <p:cNvSpPr/>
            <p:nvPr/>
          </p:nvSpPr>
          <p:spPr>
            <a:xfrm>
              <a:off x="1076227"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8" name="Google Shape;1268;p141"/>
            <p:cNvSpPr/>
            <p:nvPr/>
          </p:nvSpPr>
          <p:spPr>
            <a:xfrm>
              <a:off x="1076227"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69" name="Google Shape;1269;p141"/>
            <p:cNvSpPr/>
            <p:nvPr/>
          </p:nvSpPr>
          <p:spPr>
            <a:xfrm>
              <a:off x="1125529"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0" name="Google Shape;1270;p141"/>
            <p:cNvSpPr/>
            <p:nvPr/>
          </p:nvSpPr>
          <p:spPr>
            <a:xfrm>
              <a:off x="2176264"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1" name="Google Shape;1271;p141"/>
            <p:cNvSpPr/>
            <p:nvPr/>
          </p:nvSpPr>
          <p:spPr>
            <a:xfrm>
              <a:off x="2176264"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2" name="Google Shape;1272;p141"/>
            <p:cNvSpPr/>
            <p:nvPr/>
          </p:nvSpPr>
          <p:spPr>
            <a:xfrm>
              <a:off x="1996968"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3" name="Google Shape;1273;p141"/>
            <p:cNvSpPr/>
            <p:nvPr/>
          </p:nvSpPr>
          <p:spPr>
            <a:xfrm>
              <a:off x="3988766" y="949113"/>
              <a:ext cx="879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4" name="Google Shape;1274;p141"/>
            <p:cNvSpPr/>
            <p:nvPr/>
          </p:nvSpPr>
          <p:spPr>
            <a:xfrm>
              <a:off x="3004584"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5" name="Google Shape;1275;p141"/>
            <p:cNvSpPr/>
            <p:nvPr/>
          </p:nvSpPr>
          <p:spPr>
            <a:xfrm>
              <a:off x="3004584"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6" name="Google Shape;1276;p141"/>
            <p:cNvSpPr/>
            <p:nvPr/>
          </p:nvSpPr>
          <p:spPr>
            <a:xfrm>
              <a:off x="2768136"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7" name="Google Shape;1277;p141"/>
            <p:cNvSpPr/>
            <p:nvPr/>
          </p:nvSpPr>
          <p:spPr>
            <a:xfrm>
              <a:off x="3929529"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8" name="Google Shape;1278;p141"/>
            <p:cNvSpPr/>
            <p:nvPr/>
          </p:nvSpPr>
          <p:spPr>
            <a:xfrm>
              <a:off x="3929529"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79" name="Google Shape;1279;p141"/>
            <p:cNvSpPr/>
            <p:nvPr/>
          </p:nvSpPr>
          <p:spPr>
            <a:xfrm>
              <a:off x="3635931"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0" name="Google Shape;1280;p141"/>
            <p:cNvSpPr txBox="1"/>
            <p:nvPr/>
          </p:nvSpPr>
          <p:spPr>
            <a:xfrm>
              <a:off x="3750232" y="1458322"/>
              <a:ext cx="717300" cy="229500"/>
            </a:xfrm>
            <a:prstGeom prst="rect">
              <a:avLst/>
            </a:prstGeom>
            <a:noFill/>
            <a:ln>
              <a:noFill/>
            </a:ln>
          </p:spPr>
          <p:txBody>
            <a:bodyPr spcFirstLastPara="1" wrap="square" lIns="7600" tIns="7600" rIns="7600" bIns="76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Security Architect</a:t>
              </a:r>
              <a:endParaRPr sz="1000">
                <a:solidFill>
                  <a:srgbClr val="000000"/>
                </a:solidFill>
                <a:latin typeface="Open Sans"/>
                <a:ea typeface="Open Sans"/>
                <a:cs typeface="Open Sans"/>
                <a:sym typeface="Open Sans"/>
              </a:endParaRPr>
            </a:p>
          </p:txBody>
        </p:sp>
        <p:sp>
          <p:nvSpPr>
            <p:cNvPr id="1281" name="Google Shape;1281;p141"/>
            <p:cNvSpPr/>
            <p:nvPr/>
          </p:nvSpPr>
          <p:spPr>
            <a:xfrm>
              <a:off x="4683023"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2" name="Google Shape;1282;p141"/>
            <p:cNvSpPr/>
            <p:nvPr/>
          </p:nvSpPr>
          <p:spPr>
            <a:xfrm>
              <a:off x="4683023"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3" name="Google Shape;1283;p141"/>
            <p:cNvSpPr/>
            <p:nvPr/>
          </p:nvSpPr>
          <p:spPr>
            <a:xfrm>
              <a:off x="4503727"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4" name="Google Shape;1284;p141"/>
            <p:cNvSpPr txBox="1"/>
            <p:nvPr/>
          </p:nvSpPr>
          <p:spPr>
            <a:xfrm>
              <a:off x="4535747" y="1458322"/>
              <a:ext cx="656700" cy="229500"/>
            </a:xfrm>
            <a:prstGeom prst="rect">
              <a:avLst/>
            </a:prstGeom>
            <a:noFill/>
            <a:ln>
              <a:noFill/>
            </a:ln>
          </p:spPr>
          <p:txBody>
            <a:bodyPr spcFirstLastPara="1" wrap="square" lIns="7600" tIns="7600" rIns="7600" bIns="76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Safety Architect</a:t>
              </a:r>
              <a:endParaRPr sz="1000">
                <a:solidFill>
                  <a:srgbClr val="000000"/>
                </a:solidFill>
                <a:latin typeface="Open Sans"/>
                <a:ea typeface="Open Sans"/>
                <a:cs typeface="Open Sans"/>
                <a:sym typeface="Open Sans"/>
              </a:endParaRPr>
            </a:p>
          </p:txBody>
        </p:sp>
        <p:sp>
          <p:nvSpPr>
            <p:cNvPr id="1285" name="Google Shape;1285;p141"/>
            <p:cNvSpPr/>
            <p:nvPr/>
          </p:nvSpPr>
          <p:spPr>
            <a:xfrm>
              <a:off x="5436518"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6" name="Google Shape;1286;p141"/>
            <p:cNvSpPr/>
            <p:nvPr/>
          </p:nvSpPr>
          <p:spPr>
            <a:xfrm>
              <a:off x="5436518" y="1401533"/>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7" name="Google Shape;1287;p141"/>
            <p:cNvSpPr/>
            <p:nvPr/>
          </p:nvSpPr>
          <p:spPr>
            <a:xfrm>
              <a:off x="5257222" y="1458315"/>
              <a:ext cx="717300" cy="2295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88" name="Google Shape;1288;p141"/>
            <p:cNvSpPr/>
            <p:nvPr/>
          </p:nvSpPr>
          <p:spPr>
            <a:xfrm>
              <a:off x="7531635" y="1251109"/>
              <a:ext cx="1164300" cy="1347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89" name="Google Shape;1289;p141"/>
            <p:cNvSpPr/>
            <p:nvPr/>
          </p:nvSpPr>
          <p:spPr>
            <a:xfrm>
              <a:off x="7531632" y="1251107"/>
              <a:ext cx="450300" cy="134700"/>
            </a:xfrm>
            <a:custGeom>
              <a:avLst/>
              <a:gdLst/>
              <a:ahLst/>
              <a:cxnLst/>
              <a:rect l="l" t="t" r="r" b="b"/>
              <a:pathLst>
                <a:path w="120000" h="120000" extrusionOk="0">
                  <a:moveTo>
                    <a:pt x="0" y="0"/>
                  </a:moveTo>
                  <a:lnTo>
                    <a:pt x="0" y="60000"/>
                  </a:lnTo>
                  <a:lnTo>
                    <a:pt x="120000" y="60000"/>
                  </a:lnTo>
                  <a:lnTo>
                    <a:pt x="120000" y="120000"/>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90" name="Google Shape;1290;p141"/>
            <p:cNvSpPr/>
            <p:nvPr/>
          </p:nvSpPr>
          <p:spPr>
            <a:xfrm>
              <a:off x="7143547" y="1251109"/>
              <a:ext cx="388200" cy="1347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AF7FE4"/>
              </a:solidFill>
              <a:prstDash val="solid"/>
              <a:round/>
              <a:headEnd type="none" w="sm" len="sm"/>
              <a:tailEnd type="none" w="sm" len="sm"/>
            </a:ln>
          </p:spPr>
          <p:txBody>
            <a:bodyPr/>
            <a:lstStyle/>
            <a:p>
              <a:endParaRPr lang="en-US" sz="1867"/>
            </a:p>
          </p:txBody>
        </p:sp>
        <p:sp>
          <p:nvSpPr>
            <p:cNvPr id="1291" name="Google Shape;1291;p141"/>
            <p:cNvSpPr/>
            <p:nvPr/>
          </p:nvSpPr>
          <p:spPr>
            <a:xfrm>
              <a:off x="6486526" y="1251116"/>
              <a:ext cx="1045200" cy="134700"/>
            </a:xfrm>
            <a:custGeom>
              <a:avLst/>
              <a:gdLst/>
              <a:ahLst/>
              <a:cxnLst/>
              <a:rect l="l" t="t" r="r" b="b"/>
              <a:pathLst>
                <a:path w="120000" h="120000" extrusionOk="0">
                  <a:moveTo>
                    <a:pt x="120000" y="0"/>
                  </a:moveTo>
                  <a:lnTo>
                    <a:pt x="120000" y="60000"/>
                  </a:lnTo>
                  <a:lnTo>
                    <a:pt x="0" y="60000"/>
                  </a:lnTo>
                  <a:lnTo>
                    <a:pt x="0" y="120000"/>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292" name="Google Shape;1292;p141"/>
            <p:cNvSpPr/>
            <p:nvPr/>
          </p:nvSpPr>
          <p:spPr>
            <a:xfrm>
              <a:off x="7371268" y="930376"/>
              <a:ext cx="320700" cy="3207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3" name="Google Shape;1293;p141"/>
            <p:cNvSpPr/>
            <p:nvPr/>
          </p:nvSpPr>
          <p:spPr>
            <a:xfrm>
              <a:off x="7371268" y="930376"/>
              <a:ext cx="320700" cy="3207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4" name="Google Shape;1294;p141"/>
            <p:cNvSpPr/>
            <p:nvPr/>
          </p:nvSpPr>
          <p:spPr>
            <a:xfrm>
              <a:off x="7210901" y="988108"/>
              <a:ext cx="641400" cy="2052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5" name="Google Shape;1295;p141"/>
            <p:cNvSpPr/>
            <p:nvPr/>
          </p:nvSpPr>
          <p:spPr>
            <a:xfrm>
              <a:off x="6321304" y="1385817"/>
              <a:ext cx="320700" cy="3207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6" name="Google Shape;1296;p141"/>
            <p:cNvSpPr/>
            <p:nvPr/>
          </p:nvSpPr>
          <p:spPr>
            <a:xfrm>
              <a:off x="6321304" y="1439397"/>
              <a:ext cx="320700" cy="3207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7" name="Google Shape;1297;p141"/>
            <p:cNvSpPr/>
            <p:nvPr/>
          </p:nvSpPr>
          <p:spPr>
            <a:xfrm>
              <a:off x="6046638" y="1443551"/>
              <a:ext cx="641400" cy="2052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298" name="Google Shape;1298;p141"/>
            <p:cNvSpPr txBox="1"/>
            <p:nvPr/>
          </p:nvSpPr>
          <p:spPr>
            <a:xfrm>
              <a:off x="6168054" y="1482758"/>
              <a:ext cx="641400" cy="2052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Individual Contributor</a:t>
              </a:r>
              <a:r>
                <a:rPr lang="en" sz="1000">
                  <a:solidFill>
                    <a:schemeClr val="lt1"/>
                  </a:solidFill>
                  <a:latin typeface="Open Sans"/>
                  <a:ea typeface="Open Sans"/>
                  <a:cs typeface="Open Sans"/>
                  <a:sym typeface="Open Sans"/>
                </a:rPr>
                <a:t>s</a:t>
              </a:r>
              <a:endParaRPr sz="1000">
                <a:solidFill>
                  <a:srgbClr val="000000"/>
                </a:solidFill>
                <a:latin typeface="Open Sans"/>
                <a:ea typeface="Open Sans"/>
                <a:cs typeface="Open Sans"/>
                <a:sym typeface="Open Sans"/>
              </a:endParaRPr>
            </a:p>
          </p:txBody>
        </p:sp>
        <p:sp>
          <p:nvSpPr>
            <p:cNvPr id="1299" name="Google Shape;1299;p141"/>
            <p:cNvSpPr/>
            <p:nvPr/>
          </p:nvSpPr>
          <p:spPr>
            <a:xfrm>
              <a:off x="6983181" y="1385817"/>
              <a:ext cx="320700" cy="3207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0" name="Google Shape;1300;p141"/>
            <p:cNvSpPr/>
            <p:nvPr/>
          </p:nvSpPr>
          <p:spPr>
            <a:xfrm>
              <a:off x="6983181" y="1439397"/>
              <a:ext cx="320700" cy="3207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1" name="Google Shape;1301;p141"/>
            <p:cNvSpPr/>
            <p:nvPr/>
          </p:nvSpPr>
          <p:spPr>
            <a:xfrm>
              <a:off x="6822814" y="1443551"/>
              <a:ext cx="641400" cy="2052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2" name="Google Shape;1302;p141"/>
            <p:cNvSpPr/>
            <p:nvPr/>
          </p:nvSpPr>
          <p:spPr>
            <a:xfrm>
              <a:off x="7833169" y="1385817"/>
              <a:ext cx="297600" cy="3207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3" name="Google Shape;1303;p141"/>
            <p:cNvSpPr/>
            <p:nvPr/>
          </p:nvSpPr>
          <p:spPr>
            <a:xfrm>
              <a:off x="7833169" y="1439397"/>
              <a:ext cx="297600" cy="3207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4" name="Google Shape;1304;p141"/>
            <p:cNvSpPr/>
            <p:nvPr/>
          </p:nvSpPr>
          <p:spPr>
            <a:xfrm>
              <a:off x="7696171" y="1443551"/>
              <a:ext cx="641400" cy="2052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5" name="Google Shape;1305;p141"/>
            <p:cNvSpPr txBox="1"/>
            <p:nvPr/>
          </p:nvSpPr>
          <p:spPr>
            <a:xfrm>
              <a:off x="7660369" y="1482758"/>
              <a:ext cx="641400" cy="2052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Supporting Organizations</a:t>
              </a:r>
              <a:endParaRPr sz="1000">
                <a:solidFill>
                  <a:srgbClr val="000000"/>
                </a:solidFill>
                <a:latin typeface="Open Sans"/>
                <a:ea typeface="Open Sans"/>
                <a:cs typeface="Open Sans"/>
                <a:sym typeface="Open Sans"/>
              </a:endParaRPr>
            </a:p>
          </p:txBody>
        </p:sp>
        <p:sp>
          <p:nvSpPr>
            <p:cNvPr id="1306" name="Google Shape;1306;p141"/>
            <p:cNvSpPr/>
            <p:nvPr/>
          </p:nvSpPr>
          <p:spPr>
            <a:xfrm>
              <a:off x="8535532" y="1385817"/>
              <a:ext cx="320700" cy="3207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7" name="Google Shape;1307;p141"/>
            <p:cNvSpPr/>
            <p:nvPr/>
          </p:nvSpPr>
          <p:spPr>
            <a:xfrm>
              <a:off x="8535532" y="1439397"/>
              <a:ext cx="320700" cy="3207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08" name="Google Shape;1308;p141"/>
            <p:cNvSpPr/>
            <p:nvPr/>
          </p:nvSpPr>
          <p:spPr>
            <a:xfrm>
              <a:off x="8375165" y="1443551"/>
              <a:ext cx="641400" cy="205200"/>
            </a:xfrm>
            <a:prstGeom prst="rect">
              <a:avLst/>
            </a:prstGeom>
            <a:noFill/>
            <a:ln>
              <a:noFill/>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cxnSp>
          <p:nvCxnSpPr>
            <p:cNvPr id="1309" name="Google Shape;1309;p141"/>
            <p:cNvCxnSpPr/>
            <p:nvPr/>
          </p:nvCxnSpPr>
          <p:spPr>
            <a:xfrm rot="10800000">
              <a:off x="5212069" y="1066845"/>
              <a:ext cx="1789200" cy="0"/>
            </a:xfrm>
            <a:prstGeom prst="straightConnector1">
              <a:avLst/>
            </a:prstGeom>
            <a:noFill/>
            <a:ln w="12700" cap="flat" cmpd="sng">
              <a:solidFill>
                <a:srgbClr val="0A8276"/>
              </a:solidFill>
              <a:prstDash val="solid"/>
              <a:round/>
              <a:headEnd type="none" w="sm" len="sm"/>
              <a:tailEnd type="triangle" w="lg" len="lg"/>
            </a:ln>
          </p:spPr>
        </p:cxnSp>
        <p:sp>
          <p:nvSpPr>
            <p:cNvPr id="1310" name="Google Shape;1310;p141"/>
            <p:cNvSpPr/>
            <p:nvPr/>
          </p:nvSpPr>
          <p:spPr>
            <a:xfrm>
              <a:off x="1642864" y="138581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11" name="Google Shape;1311;p141"/>
            <p:cNvSpPr/>
            <p:nvPr/>
          </p:nvSpPr>
          <p:spPr>
            <a:xfrm>
              <a:off x="1642864" y="1401641"/>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12" name="Google Shape;1312;p141"/>
            <p:cNvSpPr/>
            <p:nvPr/>
          </p:nvSpPr>
          <p:spPr>
            <a:xfrm>
              <a:off x="1261833" y="1254398"/>
              <a:ext cx="129300" cy="128100"/>
            </a:xfrm>
            <a:custGeom>
              <a:avLst/>
              <a:gdLst/>
              <a:ahLst/>
              <a:cxnLst/>
              <a:rect l="l" t="t" r="r" b="b"/>
              <a:pathLst>
                <a:path w="120000" h="120000" extrusionOk="0">
                  <a:moveTo>
                    <a:pt x="120000" y="0"/>
                  </a:moveTo>
                  <a:lnTo>
                    <a:pt x="120000" y="59999"/>
                  </a:lnTo>
                  <a:lnTo>
                    <a:pt x="0" y="59999"/>
                  </a:lnTo>
                  <a:lnTo>
                    <a:pt x="0" y="119999"/>
                  </a:lnTo>
                </a:path>
              </a:pathLst>
            </a:custGeom>
            <a:noFill/>
            <a:ln w="12700" cap="flat" cmpd="sng">
              <a:solidFill>
                <a:srgbClr val="0A8276"/>
              </a:solidFill>
              <a:prstDash val="solid"/>
              <a:round/>
              <a:headEnd type="none" w="sm" len="sm"/>
              <a:tailEnd type="none" w="sm" len="sm"/>
            </a:ln>
          </p:spPr>
          <p:txBody>
            <a:bodyPr/>
            <a:lstStyle/>
            <a:p>
              <a:endParaRPr lang="en-US" sz="1867"/>
            </a:p>
          </p:txBody>
        </p:sp>
        <p:sp>
          <p:nvSpPr>
            <p:cNvPr id="1313" name="Google Shape;1313;p141"/>
            <p:cNvSpPr/>
            <p:nvPr/>
          </p:nvSpPr>
          <p:spPr>
            <a:xfrm>
              <a:off x="1391043" y="1253878"/>
              <a:ext cx="435000" cy="128100"/>
            </a:xfrm>
            <a:custGeom>
              <a:avLst/>
              <a:gdLst/>
              <a:ahLst/>
              <a:cxnLst/>
              <a:rect l="l" t="t" r="r" b="b"/>
              <a:pathLst>
                <a:path w="120000" h="120000" extrusionOk="0">
                  <a:moveTo>
                    <a:pt x="0" y="0"/>
                  </a:moveTo>
                  <a:lnTo>
                    <a:pt x="0" y="59999"/>
                  </a:lnTo>
                  <a:lnTo>
                    <a:pt x="120000" y="59999"/>
                  </a:lnTo>
                  <a:lnTo>
                    <a:pt x="120000" y="119999"/>
                  </a:lnTo>
                </a:path>
              </a:pathLst>
            </a:custGeom>
            <a:noFill/>
            <a:ln w="12700" cap="flat" cmpd="sng">
              <a:solidFill>
                <a:srgbClr val="0A8276"/>
              </a:solidFill>
              <a:prstDash val="solid"/>
              <a:round/>
              <a:headEnd type="none" w="sm" len="sm"/>
              <a:tailEnd type="none" w="sm" len="sm"/>
            </a:ln>
          </p:spPr>
          <p:txBody>
            <a:bodyPr/>
            <a:lstStyle/>
            <a:p>
              <a:endParaRPr lang="en-US" sz="1867" dirty="0"/>
            </a:p>
          </p:txBody>
        </p:sp>
        <p:sp>
          <p:nvSpPr>
            <p:cNvPr id="1314" name="Google Shape;1314;p141"/>
            <p:cNvSpPr txBox="1"/>
            <p:nvPr/>
          </p:nvSpPr>
          <p:spPr>
            <a:xfrm>
              <a:off x="2675118" y="1458322"/>
              <a:ext cx="1011000" cy="229500"/>
            </a:xfrm>
            <a:prstGeom prst="rect">
              <a:avLst/>
            </a:prstGeom>
            <a:noFill/>
            <a:ln>
              <a:noFill/>
            </a:ln>
          </p:spPr>
          <p:txBody>
            <a:bodyPr spcFirstLastPara="1" wrap="square" lIns="7600" tIns="7600" rIns="7600" bIns="76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Kernel &amp; Subsystem Maintainers</a:t>
              </a:r>
              <a:endParaRPr sz="1000">
                <a:solidFill>
                  <a:srgbClr val="000000"/>
                </a:solidFill>
                <a:latin typeface="Open Sans"/>
                <a:ea typeface="Open Sans"/>
                <a:cs typeface="Open Sans"/>
                <a:sym typeface="Open Sans"/>
              </a:endParaRPr>
            </a:p>
          </p:txBody>
        </p:sp>
        <p:sp>
          <p:nvSpPr>
            <p:cNvPr id="1315" name="Google Shape;1315;p141"/>
            <p:cNvSpPr txBox="1"/>
            <p:nvPr/>
          </p:nvSpPr>
          <p:spPr>
            <a:xfrm>
              <a:off x="1996968" y="1458322"/>
              <a:ext cx="717300" cy="229500"/>
            </a:xfrm>
            <a:prstGeom prst="rect">
              <a:avLst/>
            </a:prstGeom>
            <a:noFill/>
            <a:ln>
              <a:noFill/>
            </a:ln>
          </p:spPr>
          <p:txBody>
            <a:bodyPr spcFirstLastPara="1" wrap="square" lIns="9300" tIns="9300" rIns="9300" bIns="9300" anchor="ctr" anchorCtr="0">
              <a:noAutofit/>
            </a:bodyPr>
            <a:lstStyle/>
            <a:p>
              <a:pPr algn="ctr">
                <a:spcBef>
                  <a:spcPts val="0"/>
                </a:spcBef>
                <a:spcAft>
                  <a:spcPts val="0"/>
                </a:spcAft>
                <a:buClr>
                  <a:schemeClr val="lt1"/>
                </a:buClr>
                <a:buSzPts val="800"/>
              </a:pPr>
              <a:r>
                <a:rPr lang="en" sz="1000" dirty="0">
                  <a:solidFill>
                    <a:srgbClr val="000000"/>
                  </a:solidFill>
                  <a:latin typeface="Open Sans"/>
                  <a:ea typeface="Open Sans"/>
                  <a:cs typeface="Open Sans"/>
                  <a:sym typeface="Open Sans"/>
                </a:rPr>
                <a:t>Security</a:t>
              </a:r>
              <a:endParaRPr sz="1000" dirty="0">
                <a:solidFill>
                  <a:srgbClr val="000000"/>
                </a:solidFill>
                <a:latin typeface="Open Sans"/>
                <a:ea typeface="Open Sans"/>
                <a:cs typeface="Open Sans"/>
                <a:sym typeface="Open Sans"/>
              </a:endParaRPr>
            </a:p>
            <a:p>
              <a:pPr algn="ctr">
                <a:spcBef>
                  <a:spcPts val="0"/>
                </a:spcBef>
                <a:spcAft>
                  <a:spcPts val="0"/>
                </a:spcAft>
                <a:buClr>
                  <a:schemeClr val="lt1"/>
                </a:buClr>
                <a:buSzPts val="800"/>
              </a:pPr>
              <a:r>
                <a:rPr lang="en" sz="1000" dirty="0">
                  <a:solidFill>
                    <a:srgbClr val="000000"/>
                  </a:solidFill>
                  <a:latin typeface="Open Sans"/>
                  <a:ea typeface="Open Sans"/>
                  <a:cs typeface="Open Sans"/>
                  <a:sym typeface="Open Sans"/>
                </a:rPr>
                <a:t>Oversight</a:t>
              </a:r>
              <a:endParaRPr sz="1000" dirty="0">
                <a:solidFill>
                  <a:srgbClr val="000000"/>
                </a:solidFill>
                <a:latin typeface="Open Sans"/>
                <a:ea typeface="Open Sans"/>
                <a:cs typeface="Open Sans"/>
                <a:sym typeface="Open Sans"/>
              </a:endParaRPr>
            </a:p>
          </p:txBody>
        </p:sp>
        <p:sp>
          <p:nvSpPr>
            <p:cNvPr id="1316" name="Google Shape;1316;p141"/>
            <p:cNvSpPr txBox="1"/>
            <p:nvPr/>
          </p:nvSpPr>
          <p:spPr>
            <a:xfrm>
              <a:off x="1467125" y="1458322"/>
              <a:ext cx="717300" cy="229500"/>
            </a:xfrm>
            <a:prstGeom prst="rect">
              <a:avLst/>
            </a:prstGeom>
            <a:noFill/>
            <a:ln>
              <a:noFill/>
            </a:ln>
          </p:spPr>
          <p:txBody>
            <a:bodyPr spcFirstLastPara="1" wrap="square" lIns="9300" tIns="9300" rIns="9300" bIns="9300" anchor="ctr" anchorCtr="0">
              <a:noAutofit/>
            </a:bodyPr>
            <a:lstStyle/>
            <a:p>
              <a:pPr algn="ctr">
                <a:spcBef>
                  <a:spcPts val="0"/>
                </a:spcBef>
                <a:spcAft>
                  <a:spcPts val="0"/>
                </a:spcAft>
                <a:buClr>
                  <a:schemeClr val="lt1"/>
                </a:buClr>
                <a:buSzPts val="800"/>
              </a:pPr>
              <a:r>
                <a:rPr lang="en" sz="1000">
                  <a:solidFill>
                    <a:srgbClr val="000000"/>
                  </a:solidFill>
                  <a:latin typeface="Open Sans"/>
                  <a:ea typeface="Open Sans"/>
                  <a:cs typeface="Open Sans"/>
                  <a:sym typeface="Open Sans"/>
                </a:rPr>
                <a:t>Safety</a:t>
              </a:r>
              <a:endParaRPr sz="1000">
                <a:solidFill>
                  <a:srgbClr val="000000"/>
                </a:solidFill>
                <a:latin typeface="Open Sans"/>
                <a:ea typeface="Open Sans"/>
                <a:cs typeface="Open Sans"/>
                <a:sym typeface="Open Sans"/>
              </a:endParaRPr>
            </a:p>
            <a:p>
              <a:pPr algn="ctr">
                <a:spcBef>
                  <a:spcPts val="0"/>
                </a:spcBef>
                <a:spcAft>
                  <a:spcPts val="0"/>
                </a:spcAft>
                <a:buClr>
                  <a:schemeClr val="lt1"/>
                </a:buClr>
                <a:buSzPts val="800"/>
              </a:pPr>
              <a:r>
                <a:rPr lang="en" sz="1000">
                  <a:solidFill>
                    <a:srgbClr val="000000"/>
                  </a:solidFill>
                  <a:latin typeface="Open Sans"/>
                  <a:ea typeface="Open Sans"/>
                  <a:cs typeface="Open Sans"/>
                  <a:sym typeface="Open Sans"/>
                </a:rPr>
                <a:t>Oversight</a:t>
              </a:r>
              <a:endParaRPr sz="1000">
                <a:solidFill>
                  <a:srgbClr val="000000"/>
                </a:solidFill>
                <a:latin typeface="Open Sans"/>
                <a:ea typeface="Open Sans"/>
                <a:cs typeface="Open Sans"/>
                <a:sym typeface="Open Sans"/>
              </a:endParaRPr>
            </a:p>
          </p:txBody>
        </p:sp>
        <p:sp>
          <p:nvSpPr>
            <p:cNvPr id="1317" name="Google Shape;1317;p141"/>
            <p:cNvSpPr txBox="1"/>
            <p:nvPr/>
          </p:nvSpPr>
          <p:spPr>
            <a:xfrm>
              <a:off x="246275" y="1458325"/>
              <a:ext cx="763200" cy="2295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Financial &amp; Policy Oversight</a:t>
              </a:r>
              <a:endParaRPr sz="1000">
                <a:solidFill>
                  <a:srgbClr val="000000"/>
                </a:solidFill>
                <a:latin typeface="Open Sans"/>
                <a:ea typeface="Open Sans"/>
                <a:cs typeface="Open Sans"/>
                <a:sym typeface="Open Sans"/>
              </a:endParaRPr>
            </a:p>
          </p:txBody>
        </p:sp>
        <p:sp>
          <p:nvSpPr>
            <p:cNvPr id="1318" name="Google Shape;1318;p141"/>
            <p:cNvSpPr txBox="1"/>
            <p:nvPr/>
          </p:nvSpPr>
          <p:spPr>
            <a:xfrm>
              <a:off x="904045" y="1458322"/>
              <a:ext cx="717300" cy="2295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Marketing Oversight</a:t>
              </a:r>
              <a:endParaRPr sz="1000">
                <a:solidFill>
                  <a:srgbClr val="000000"/>
                </a:solidFill>
                <a:latin typeface="Open Sans"/>
                <a:ea typeface="Open Sans"/>
                <a:cs typeface="Open Sans"/>
                <a:sym typeface="Open Sans"/>
              </a:endParaRPr>
            </a:p>
          </p:txBody>
        </p:sp>
        <p:sp>
          <p:nvSpPr>
            <p:cNvPr id="1319" name="Google Shape;1319;p141"/>
            <p:cNvSpPr txBox="1"/>
            <p:nvPr/>
          </p:nvSpPr>
          <p:spPr>
            <a:xfrm>
              <a:off x="908936" y="948975"/>
              <a:ext cx="964500" cy="229500"/>
            </a:xfrm>
            <a:prstGeom prst="rect">
              <a:avLst/>
            </a:prstGeom>
            <a:noFill/>
            <a:ln>
              <a:noFill/>
            </a:ln>
          </p:spPr>
          <p:txBody>
            <a:bodyPr spcFirstLastPara="1" wrap="square" lIns="10133" tIns="10133" rIns="10133" bIns="10133" anchor="ctr" anchorCtr="0">
              <a:noAutofit/>
            </a:bodyPr>
            <a:lstStyle/>
            <a:p>
              <a:pPr algn="ctr">
                <a:lnSpc>
                  <a:spcPct val="90000"/>
                </a:lnSpc>
                <a:spcBef>
                  <a:spcPts val="0"/>
                </a:spcBef>
                <a:spcAft>
                  <a:spcPts val="0"/>
                </a:spcAft>
                <a:buClr>
                  <a:schemeClr val="lt1"/>
                </a:buClr>
                <a:buSzPts val="800"/>
              </a:pPr>
              <a:r>
                <a:rPr lang="en" sz="1067" b="1" dirty="0">
                  <a:solidFill>
                    <a:srgbClr val="000000"/>
                  </a:solidFill>
                  <a:latin typeface="Open Sans"/>
                  <a:ea typeface="Open Sans"/>
                  <a:cs typeface="Open Sans"/>
                  <a:sym typeface="Open Sans"/>
                </a:rPr>
                <a:t>Governing Board</a:t>
              </a:r>
              <a:endParaRPr sz="1467" dirty="0">
                <a:solidFill>
                  <a:srgbClr val="000000"/>
                </a:solidFill>
                <a:latin typeface="Open Sans"/>
                <a:ea typeface="Open Sans"/>
                <a:cs typeface="Open Sans"/>
                <a:sym typeface="Open Sans"/>
              </a:endParaRPr>
            </a:p>
          </p:txBody>
        </p:sp>
        <p:sp>
          <p:nvSpPr>
            <p:cNvPr id="1320" name="Google Shape;1320;p141"/>
            <p:cNvSpPr txBox="1"/>
            <p:nvPr/>
          </p:nvSpPr>
          <p:spPr>
            <a:xfrm>
              <a:off x="6826372" y="1482758"/>
              <a:ext cx="641400" cy="2052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Member Organizations</a:t>
              </a:r>
              <a:endParaRPr sz="1000">
                <a:solidFill>
                  <a:srgbClr val="000000"/>
                </a:solidFill>
                <a:latin typeface="Open Sans"/>
                <a:ea typeface="Open Sans"/>
                <a:cs typeface="Open Sans"/>
                <a:sym typeface="Open Sans"/>
              </a:endParaRPr>
            </a:p>
          </p:txBody>
        </p:sp>
        <p:sp>
          <p:nvSpPr>
            <p:cNvPr id="1321" name="Google Shape;1321;p141"/>
            <p:cNvSpPr txBox="1"/>
            <p:nvPr/>
          </p:nvSpPr>
          <p:spPr>
            <a:xfrm>
              <a:off x="8378937" y="1482758"/>
              <a:ext cx="641400" cy="2052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Others</a:t>
              </a:r>
              <a:endParaRPr sz="1000">
                <a:solidFill>
                  <a:srgbClr val="000000"/>
                </a:solidFill>
                <a:latin typeface="Open Sans"/>
                <a:ea typeface="Open Sans"/>
                <a:cs typeface="Open Sans"/>
                <a:sym typeface="Open Sans"/>
              </a:endParaRPr>
            </a:p>
          </p:txBody>
        </p:sp>
        <p:sp>
          <p:nvSpPr>
            <p:cNvPr id="1322" name="Google Shape;1322;p141"/>
            <p:cNvSpPr txBox="1"/>
            <p:nvPr/>
          </p:nvSpPr>
          <p:spPr>
            <a:xfrm>
              <a:off x="5257222" y="1458322"/>
              <a:ext cx="717300" cy="229500"/>
            </a:xfrm>
            <a:prstGeom prst="rect">
              <a:avLst/>
            </a:prstGeom>
            <a:noFill/>
            <a:ln>
              <a:noFill/>
            </a:ln>
          </p:spPr>
          <p:txBody>
            <a:bodyPr spcFirstLastPara="1" wrap="square" lIns="7600" tIns="7600" rIns="7600" bIns="7600" anchor="ctr" anchorCtr="0">
              <a:noAutofit/>
            </a:bodyPr>
            <a:lstStyle/>
            <a:p>
              <a:pPr algn="ctr">
                <a:lnSpc>
                  <a:spcPct val="90000"/>
                </a:lnSpc>
                <a:spcBef>
                  <a:spcPts val="0"/>
                </a:spcBef>
                <a:spcAft>
                  <a:spcPts val="0"/>
                </a:spcAft>
                <a:buClr>
                  <a:schemeClr val="lt1"/>
                </a:buClr>
                <a:buSzPts val="800"/>
              </a:pPr>
              <a:r>
                <a:rPr lang="en" sz="1000">
                  <a:solidFill>
                    <a:srgbClr val="000000"/>
                  </a:solidFill>
                  <a:latin typeface="Open Sans"/>
                  <a:ea typeface="Open Sans"/>
                  <a:cs typeface="Open Sans"/>
                  <a:sym typeface="Open Sans"/>
                </a:rPr>
                <a:t>Architecture Maintainers</a:t>
              </a:r>
              <a:endParaRPr sz="1000">
                <a:solidFill>
                  <a:srgbClr val="000000"/>
                </a:solidFill>
                <a:latin typeface="Open Sans"/>
                <a:ea typeface="Open Sans"/>
                <a:cs typeface="Open Sans"/>
                <a:sym typeface="Open Sans"/>
              </a:endParaRPr>
            </a:p>
          </p:txBody>
        </p:sp>
        <p:sp>
          <p:nvSpPr>
            <p:cNvPr id="1323" name="Google Shape;1323;p141"/>
            <p:cNvSpPr txBox="1"/>
            <p:nvPr/>
          </p:nvSpPr>
          <p:spPr>
            <a:xfrm>
              <a:off x="3918855" y="960272"/>
              <a:ext cx="1013700" cy="229500"/>
            </a:xfrm>
            <a:prstGeom prst="rect">
              <a:avLst/>
            </a:prstGeom>
            <a:noFill/>
            <a:ln>
              <a:noFill/>
            </a:ln>
          </p:spPr>
          <p:txBody>
            <a:bodyPr spcFirstLastPara="1" wrap="square" lIns="10133" tIns="10133" rIns="10133" bIns="10133" anchor="ctr" anchorCtr="0">
              <a:noAutofit/>
            </a:bodyPr>
            <a:lstStyle/>
            <a:p>
              <a:pPr algn="ctr">
                <a:lnSpc>
                  <a:spcPct val="90000"/>
                </a:lnSpc>
                <a:spcBef>
                  <a:spcPts val="0"/>
                </a:spcBef>
                <a:spcAft>
                  <a:spcPts val="0"/>
                </a:spcAft>
                <a:buClr>
                  <a:schemeClr val="lt1"/>
                </a:buClr>
                <a:buSzPts val="800"/>
              </a:pPr>
              <a:r>
                <a:rPr lang="en" sz="1067" b="1">
                  <a:solidFill>
                    <a:srgbClr val="000000"/>
                  </a:solidFill>
                  <a:latin typeface="Open Sans"/>
                  <a:ea typeface="Open Sans"/>
                  <a:cs typeface="Open Sans"/>
                  <a:sym typeface="Open Sans"/>
                </a:rPr>
                <a:t>Technical Steering Committee</a:t>
              </a:r>
              <a:endParaRPr sz="1467">
                <a:solidFill>
                  <a:srgbClr val="000000"/>
                </a:solidFill>
                <a:latin typeface="Open Sans"/>
                <a:ea typeface="Open Sans"/>
                <a:cs typeface="Open Sans"/>
                <a:sym typeface="Open Sans"/>
              </a:endParaRPr>
            </a:p>
          </p:txBody>
        </p:sp>
        <p:sp>
          <p:nvSpPr>
            <p:cNvPr id="1324" name="Google Shape;1324;p141"/>
            <p:cNvSpPr txBox="1"/>
            <p:nvPr/>
          </p:nvSpPr>
          <p:spPr>
            <a:xfrm>
              <a:off x="7067223" y="974400"/>
              <a:ext cx="914700" cy="205200"/>
            </a:xfrm>
            <a:prstGeom prst="rect">
              <a:avLst/>
            </a:prstGeom>
            <a:noFill/>
            <a:ln>
              <a:noFill/>
            </a:ln>
          </p:spPr>
          <p:txBody>
            <a:bodyPr spcFirstLastPara="1" wrap="square" lIns="9300" tIns="9300" rIns="9300" bIns="9300" anchor="ctr" anchorCtr="0">
              <a:noAutofit/>
            </a:bodyPr>
            <a:lstStyle/>
            <a:p>
              <a:pPr algn="ctr">
                <a:lnSpc>
                  <a:spcPct val="90000"/>
                </a:lnSpc>
                <a:spcBef>
                  <a:spcPts val="0"/>
                </a:spcBef>
                <a:spcAft>
                  <a:spcPts val="0"/>
                </a:spcAft>
                <a:buClr>
                  <a:schemeClr val="lt1"/>
                </a:buClr>
                <a:buSzPts val="800"/>
              </a:pPr>
              <a:r>
                <a:rPr lang="en" sz="1067" b="1">
                  <a:solidFill>
                    <a:srgbClr val="000000"/>
                  </a:solidFill>
                  <a:latin typeface="Open Sans"/>
                  <a:ea typeface="Open Sans"/>
                  <a:cs typeface="Open Sans"/>
                  <a:sym typeface="Open Sans"/>
                </a:rPr>
                <a:t>Contributors</a:t>
              </a:r>
              <a:endParaRPr sz="1467">
                <a:solidFill>
                  <a:srgbClr val="000000"/>
                </a:solidFill>
                <a:latin typeface="Open Sans"/>
                <a:ea typeface="Open Sans"/>
                <a:cs typeface="Open Sans"/>
                <a:sym typeface="Open Sans"/>
              </a:endParaRPr>
            </a:p>
          </p:txBody>
        </p:sp>
        <p:sp>
          <p:nvSpPr>
            <p:cNvPr id="1325" name="Google Shape;1325;p141"/>
            <p:cNvSpPr/>
            <p:nvPr/>
          </p:nvSpPr>
          <p:spPr>
            <a:xfrm>
              <a:off x="4246797" y="884567"/>
              <a:ext cx="358500" cy="358500"/>
            </a:xfrm>
            <a:prstGeom prst="arc">
              <a:avLst>
                <a:gd name="adj1" fmla="val 13200000"/>
                <a:gd name="adj2" fmla="val 192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sp>
          <p:nvSpPr>
            <p:cNvPr id="1326" name="Google Shape;1326;p141"/>
            <p:cNvSpPr/>
            <p:nvPr/>
          </p:nvSpPr>
          <p:spPr>
            <a:xfrm>
              <a:off x="4246797" y="884567"/>
              <a:ext cx="358500" cy="358500"/>
            </a:xfrm>
            <a:prstGeom prst="arc">
              <a:avLst>
                <a:gd name="adj1" fmla="val 2400000"/>
                <a:gd name="adj2" fmla="val 8400000"/>
              </a:avLst>
            </a:prstGeom>
            <a:noFill/>
            <a:ln w="12700" cap="flat" cmpd="sng">
              <a:solidFill>
                <a:srgbClr val="0A8276"/>
              </a:solidFill>
              <a:prstDash val="solid"/>
              <a:round/>
              <a:headEnd type="none" w="sm" len="sm"/>
              <a:tailEnd type="none" w="sm" len="sm"/>
            </a:ln>
          </p:spPr>
          <p:txBody>
            <a:bodyPr spcFirstLastPara="1" wrap="square" lIns="121900" tIns="121900" rIns="121900" bIns="121900" anchor="ctr" anchorCtr="0">
              <a:noAutofit/>
            </a:bodyPr>
            <a:lstStyle/>
            <a:p>
              <a:pPr>
                <a:spcBef>
                  <a:spcPts val="0"/>
                </a:spcBef>
                <a:spcAft>
                  <a:spcPts val="0"/>
                </a:spcAft>
                <a:buClr>
                  <a:schemeClr val="dk1"/>
                </a:buClr>
                <a:buSzPts val="800"/>
              </a:pPr>
              <a:endParaRPr sz="1067">
                <a:solidFill>
                  <a:schemeClr val="dk1"/>
                </a:solidFill>
                <a:latin typeface="Arial"/>
                <a:ea typeface="Arial"/>
                <a:cs typeface="Arial"/>
                <a:sym typeface="Arial"/>
              </a:endParaRPr>
            </a:p>
          </p:txBody>
        </p:sp>
      </p:grpSp>
      <p:sp>
        <p:nvSpPr>
          <p:cNvPr id="1327" name="Google Shape;1327;p141"/>
          <p:cNvSpPr txBox="1">
            <a:spLocks noGrp="1"/>
          </p:cNvSpPr>
          <p:nvPr>
            <p:ph type="title"/>
          </p:nvPr>
        </p:nvSpPr>
        <p:spPr>
          <a:noFill/>
          <a:ln>
            <a:noFill/>
          </a:ln>
        </p:spPr>
        <p:txBody>
          <a:bodyPr spcFirstLastPara="1" vert="horz" wrap="square" lIns="121900" tIns="60933" rIns="121900" bIns="60933" rtlCol="0" anchor="t" anchorCtr="0">
            <a:noAutofit/>
          </a:bodyPr>
          <a:lstStyle/>
          <a:p>
            <a:r>
              <a:rPr lang="en-US"/>
              <a:t>Zephyr Project Governance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A14906-4212-AE00-689C-833808372F9D}"/>
              </a:ext>
            </a:extLst>
          </p:cNvPr>
          <p:cNvSpPr>
            <a:spLocks noGrp="1"/>
          </p:cNvSpPr>
          <p:nvPr>
            <p:ph type="title"/>
          </p:nvPr>
        </p:nvSpPr>
        <p:spPr/>
        <p:txBody>
          <a:bodyPr/>
          <a:lstStyle/>
          <a:p>
            <a:r>
              <a:rPr lang="en-US" dirty="0"/>
              <a:t>Zephyr Ecosystem</a:t>
            </a:r>
          </a:p>
        </p:txBody>
      </p:sp>
      <p:sp>
        <p:nvSpPr>
          <p:cNvPr id="6" name="Title 4">
            <a:extLst>
              <a:ext uri="{FF2B5EF4-FFF2-40B4-BE49-F238E27FC236}">
                <a16:creationId xmlns:a16="http://schemas.microsoft.com/office/drawing/2014/main" id="{4D4E4CD8-4EFA-0CEB-DE4E-DB73E9354C10}"/>
              </a:ext>
            </a:extLst>
          </p:cNvPr>
          <p:cNvSpPr txBox="1">
            <a:spLocks/>
          </p:cNvSpPr>
          <p:nvPr/>
        </p:nvSpPr>
        <p:spPr>
          <a:xfrm>
            <a:off x="324727" y="5943600"/>
            <a:ext cx="7589440" cy="683369"/>
          </a:xfrm>
          <a:prstGeom prst="rect">
            <a:avLst/>
          </a:prstGeom>
        </p:spPr>
        <p:txBody>
          <a:bodyPr vert="horz" lIns="0" tIns="0" rIns="0" bIns="0" rtlCol="0" anchor="b" anchorCtr="0">
            <a:noAutofit/>
          </a:bodyPr>
          <a:lstStyle>
            <a:lvl1pPr algn="l" defTabSz="576000" rtl="0" eaLnBrk="1" fontAlgn="base" hangingPunct="1">
              <a:spcBef>
                <a:spcPct val="0"/>
              </a:spcBef>
              <a:spcAft>
                <a:spcPct val="0"/>
              </a:spcAft>
              <a:buClr>
                <a:schemeClr val="tx1"/>
              </a:buClr>
              <a:buFontTx/>
              <a:buNone/>
              <a:defRPr sz="3600" b="1" baseline="0">
                <a:solidFill>
                  <a:schemeClr val="bg1"/>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sz="2000" b="0" i="1" kern="0" dirty="0"/>
              <a:t>Content in this section is taken from Zephyr marketing collateral</a:t>
            </a:r>
          </a:p>
        </p:txBody>
      </p:sp>
    </p:spTree>
    <p:extLst>
      <p:ext uri="{BB962C8B-B14F-4D97-AF65-F5344CB8AC3E}">
        <p14:creationId xmlns:p14="http://schemas.microsoft.com/office/powerpoint/2010/main" val="28420369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pic>
        <p:nvPicPr>
          <p:cNvPr id="4" name="Picture 3">
            <a:extLst>
              <a:ext uri="{FF2B5EF4-FFF2-40B4-BE49-F238E27FC236}">
                <a16:creationId xmlns:a16="http://schemas.microsoft.com/office/drawing/2014/main" id="{89DA49CD-B3AE-C557-F681-BA78FECD9A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1518" y="1006750"/>
            <a:ext cx="5816536" cy="5186131"/>
          </a:xfrm>
          <a:prstGeom prst="rect">
            <a:avLst/>
          </a:prstGeom>
        </p:spPr>
      </p:pic>
      <p:sp>
        <p:nvSpPr>
          <p:cNvPr id="492" name="Google Shape;492;p75"/>
          <p:cNvSpPr txBox="1">
            <a:spLocks noGrp="1"/>
          </p:cNvSpPr>
          <p:nvPr>
            <p:ph type="title"/>
          </p:nvPr>
        </p:nvSpPr>
        <p:spPr>
          <a:prstGeom prst="rect">
            <a:avLst/>
          </a:prstGeom>
          <a:noFill/>
          <a:ln>
            <a:noFill/>
          </a:ln>
        </p:spPr>
        <p:txBody>
          <a:bodyPr spcFirstLastPara="1" vert="horz" wrap="square" lIns="121900" tIns="60933" rIns="121900" bIns="60933" rtlCol="0" anchor="t" anchorCtr="0">
            <a:noAutofit/>
          </a:bodyPr>
          <a:lstStyle/>
          <a:p>
            <a:r>
              <a:rPr lang="en" dirty="0"/>
              <a:t>Zephyr Ecosystem and Architecture</a:t>
            </a:r>
            <a:endParaRPr dirty="0"/>
          </a:p>
        </p:txBody>
      </p:sp>
      <p:pic>
        <p:nvPicPr>
          <p:cNvPr id="2" name="Google Shape;546;p78">
            <a:extLst>
              <a:ext uri="{FF2B5EF4-FFF2-40B4-BE49-F238E27FC236}">
                <a16:creationId xmlns:a16="http://schemas.microsoft.com/office/drawing/2014/main" id="{9DD98569-F3FC-D5B4-3CA4-16541AB610F7}"/>
              </a:ext>
            </a:extLst>
          </p:cNvPr>
          <p:cNvPicPr preferRelativeResize="0"/>
          <p:nvPr/>
        </p:nvPicPr>
        <p:blipFill rotWithShape="1">
          <a:blip r:embed="rId4">
            <a:alphaModFix/>
          </a:blip>
          <a:srcRect/>
          <a:stretch/>
        </p:blipFill>
        <p:spPr>
          <a:xfrm>
            <a:off x="3246213" y="3048000"/>
            <a:ext cx="2892358" cy="1509262"/>
          </a:xfrm>
          <a:prstGeom prst="rect">
            <a:avLst/>
          </a:prstGeom>
          <a:noFill/>
          <a:ln>
            <a:noFill/>
          </a:ln>
        </p:spPr>
      </p:pic>
      <p:grpSp>
        <p:nvGrpSpPr>
          <p:cNvPr id="32" name="Group 31">
            <a:extLst>
              <a:ext uri="{FF2B5EF4-FFF2-40B4-BE49-F238E27FC236}">
                <a16:creationId xmlns:a16="http://schemas.microsoft.com/office/drawing/2014/main" id="{8CFC9469-1C96-D4D2-9095-D5A2E57861F7}"/>
              </a:ext>
            </a:extLst>
          </p:cNvPr>
          <p:cNvGrpSpPr/>
          <p:nvPr/>
        </p:nvGrpSpPr>
        <p:grpSpPr>
          <a:xfrm>
            <a:off x="657332" y="2107212"/>
            <a:ext cx="3530008" cy="731520"/>
            <a:chOff x="888531" y="1987213"/>
            <a:chExt cx="3530008" cy="731520"/>
          </a:xfrm>
        </p:grpSpPr>
        <p:pic>
          <p:nvPicPr>
            <p:cNvPr id="25" name="Picture 24" descr="A green and black diagram&#10;&#10;Description automatically generated">
              <a:extLst>
                <a:ext uri="{FF2B5EF4-FFF2-40B4-BE49-F238E27FC236}">
                  <a16:creationId xmlns:a16="http://schemas.microsoft.com/office/drawing/2014/main" id="{DA29EB6F-A120-7FEC-213A-662AF050F89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88531" y="1987213"/>
              <a:ext cx="731520" cy="731520"/>
            </a:xfrm>
            <a:prstGeom prst="rect">
              <a:avLst/>
            </a:prstGeom>
          </p:spPr>
        </p:pic>
        <p:sp>
          <p:nvSpPr>
            <p:cNvPr id="26" name="TextBox 25">
              <a:extLst>
                <a:ext uri="{FF2B5EF4-FFF2-40B4-BE49-F238E27FC236}">
                  <a16:creationId xmlns:a16="http://schemas.microsoft.com/office/drawing/2014/main" id="{156F2176-0CEF-5608-3B0D-390CDACEB055}"/>
                </a:ext>
              </a:extLst>
            </p:cNvPr>
            <p:cNvSpPr txBox="1"/>
            <p:nvPr/>
          </p:nvSpPr>
          <p:spPr bwMode="auto">
            <a:xfrm>
              <a:off x="1980139" y="2035835"/>
              <a:ext cx="2438400" cy="634276"/>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Applications &amp; Middleware</a:t>
              </a:r>
            </a:p>
          </p:txBody>
        </p:sp>
      </p:grpSp>
      <p:grpSp>
        <p:nvGrpSpPr>
          <p:cNvPr id="34" name="Group 33">
            <a:extLst>
              <a:ext uri="{FF2B5EF4-FFF2-40B4-BE49-F238E27FC236}">
                <a16:creationId xmlns:a16="http://schemas.microsoft.com/office/drawing/2014/main" id="{AE23625E-6372-98A7-9298-1D3C19DC371D}"/>
              </a:ext>
            </a:extLst>
          </p:cNvPr>
          <p:cNvGrpSpPr/>
          <p:nvPr/>
        </p:nvGrpSpPr>
        <p:grpSpPr>
          <a:xfrm>
            <a:off x="660876" y="4299172"/>
            <a:ext cx="3149008" cy="731520"/>
            <a:chOff x="888531" y="4249203"/>
            <a:chExt cx="3149008" cy="731520"/>
          </a:xfrm>
        </p:grpSpPr>
        <p:pic>
          <p:nvPicPr>
            <p:cNvPr id="21" name="Picture 20" descr="A green and black logo&#10;&#10;Description automatically generated with medium confidence">
              <a:extLst>
                <a:ext uri="{FF2B5EF4-FFF2-40B4-BE49-F238E27FC236}">
                  <a16:creationId xmlns:a16="http://schemas.microsoft.com/office/drawing/2014/main" id="{AB4DA7AC-BDC9-481F-136E-6F553AF24E0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8531" y="4249203"/>
              <a:ext cx="731520" cy="731520"/>
            </a:xfrm>
            <a:prstGeom prst="rect">
              <a:avLst/>
            </a:prstGeom>
          </p:spPr>
        </p:pic>
        <p:sp>
          <p:nvSpPr>
            <p:cNvPr id="27" name="TextBox 26">
              <a:extLst>
                <a:ext uri="{FF2B5EF4-FFF2-40B4-BE49-F238E27FC236}">
                  <a16:creationId xmlns:a16="http://schemas.microsoft.com/office/drawing/2014/main" id="{30D7B741-F994-97DA-8B67-92D7CFB865BF}"/>
                </a:ext>
              </a:extLst>
            </p:cNvPr>
            <p:cNvSpPr txBox="1"/>
            <p:nvPr/>
          </p:nvSpPr>
          <p:spPr bwMode="auto">
            <a:xfrm>
              <a:off x="1980139" y="4297825"/>
              <a:ext cx="2057400" cy="634276"/>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Firmware &amp; Libraries</a:t>
              </a:r>
            </a:p>
          </p:txBody>
        </p:sp>
      </p:grpSp>
      <p:grpSp>
        <p:nvGrpSpPr>
          <p:cNvPr id="31" name="Group 30">
            <a:extLst>
              <a:ext uri="{FF2B5EF4-FFF2-40B4-BE49-F238E27FC236}">
                <a16:creationId xmlns:a16="http://schemas.microsoft.com/office/drawing/2014/main" id="{2AB71C85-1DDA-4D69-C92C-B98E5CB70E2C}"/>
              </a:ext>
            </a:extLst>
          </p:cNvPr>
          <p:cNvGrpSpPr/>
          <p:nvPr/>
        </p:nvGrpSpPr>
        <p:grpSpPr>
          <a:xfrm>
            <a:off x="1078840" y="1011232"/>
            <a:ext cx="4993701" cy="731520"/>
            <a:chOff x="888531" y="856218"/>
            <a:chExt cx="4993701" cy="731520"/>
          </a:xfrm>
        </p:grpSpPr>
        <p:pic>
          <p:nvPicPr>
            <p:cNvPr id="23" name="Picture 22" descr="A group of people with a light bulb above them&#10;&#10;Description automatically generated">
              <a:extLst>
                <a:ext uri="{FF2B5EF4-FFF2-40B4-BE49-F238E27FC236}">
                  <a16:creationId xmlns:a16="http://schemas.microsoft.com/office/drawing/2014/main" id="{E9C64628-76B1-E9DB-3EF2-A5AF32650E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8531" y="856218"/>
              <a:ext cx="731520" cy="731520"/>
            </a:xfrm>
            <a:prstGeom prst="rect">
              <a:avLst/>
            </a:prstGeom>
          </p:spPr>
        </p:pic>
        <p:sp>
          <p:nvSpPr>
            <p:cNvPr id="28" name="TextBox 27">
              <a:extLst>
                <a:ext uri="{FF2B5EF4-FFF2-40B4-BE49-F238E27FC236}">
                  <a16:creationId xmlns:a16="http://schemas.microsoft.com/office/drawing/2014/main" id="{7385D896-FA06-825E-1623-FC675E9B7986}"/>
                </a:ext>
              </a:extLst>
            </p:cNvPr>
            <p:cNvSpPr txBox="1"/>
            <p:nvPr/>
          </p:nvSpPr>
          <p:spPr bwMode="auto">
            <a:xfrm>
              <a:off x="1980139" y="904840"/>
              <a:ext cx="3902093" cy="634276"/>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Governing Board, Technical Steering Committee, Contributors</a:t>
              </a:r>
            </a:p>
          </p:txBody>
        </p:sp>
      </p:grpSp>
      <p:grpSp>
        <p:nvGrpSpPr>
          <p:cNvPr id="35" name="Group 34">
            <a:extLst>
              <a:ext uri="{FF2B5EF4-FFF2-40B4-BE49-F238E27FC236}">
                <a16:creationId xmlns:a16="http://schemas.microsoft.com/office/drawing/2014/main" id="{F5A740B7-880B-9FD1-0782-22201D4EA45E}"/>
              </a:ext>
            </a:extLst>
          </p:cNvPr>
          <p:cNvGrpSpPr/>
          <p:nvPr/>
        </p:nvGrpSpPr>
        <p:grpSpPr>
          <a:xfrm>
            <a:off x="1078840" y="5395151"/>
            <a:ext cx="3225208" cy="731520"/>
            <a:chOff x="888531" y="5380199"/>
            <a:chExt cx="3225208" cy="731520"/>
          </a:xfrm>
        </p:grpSpPr>
        <p:pic>
          <p:nvPicPr>
            <p:cNvPr id="19" name="Picture 18" descr="A person pointing at a board&#10;&#10;Description automatically generated">
              <a:extLst>
                <a:ext uri="{FF2B5EF4-FFF2-40B4-BE49-F238E27FC236}">
                  <a16:creationId xmlns:a16="http://schemas.microsoft.com/office/drawing/2014/main" id="{C5841398-D536-E127-EDCB-09B0AE36FCA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88531" y="5380199"/>
              <a:ext cx="731520" cy="731520"/>
            </a:xfrm>
            <a:prstGeom prst="rect">
              <a:avLst/>
            </a:prstGeom>
          </p:spPr>
        </p:pic>
        <p:sp>
          <p:nvSpPr>
            <p:cNvPr id="29" name="TextBox 28">
              <a:extLst>
                <a:ext uri="{FF2B5EF4-FFF2-40B4-BE49-F238E27FC236}">
                  <a16:creationId xmlns:a16="http://schemas.microsoft.com/office/drawing/2014/main" id="{79C91B34-F39A-D502-54C5-E3BFD61E87D5}"/>
                </a:ext>
              </a:extLst>
            </p:cNvPr>
            <p:cNvSpPr txBox="1"/>
            <p:nvPr/>
          </p:nvSpPr>
          <p:spPr bwMode="auto">
            <a:xfrm>
              <a:off x="1980139" y="5428821"/>
              <a:ext cx="2133600" cy="634276"/>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Training &amp; Consulting</a:t>
              </a:r>
            </a:p>
          </p:txBody>
        </p:sp>
      </p:grpSp>
      <p:grpSp>
        <p:nvGrpSpPr>
          <p:cNvPr id="33" name="Group 32">
            <a:extLst>
              <a:ext uri="{FF2B5EF4-FFF2-40B4-BE49-F238E27FC236}">
                <a16:creationId xmlns:a16="http://schemas.microsoft.com/office/drawing/2014/main" id="{A2686090-CB35-39EA-ED3F-F3C9A0E88A55}"/>
              </a:ext>
            </a:extLst>
          </p:cNvPr>
          <p:cNvGrpSpPr/>
          <p:nvPr/>
        </p:nvGrpSpPr>
        <p:grpSpPr>
          <a:xfrm>
            <a:off x="426683" y="3203192"/>
            <a:ext cx="2615608" cy="731520"/>
            <a:chOff x="888531" y="3118208"/>
            <a:chExt cx="2615608" cy="731520"/>
          </a:xfrm>
        </p:grpSpPr>
        <p:pic>
          <p:nvPicPr>
            <p:cNvPr id="17" name="Picture 16" descr="A computer with a wrench and screwdriver&#10;&#10;Description automatically generated">
              <a:extLst>
                <a:ext uri="{FF2B5EF4-FFF2-40B4-BE49-F238E27FC236}">
                  <a16:creationId xmlns:a16="http://schemas.microsoft.com/office/drawing/2014/main" id="{A76D8821-CE2E-C4D0-52A4-EAC14502C7A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8531" y="3118208"/>
              <a:ext cx="731520" cy="731520"/>
            </a:xfrm>
            <a:prstGeom prst="rect">
              <a:avLst/>
            </a:prstGeom>
          </p:spPr>
        </p:pic>
        <p:sp>
          <p:nvSpPr>
            <p:cNvPr id="30" name="TextBox 29">
              <a:extLst>
                <a:ext uri="{FF2B5EF4-FFF2-40B4-BE49-F238E27FC236}">
                  <a16:creationId xmlns:a16="http://schemas.microsoft.com/office/drawing/2014/main" id="{9C9D1A87-94A7-FAB9-C0C4-C8702B67A044}"/>
                </a:ext>
              </a:extLst>
            </p:cNvPr>
            <p:cNvSpPr txBox="1"/>
            <p:nvPr/>
          </p:nvSpPr>
          <p:spPr bwMode="auto">
            <a:xfrm>
              <a:off x="1980139" y="3166830"/>
              <a:ext cx="1524000" cy="634276"/>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800" kern="0" baseline="0" dirty="0">
                  <a:latin typeface="+mn-lt"/>
                  <a:ea typeface="+mn-ea"/>
                  <a:cs typeface="+mn-cs"/>
                </a:rPr>
                <a:t>Development Tools</a:t>
              </a:r>
            </a:p>
          </p:txBody>
        </p:sp>
      </p:grpSp>
    </p:spTree>
    <p:extLst>
      <p:ext uri="{BB962C8B-B14F-4D97-AF65-F5344CB8AC3E}">
        <p14:creationId xmlns:p14="http://schemas.microsoft.com/office/powerpoint/2010/main" val="123452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95"/>
          <p:cNvSpPr txBox="1">
            <a:spLocks noGrp="1"/>
          </p:cNvSpPr>
          <p:nvPr>
            <p:ph sz="quarter" idx="13"/>
          </p:nvPr>
        </p:nvSpPr>
        <p:spPr>
          <a:xfrm>
            <a:off x="334963" y="1268413"/>
            <a:ext cx="5151437" cy="5113337"/>
          </a:xfrm>
          <a:noFill/>
          <a:ln>
            <a:noFill/>
          </a:ln>
        </p:spPr>
        <p:txBody>
          <a:bodyPr spcFirstLastPara="1" vert="horz" wrap="square" lIns="121900" tIns="121900" rIns="121900" bIns="121900" rtlCol="0" anchor="t" anchorCtr="0">
            <a:noAutofit/>
          </a:bodyPr>
          <a:lstStyle/>
          <a:p>
            <a:pPr>
              <a:spcAft>
                <a:spcPts val="1200"/>
              </a:spcAft>
            </a:pPr>
            <a:r>
              <a:rPr lang="en-US" b="1" dirty="0"/>
              <a:t>Describe</a:t>
            </a:r>
            <a:r>
              <a:rPr lang="en-US" dirty="0"/>
              <a:t> &amp; </a:t>
            </a:r>
            <a:r>
              <a:rPr lang="en-US" b="1" dirty="0"/>
              <a:t>configure</a:t>
            </a:r>
            <a:r>
              <a:rPr lang="en-US" dirty="0"/>
              <a:t> the available hardware on the target system</a:t>
            </a:r>
          </a:p>
          <a:p>
            <a:pPr>
              <a:spcAft>
                <a:spcPts val="1200"/>
              </a:spcAft>
            </a:pPr>
            <a:r>
              <a:rPr lang="en-US" b="1" dirty="0"/>
              <a:t>Decouple</a:t>
            </a:r>
            <a:r>
              <a:rPr lang="en-US" dirty="0"/>
              <a:t> the application from the hardware</a:t>
            </a:r>
          </a:p>
          <a:p>
            <a:pPr>
              <a:spcAft>
                <a:spcPts val="1200"/>
              </a:spcAft>
            </a:pPr>
            <a:r>
              <a:rPr lang="en-US" b="1" dirty="0"/>
              <a:t>Hardware config lives in Devicetree; software config lives in Kconfig</a:t>
            </a:r>
            <a:br>
              <a:rPr lang="en-US" dirty="0"/>
            </a:br>
            <a:endParaRPr lang="en-US" dirty="0"/>
          </a:p>
        </p:txBody>
      </p:sp>
      <p:sp>
        <p:nvSpPr>
          <p:cNvPr id="687" name="Google Shape;687;p95"/>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US"/>
              <a:t>Devicetree</a:t>
            </a:r>
          </a:p>
        </p:txBody>
      </p:sp>
      <p:grpSp>
        <p:nvGrpSpPr>
          <p:cNvPr id="688" name="Google Shape;688;p95"/>
          <p:cNvGrpSpPr/>
          <p:nvPr/>
        </p:nvGrpSpPr>
        <p:grpSpPr>
          <a:xfrm>
            <a:off x="5867400" y="1093595"/>
            <a:ext cx="5543799" cy="4850005"/>
            <a:chOff x="5118100" y="1330000"/>
            <a:chExt cx="3791100" cy="4065795"/>
          </a:xfrm>
        </p:grpSpPr>
        <p:sp>
          <p:nvSpPr>
            <p:cNvPr id="689" name="Google Shape;689;p95"/>
            <p:cNvSpPr/>
            <p:nvPr/>
          </p:nvSpPr>
          <p:spPr>
            <a:xfrm>
              <a:off x="5118100" y="1330000"/>
              <a:ext cx="3791100" cy="3362400"/>
            </a:xfrm>
            <a:prstGeom prst="roundRect">
              <a:avLst>
                <a:gd name="adj" fmla="val 5291"/>
              </a:avLst>
            </a:prstGeom>
            <a:solidFill>
              <a:schemeClr val="lt1"/>
            </a:solidFill>
            <a:ln w="19050" cap="flat" cmpd="sng">
              <a:solidFill>
                <a:schemeClr val="dk2"/>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243833" tIns="243833" rIns="243833" bIns="243833" anchor="ctr" anchorCtr="0">
              <a:noAutofit/>
            </a:bodyPr>
            <a:lstStyle/>
            <a:p>
              <a:r>
                <a:rPr b="1" dirty="0" err="1">
                  <a:solidFill>
                    <a:srgbClr val="9C216E"/>
                  </a:solidFill>
                  <a:latin typeface="Inconsolata"/>
                </a:rPr>
                <a:t>zephyr,user</a:t>
              </a:r>
              <a:r>
                <a:rPr b="1" dirty="0">
                  <a:solidFill>
                    <a:srgbClr val="9C216E"/>
                  </a:solidFill>
                  <a:latin typeface="Inconsolata"/>
                </a:rPr>
                <a:t> </a:t>
              </a:r>
              <a:r>
                <a:rPr b="1" dirty="0">
                  <a:latin typeface="Inconsolata"/>
                </a:rPr>
                <a:t>{</a:t>
              </a:r>
            </a:p>
            <a:p>
              <a:r>
                <a:rPr b="1" dirty="0">
                  <a:latin typeface="Inconsolata"/>
                </a:rPr>
                <a:t>    io-channels = &lt;&amp;</a:t>
              </a:r>
              <a:r>
                <a:rPr b="1" dirty="0">
                  <a:solidFill>
                    <a:schemeClr val="tx2"/>
                  </a:solidFill>
                  <a:latin typeface="Inconsolata"/>
                </a:rPr>
                <a:t>adc0 12</a:t>
              </a:r>
              <a:r>
                <a:rPr b="1" dirty="0">
                  <a:latin typeface="Inconsolata"/>
                </a:rPr>
                <a:t>&gt;;</a:t>
              </a:r>
            </a:p>
            <a:p>
              <a:r>
                <a:rPr b="1" dirty="0">
                  <a:latin typeface="Inconsolata"/>
                </a:rPr>
                <a:t>};</a:t>
              </a:r>
            </a:p>
            <a:p>
              <a:endParaRPr lang="en-US" b="1" dirty="0">
                <a:latin typeface="Inconsolata"/>
              </a:endParaRPr>
            </a:p>
            <a:p>
              <a:r>
                <a:rPr b="1" dirty="0">
                  <a:solidFill>
                    <a:srgbClr val="9C216E"/>
                  </a:solidFill>
                  <a:latin typeface="Inconsolata"/>
                </a:rPr>
                <a:t>aliases</a:t>
              </a:r>
              <a:r>
                <a:rPr b="1" dirty="0">
                  <a:latin typeface="Inconsolata"/>
                </a:rPr>
                <a:t> {</a:t>
              </a:r>
            </a:p>
            <a:p>
              <a:r>
                <a:rPr b="1" dirty="0">
                  <a:latin typeface="Inconsolata"/>
                </a:rPr>
                <a:t>    </a:t>
              </a:r>
              <a:r>
                <a:rPr b="1" dirty="0" err="1">
                  <a:latin typeface="Inconsolata"/>
                </a:rPr>
                <a:t>cmd-pwm</a:t>
              </a:r>
              <a:r>
                <a:rPr b="1" dirty="0">
                  <a:latin typeface="Inconsolata"/>
                </a:rPr>
                <a:t> = &amp;</a:t>
              </a:r>
              <a:r>
                <a:rPr b="1" dirty="0" err="1">
                  <a:solidFill>
                    <a:schemeClr val="tx2"/>
                  </a:solidFill>
                  <a:latin typeface="Inconsolata"/>
                </a:rPr>
                <a:t>pwm_cmd</a:t>
              </a:r>
              <a:r>
                <a:rPr b="1" dirty="0">
                  <a:latin typeface="Inconsolata"/>
                </a:rPr>
                <a:t>;</a:t>
              </a:r>
            </a:p>
            <a:p>
              <a:r>
                <a:rPr b="1" dirty="0">
                  <a:latin typeface="Inconsolata"/>
                </a:rPr>
                <a:t>};</a:t>
              </a:r>
            </a:p>
            <a:p>
              <a:endParaRPr b="1" dirty="0">
                <a:latin typeface="Inconsolata"/>
              </a:endParaRPr>
            </a:p>
            <a:p>
              <a:r>
                <a:rPr b="1" dirty="0" err="1">
                  <a:solidFill>
                    <a:srgbClr val="9C216E"/>
                  </a:solidFill>
                  <a:latin typeface="Inconsolata"/>
                </a:rPr>
                <a:t>pwmleds</a:t>
              </a:r>
              <a:r>
                <a:rPr b="1" dirty="0">
                  <a:latin typeface="Inconsolata"/>
                </a:rPr>
                <a:t> {</a:t>
              </a:r>
            </a:p>
            <a:p>
              <a:r>
                <a:rPr b="1" dirty="0">
                  <a:latin typeface="Inconsolata"/>
                </a:rPr>
                <a:t>    compatible = "</a:t>
              </a:r>
              <a:r>
                <a:rPr b="1" dirty="0" err="1">
                  <a:solidFill>
                    <a:schemeClr val="tx2"/>
                  </a:solidFill>
                  <a:latin typeface="Inconsolata"/>
                </a:rPr>
                <a:t>pwm-leds</a:t>
              </a:r>
              <a:r>
                <a:rPr b="1" dirty="0">
                  <a:latin typeface="Inconsolata"/>
                </a:rPr>
                <a:t>";</a:t>
              </a:r>
            </a:p>
            <a:p>
              <a:endParaRPr b="1" dirty="0">
                <a:latin typeface="Inconsolata"/>
              </a:endParaRPr>
            </a:p>
            <a:p>
              <a:r>
                <a:rPr b="1" dirty="0">
                  <a:latin typeface="Inconsolata"/>
                </a:rPr>
                <a:t>    </a:t>
              </a:r>
              <a:r>
                <a:rPr b="1" dirty="0" err="1">
                  <a:solidFill>
                    <a:srgbClr val="9C216E"/>
                  </a:solidFill>
                  <a:latin typeface="Inconsolata"/>
                </a:rPr>
                <a:t>pwm_cmd</a:t>
              </a:r>
              <a:r>
                <a:rPr b="1" dirty="0">
                  <a:latin typeface="Inconsolata"/>
                </a:rPr>
                <a:t>: </a:t>
              </a:r>
              <a:r>
                <a:rPr b="1" dirty="0" err="1">
                  <a:solidFill>
                    <a:schemeClr val="tx2"/>
                  </a:solidFill>
                  <a:latin typeface="Inconsolata"/>
                </a:rPr>
                <a:t>pwm_cmd_led</a:t>
              </a:r>
              <a:r>
                <a:rPr b="1" dirty="0">
                  <a:solidFill>
                    <a:schemeClr val="tx2"/>
                  </a:solidFill>
                  <a:latin typeface="Inconsolata"/>
                </a:rPr>
                <a:t> </a:t>
              </a:r>
              <a:r>
                <a:rPr b="1" dirty="0">
                  <a:latin typeface="Inconsolata"/>
                </a:rPr>
                <a:t>{</a:t>
              </a:r>
            </a:p>
            <a:p>
              <a:r>
                <a:rPr b="1" dirty="0">
                  <a:latin typeface="Inconsolata"/>
                </a:rPr>
                <a:t>        label = "</a:t>
              </a:r>
              <a:r>
                <a:rPr b="1" dirty="0">
                  <a:solidFill>
                    <a:schemeClr val="tx2"/>
                  </a:solidFill>
                  <a:latin typeface="Inconsolata"/>
                </a:rPr>
                <a:t>Command PWM (P5.0)</a:t>
              </a:r>
              <a:r>
                <a:rPr b="1" dirty="0">
                  <a:latin typeface="Inconsolata"/>
                </a:rPr>
                <a:t>";</a:t>
              </a:r>
            </a:p>
            <a:p>
              <a:r>
                <a:rPr b="1" dirty="0">
                  <a:latin typeface="Inconsolata"/>
                </a:rPr>
                <a:t>        </a:t>
              </a:r>
              <a:r>
                <a:rPr b="1" dirty="0" err="1">
                  <a:latin typeface="Inconsolata"/>
                </a:rPr>
                <a:t>pwms</a:t>
              </a:r>
              <a:r>
                <a:rPr b="1" dirty="0">
                  <a:latin typeface="Inconsolata"/>
                </a:rPr>
                <a:t> = &lt;&amp;</a:t>
              </a:r>
              <a:r>
                <a:rPr b="1" dirty="0">
                  <a:solidFill>
                    <a:schemeClr val="tx2"/>
                  </a:solidFill>
                  <a:latin typeface="Inconsolata"/>
                </a:rPr>
                <a:t>pwm0_6 0</a:t>
              </a:r>
              <a:r>
                <a:rPr lang="en-US" b="1" dirty="0">
                  <a:solidFill>
                    <a:schemeClr val="tx2"/>
                  </a:solidFill>
                  <a:latin typeface="Inconsolata"/>
                </a:rPr>
                <a:t> </a:t>
              </a:r>
              <a:r>
                <a:rPr b="1" dirty="0">
                  <a:solidFill>
                    <a:schemeClr val="tx2"/>
                  </a:solidFill>
                  <a:latin typeface="Inconsolata"/>
                </a:rPr>
                <a:t>PWM_USEC(1000)</a:t>
              </a:r>
              <a:r>
                <a:rPr b="1" dirty="0">
                  <a:latin typeface="Inconsolata"/>
                </a:rPr>
                <a:t>&gt;;</a:t>
              </a:r>
            </a:p>
            <a:p>
              <a:r>
                <a:rPr b="1" dirty="0">
                  <a:latin typeface="Inconsolata"/>
                </a:rPr>
                <a:t>    };</a:t>
              </a:r>
            </a:p>
            <a:p>
              <a:r>
                <a:rPr b="1" dirty="0">
                  <a:latin typeface="Inconsolata"/>
                </a:rPr>
                <a:t>};</a:t>
              </a:r>
            </a:p>
            <a:p>
              <a:endParaRPr b="1" dirty="0">
                <a:latin typeface="Inconsolata"/>
              </a:endParaRPr>
            </a:p>
          </p:txBody>
        </p:sp>
        <p:sp>
          <p:nvSpPr>
            <p:cNvPr id="690" name="Google Shape;690;p95"/>
            <p:cNvSpPr txBox="1"/>
            <p:nvPr/>
          </p:nvSpPr>
          <p:spPr>
            <a:xfrm>
              <a:off x="5828007" y="4768600"/>
              <a:ext cx="2371285" cy="627195"/>
            </a:xfrm>
            <a:prstGeom prst="rect">
              <a:avLst/>
            </a:prstGeom>
            <a:noFill/>
            <a:ln>
              <a:noFill/>
            </a:ln>
          </p:spPr>
          <p:txBody>
            <a:bodyPr spcFirstLastPara="1" wrap="square" lIns="121900" tIns="60933" rIns="121900" bIns="60933" anchor="t" anchorCtr="0">
              <a:noAutofit/>
            </a:bodyPr>
            <a:lstStyle/>
            <a:p>
              <a:pPr algn="ctr">
                <a:spcBef>
                  <a:spcPts val="0"/>
                </a:spcBef>
                <a:spcAft>
                  <a:spcPts val="0"/>
                </a:spcAft>
                <a:buClr>
                  <a:srgbClr val="000000"/>
                </a:buClr>
                <a:buSzPts val="1400"/>
              </a:pPr>
              <a:r>
                <a:rPr sz="1868" dirty="0">
                  <a:latin typeface="Inconsolata"/>
                </a:rPr>
                <a:t>.overlay file example (KIT_PSC3M6_EVAL)</a:t>
              </a:r>
              <a:endParaRPr sz="1867" dirty="0">
                <a:solidFill>
                  <a:srgbClr val="000000"/>
                </a:solidFill>
                <a:latin typeface="Open Sans"/>
                <a:ea typeface="Open Sans"/>
                <a:cs typeface="Open Sans"/>
                <a:sym typeface="Open Sans"/>
              </a:endParaRPr>
            </a:p>
          </p:txBody>
        </p:sp>
      </p:grpSp>
      <p:pic>
        <p:nvPicPr>
          <p:cNvPr id="4" name="Picture 3" descr="A blue and green wrench and screwdriver&#10;&#10;Description automatically generated">
            <a:extLst>
              <a:ext uri="{FF2B5EF4-FFF2-40B4-BE49-F238E27FC236}">
                <a16:creationId xmlns:a16="http://schemas.microsoft.com/office/drawing/2014/main" id="{EB96BD8E-F5B0-7794-1220-BF2B6421B6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9800" y="1371600"/>
            <a:ext cx="1205368" cy="120536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700" name="Google Shape;700;p96"/>
          <p:cNvSpPr txBox="1">
            <a:spLocks noGrp="1"/>
          </p:cNvSpPr>
          <p:nvPr>
            <p:ph sz="quarter" idx="13"/>
          </p:nvPr>
        </p:nvSpPr>
        <p:spPr>
          <a:xfrm>
            <a:off x="334963" y="1268413"/>
            <a:ext cx="7969729" cy="5113337"/>
          </a:xfrm>
          <a:noFill/>
          <a:ln>
            <a:noFill/>
          </a:ln>
        </p:spPr>
        <p:txBody>
          <a:bodyPr spcFirstLastPara="1" vert="horz" wrap="square" lIns="121900" tIns="121900" rIns="121900" bIns="121900" rtlCol="0" anchor="t" anchorCtr="0">
            <a:noAutofit/>
          </a:bodyPr>
          <a:lstStyle/>
          <a:p>
            <a:pPr>
              <a:spcAft>
                <a:spcPts val="1200"/>
              </a:spcAft>
            </a:pPr>
            <a:r>
              <a:rPr lang="en-US" sz="2000" dirty="0"/>
              <a:t>Wide variety of </a:t>
            </a:r>
            <a:r>
              <a:rPr lang="en-US" sz="2000" b="1" dirty="0"/>
              <a:t>communication protocols</a:t>
            </a:r>
          </a:p>
          <a:p>
            <a:pPr lvl="1">
              <a:spcAft>
                <a:spcPts val="1200"/>
              </a:spcAft>
            </a:pPr>
            <a:r>
              <a:rPr lang="en-US" sz="1800" dirty="0"/>
              <a:t>Ethernet, 802.15.4, Thread, LoRa, Bluetooth, CAN bus, …</a:t>
            </a:r>
          </a:p>
          <a:p>
            <a:pPr>
              <a:spcAft>
                <a:spcPts val="1200"/>
              </a:spcAft>
            </a:pPr>
            <a:r>
              <a:rPr lang="en-US" sz="2000" b="1" dirty="0"/>
              <a:t>Core network protocols </a:t>
            </a:r>
            <a:r>
              <a:rPr lang="en-US" sz="2000" dirty="0"/>
              <a:t>like IPv6, IPv4, UDP, TCP, ICMPv4, and ICMPv6.</a:t>
            </a:r>
          </a:p>
          <a:p>
            <a:pPr>
              <a:spcAft>
                <a:spcPts val="1200"/>
              </a:spcAft>
            </a:pPr>
            <a:r>
              <a:rPr lang="en-US" sz="2000" b="1" dirty="0"/>
              <a:t>Security</a:t>
            </a:r>
            <a:r>
              <a:rPr lang="en-US" sz="2000" dirty="0"/>
              <a:t> (ex. TLS, DTLS, …)</a:t>
            </a:r>
          </a:p>
          <a:p>
            <a:pPr>
              <a:spcAft>
                <a:spcPts val="1200"/>
              </a:spcAft>
            </a:pPr>
            <a:r>
              <a:rPr lang="en-US" sz="2000" b="1" dirty="0"/>
              <a:t>Cloud integration </a:t>
            </a:r>
            <a:r>
              <a:rPr lang="en-US" sz="2000" dirty="0"/>
              <a:t>using MQTT, CoAP and HTTP protocols</a:t>
            </a:r>
          </a:p>
          <a:p>
            <a:pPr>
              <a:spcAft>
                <a:spcPts val="1200"/>
              </a:spcAft>
            </a:pPr>
            <a:r>
              <a:rPr lang="en-US" sz="2000" b="1" dirty="0"/>
              <a:t>Over-the-air updates</a:t>
            </a:r>
          </a:p>
          <a:p>
            <a:pPr>
              <a:spcAft>
                <a:spcPts val="1200"/>
              </a:spcAft>
            </a:pPr>
            <a:r>
              <a:rPr lang="en-US" sz="2000" b="1" dirty="0"/>
              <a:t>Device management </a:t>
            </a:r>
            <a:r>
              <a:rPr lang="en-US" sz="2000" dirty="0"/>
              <a:t>using OMA LwM2M 1.1 protocol</a:t>
            </a:r>
          </a:p>
        </p:txBody>
      </p:sp>
      <p:sp>
        <p:nvSpPr>
          <p:cNvPr id="699" name="Google Shape;699;p96"/>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US"/>
              <a:t>IoT Connectivity Options</a:t>
            </a:r>
          </a:p>
        </p:txBody>
      </p:sp>
      <p:pic>
        <p:nvPicPr>
          <p:cNvPr id="6" name="Picture 5" descr="A logo with text on it&#10;&#10;Description automatically generated">
            <a:extLst>
              <a:ext uri="{FF2B5EF4-FFF2-40B4-BE49-F238E27FC236}">
                <a16:creationId xmlns:a16="http://schemas.microsoft.com/office/drawing/2014/main" id="{3B71093F-4475-252D-CC5B-45A32D7792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04692" y="1447800"/>
            <a:ext cx="3352800" cy="33528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8" name="Content Placeholder 7">
            <a:extLst>
              <a:ext uri="{FF2B5EF4-FFF2-40B4-BE49-F238E27FC236}">
                <a16:creationId xmlns:a16="http://schemas.microsoft.com/office/drawing/2014/main" id="{E5C0CB8C-F3FA-169D-A28A-92A97035B5A3}"/>
              </a:ext>
            </a:extLst>
          </p:cNvPr>
          <p:cNvSpPr>
            <a:spLocks noGrp="1"/>
          </p:cNvSpPr>
          <p:nvPr>
            <p:ph sz="quarter" idx="13"/>
          </p:nvPr>
        </p:nvSpPr>
        <p:spPr>
          <a:xfrm>
            <a:off x="334800" y="1268414"/>
            <a:ext cx="5608800" cy="5113337"/>
          </a:xfrm>
        </p:spPr>
        <p:txBody>
          <a:bodyPr/>
          <a:lstStyle/>
          <a:p>
            <a:pPr>
              <a:spcAft>
                <a:spcPts val="1200"/>
              </a:spcAft>
            </a:pPr>
            <a:r>
              <a:rPr lang="en-US" sz="2000" dirty="0"/>
              <a:t>Built from scratch, on top of Zephyr native kernel concepts</a:t>
            </a:r>
          </a:p>
          <a:p>
            <a:pPr>
              <a:spcAft>
                <a:spcPts val="1200"/>
              </a:spcAft>
            </a:pPr>
            <a:r>
              <a:rPr lang="en-US" sz="2000" dirty="0"/>
              <a:t>Dual mode </a:t>
            </a:r>
            <a:r>
              <a:rPr lang="en-US" sz="2000" b="1" dirty="0"/>
              <a:t>IPv4/IPv6 stack</a:t>
            </a:r>
          </a:p>
          <a:p>
            <a:pPr lvl="1">
              <a:spcAft>
                <a:spcPts val="1200"/>
              </a:spcAft>
            </a:pPr>
            <a:r>
              <a:rPr lang="en-US" sz="1800" dirty="0"/>
              <a:t>DHCP v4, IPv4 </a:t>
            </a:r>
            <a:r>
              <a:rPr lang="en-US" sz="1800" dirty="0" err="1"/>
              <a:t>autoconf</a:t>
            </a:r>
            <a:r>
              <a:rPr lang="en-US" sz="1800" dirty="0"/>
              <a:t>, IPv6 SLAAC, </a:t>
            </a:r>
            <a:br>
              <a:rPr lang="en-US" sz="1800" dirty="0"/>
            </a:br>
            <a:r>
              <a:rPr lang="en-US" sz="1800" dirty="0"/>
              <a:t>DNS, SNTP </a:t>
            </a:r>
          </a:p>
          <a:p>
            <a:pPr>
              <a:spcAft>
                <a:spcPts val="1200"/>
              </a:spcAft>
            </a:pPr>
            <a:r>
              <a:rPr lang="en-US" sz="2000" dirty="0"/>
              <a:t>Multiple network interfaces support</a:t>
            </a:r>
          </a:p>
          <a:p>
            <a:pPr>
              <a:spcAft>
                <a:spcPts val="1200"/>
              </a:spcAft>
            </a:pPr>
            <a:r>
              <a:rPr lang="en-US" sz="2000" dirty="0"/>
              <a:t>Time Sensitive Networking support</a:t>
            </a:r>
          </a:p>
          <a:p>
            <a:pPr>
              <a:spcAft>
                <a:spcPts val="1200"/>
              </a:spcAft>
            </a:pPr>
            <a:r>
              <a:rPr lang="en-US" sz="2000" b="1" dirty="0"/>
              <a:t>BSD Sockets</a:t>
            </a:r>
            <a:r>
              <a:rPr lang="en-US" sz="2000" dirty="0"/>
              <a:t>-based API</a:t>
            </a:r>
          </a:p>
          <a:p>
            <a:pPr>
              <a:spcAft>
                <a:spcPts val="1200"/>
              </a:spcAft>
            </a:pPr>
            <a:r>
              <a:rPr lang="en-US" sz="2000" dirty="0"/>
              <a:t>Supports IP offloading </a:t>
            </a:r>
          </a:p>
          <a:p>
            <a:pPr>
              <a:spcAft>
                <a:spcPts val="1200"/>
              </a:spcAft>
            </a:pPr>
            <a:r>
              <a:rPr lang="en-US" sz="2000" b="1" dirty="0"/>
              <a:t>Compliance and security </a:t>
            </a:r>
            <a:r>
              <a:rPr lang="en-US" sz="2000" dirty="0"/>
              <a:t>tested</a:t>
            </a:r>
          </a:p>
        </p:txBody>
      </p:sp>
      <p:sp>
        <p:nvSpPr>
          <p:cNvPr id="706" name="Google Shape;706;p97"/>
          <p:cNvSpPr txBox="1">
            <a:spLocks noGrp="1"/>
          </p:cNvSpPr>
          <p:nvPr>
            <p:ph type="title"/>
          </p:nvPr>
        </p:nvSpPr>
        <p:spPr>
          <a:noFill/>
          <a:ln>
            <a:noFill/>
          </a:ln>
        </p:spPr>
        <p:txBody>
          <a:bodyPr spcFirstLastPara="1" vert="horz" wrap="square" lIns="121900" tIns="60933" rIns="121900" bIns="60933" rtlCol="0" anchor="t" anchorCtr="0">
            <a:noAutofit/>
          </a:bodyPr>
          <a:lstStyle/>
          <a:p>
            <a:r>
              <a:rPr lang="en-US"/>
              <a:t>Native IP Stack</a:t>
            </a:r>
          </a:p>
        </p:txBody>
      </p:sp>
      <p:pic>
        <p:nvPicPr>
          <p:cNvPr id="18" name="Picture 17" descr="A computer screen shot of a network application&#10;&#10;Description automatically generated">
            <a:extLst>
              <a:ext uri="{FF2B5EF4-FFF2-40B4-BE49-F238E27FC236}">
                <a16:creationId xmlns:a16="http://schemas.microsoft.com/office/drawing/2014/main" id="{83ADF3E2-446A-B833-3331-0C5A172158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762000"/>
            <a:ext cx="6096000" cy="533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9" name="Google Shape;719;p99"/>
          <p:cNvSpPr txBox="1">
            <a:spLocks noGrp="1"/>
          </p:cNvSpPr>
          <p:nvPr>
            <p:ph sz="quarter" idx="13"/>
          </p:nvPr>
        </p:nvSpPr>
        <p:spPr>
          <a:xfrm>
            <a:off x="334963" y="1268413"/>
            <a:ext cx="6675437" cy="5113337"/>
          </a:xfrm>
          <a:noFill/>
          <a:ln>
            <a:noFill/>
          </a:ln>
        </p:spPr>
        <p:txBody>
          <a:bodyPr spcFirstLastPara="1" vert="horz" wrap="square" lIns="121900" tIns="121900" rIns="121900" bIns="121900" rtlCol="0" anchor="t" anchorCtr="0">
            <a:noAutofit/>
          </a:bodyPr>
          <a:lstStyle/>
          <a:p>
            <a:pPr>
              <a:spcAft>
                <a:spcPts val="1200"/>
              </a:spcAft>
            </a:pPr>
            <a:r>
              <a:rPr lang="en-US" sz="2000" b="1" dirty="0"/>
              <a:t>Bluetooth 5.3 compliant </a:t>
            </a:r>
            <a:r>
              <a:rPr lang="en-US" sz="2000" dirty="0"/>
              <a:t>and qualified (5.1)</a:t>
            </a:r>
          </a:p>
          <a:p>
            <a:pPr>
              <a:spcAft>
                <a:spcPts val="1200"/>
              </a:spcAft>
            </a:pPr>
            <a:r>
              <a:rPr lang="en-US" sz="2000" dirty="0"/>
              <a:t>Support for multiple BLE radio hardware architectures</a:t>
            </a:r>
          </a:p>
          <a:p>
            <a:pPr>
              <a:spcAft>
                <a:spcPts val="1200"/>
              </a:spcAft>
            </a:pPr>
            <a:r>
              <a:rPr lang="en-US" sz="2000" dirty="0"/>
              <a:t>Proprietary radios (downstream only)</a:t>
            </a:r>
          </a:p>
          <a:p>
            <a:pPr>
              <a:spcAft>
                <a:spcPts val="1200"/>
              </a:spcAft>
            </a:pPr>
            <a:r>
              <a:rPr lang="en-US" sz="2000" dirty="0"/>
              <a:t>Unlimited role and connection count</a:t>
            </a:r>
          </a:p>
          <a:p>
            <a:pPr>
              <a:spcAft>
                <a:spcPts val="1200"/>
              </a:spcAft>
            </a:pPr>
            <a:r>
              <a:rPr lang="en-US" sz="2000" dirty="0"/>
              <a:t>Concurrent multi-protocol support ready</a:t>
            </a:r>
          </a:p>
          <a:p>
            <a:pPr>
              <a:spcAft>
                <a:spcPts val="1200"/>
              </a:spcAft>
            </a:pPr>
            <a:r>
              <a:rPr lang="en-US" sz="2000" dirty="0"/>
              <a:t>Multiple advertiser and scanner instances</a:t>
            </a:r>
          </a:p>
        </p:txBody>
      </p:sp>
      <p:sp>
        <p:nvSpPr>
          <p:cNvPr id="718" name="Google Shape;718;p99"/>
          <p:cNvSpPr txBox="1">
            <a:spLocks noGrp="1"/>
          </p:cNvSpPr>
          <p:nvPr>
            <p:ph type="title"/>
          </p:nvPr>
        </p:nvSpPr>
        <p:spPr>
          <a:xfrm>
            <a:off x="335360" y="188720"/>
            <a:ext cx="9613068" cy="720000"/>
          </a:xfrm>
          <a:noFill/>
          <a:ln>
            <a:noFill/>
          </a:ln>
        </p:spPr>
        <p:txBody>
          <a:bodyPr spcFirstLastPara="1" vert="horz" wrap="square" lIns="91433" tIns="91433" rIns="91433" bIns="91433" rtlCol="0" anchor="t" anchorCtr="0">
            <a:noAutofit/>
          </a:bodyPr>
          <a:lstStyle/>
          <a:p>
            <a:r>
              <a:rPr lang="en-US"/>
              <a:t>Bluetooth Low Energy Controller </a:t>
            </a:r>
          </a:p>
        </p:txBody>
      </p:sp>
      <p:pic>
        <p:nvPicPr>
          <p:cNvPr id="5" name="Picture 4" descr="A bluetooth symbol on a black background&#10;&#10;Description automatically generated">
            <a:extLst>
              <a:ext uri="{FF2B5EF4-FFF2-40B4-BE49-F238E27FC236}">
                <a16:creationId xmlns:a16="http://schemas.microsoft.com/office/drawing/2014/main" id="{82532C62-33F2-8225-C5F0-63536D4DC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24800" y="1943100"/>
            <a:ext cx="2971800" cy="29718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5" name="Google Shape;725;p100"/>
          <p:cNvSpPr txBox="1">
            <a:spLocks noGrp="1"/>
          </p:cNvSpPr>
          <p:nvPr>
            <p:ph sz="quarter" idx="13"/>
          </p:nvPr>
        </p:nvSpPr>
        <p:spPr>
          <a:xfrm>
            <a:off x="334963" y="1268413"/>
            <a:ext cx="7132637" cy="5113337"/>
          </a:xfrm>
          <a:noFill/>
          <a:ln>
            <a:noFill/>
          </a:ln>
        </p:spPr>
        <p:txBody>
          <a:bodyPr spcFirstLastPara="1" vert="horz" wrap="square" lIns="121900" tIns="121900" rIns="121900" bIns="121900" rtlCol="0" anchor="t" anchorCtr="0">
            <a:noAutofit/>
          </a:bodyPr>
          <a:lstStyle/>
          <a:p>
            <a:pPr>
              <a:spcAft>
                <a:spcPts val="1200"/>
              </a:spcAft>
            </a:pPr>
            <a:r>
              <a:rPr lang="en-US" sz="2000" b="1" dirty="0"/>
              <a:t>USB 2.0 </a:t>
            </a:r>
            <a:r>
              <a:rPr lang="en-US" sz="2000" dirty="0"/>
              <a:t>&amp; </a:t>
            </a:r>
            <a:r>
              <a:rPr lang="en-US" sz="2000" b="1" dirty="0"/>
              <a:t>USB-C</a:t>
            </a:r>
            <a:r>
              <a:rPr lang="en-US" sz="2000" dirty="0"/>
              <a:t> support</a:t>
            </a:r>
          </a:p>
          <a:p>
            <a:pPr>
              <a:spcAft>
                <a:spcPts val="1200"/>
              </a:spcAft>
            </a:pPr>
            <a:r>
              <a:rPr lang="en-US" sz="2000" dirty="0"/>
              <a:t>Supports multiple MCU families (PSOC Edge, STM32, Kinetis, nRF, SAM,…) </a:t>
            </a:r>
          </a:p>
          <a:p>
            <a:pPr>
              <a:spcAft>
                <a:spcPts val="1200"/>
              </a:spcAft>
            </a:pPr>
            <a:r>
              <a:rPr lang="en-US" sz="2000" dirty="0"/>
              <a:t>Supports most common devices classes: CDC, Mass Storage, HID, Bluetooth HCI over USB, DFU, USB Audio, etc.</a:t>
            </a:r>
          </a:p>
          <a:p>
            <a:pPr>
              <a:spcAft>
                <a:spcPts val="1200"/>
              </a:spcAft>
            </a:pPr>
            <a:r>
              <a:rPr lang="en-US" sz="2000" dirty="0"/>
              <a:t>Tight integration with the RTOS</a:t>
            </a:r>
          </a:p>
          <a:p>
            <a:pPr>
              <a:spcAft>
                <a:spcPts val="1200"/>
              </a:spcAft>
            </a:pPr>
            <a:r>
              <a:rPr lang="en-US" sz="2000" dirty="0"/>
              <a:t>Native execution support for emulated development on Linux</a:t>
            </a:r>
          </a:p>
          <a:p>
            <a:pPr>
              <a:spcAft>
                <a:spcPts val="1200"/>
              </a:spcAft>
            </a:pPr>
            <a:r>
              <a:rPr lang="en-US" sz="2000" dirty="0"/>
              <a:t>WebUSB support</a:t>
            </a:r>
          </a:p>
        </p:txBody>
      </p:sp>
      <p:sp>
        <p:nvSpPr>
          <p:cNvPr id="724" name="Google Shape;724;p100"/>
          <p:cNvSpPr txBox="1">
            <a:spLocks noGrp="1"/>
          </p:cNvSpPr>
          <p:nvPr>
            <p:ph type="title"/>
          </p:nvPr>
        </p:nvSpPr>
        <p:spPr>
          <a:xfrm>
            <a:off x="335360" y="188720"/>
            <a:ext cx="9613068" cy="720000"/>
          </a:xfrm>
          <a:noFill/>
          <a:ln>
            <a:noFill/>
          </a:ln>
        </p:spPr>
        <p:txBody>
          <a:bodyPr spcFirstLastPara="1" vert="horz" wrap="square" lIns="91433" tIns="91433" rIns="91433" bIns="91433" rtlCol="0" anchor="t" anchorCtr="0">
            <a:noAutofit/>
          </a:bodyPr>
          <a:lstStyle/>
          <a:p>
            <a:r>
              <a:rPr lang="en-US"/>
              <a:t>Zephyr USB Device Stack</a:t>
            </a:r>
          </a:p>
        </p:txBody>
      </p:sp>
      <p:pic>
        <p:nvPicPr>
          <p:cNvPr id="5" name="Picture 4" descr="A green and black line drawing of a flash drive&#10;&#10;Description automatically generated">
            <a:extLst>
              <a:ext uri="{FF2B5EF4-FFF2-40B4-BE49-F238E27FC236}">
                <a16:creationId xmlns:a16="http://schemas.microsoft.com/office/drawing/2014/main" id="{17AF5FEF-FC36-5F46-120B-C6DE33A5E5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0" y="2209800"/>
            <a:ext cx="2438400" cy="2438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7" name="Google Shape;737;p102"/>
          <p:cNvSpPr txBox="1">
            <a:spLocks noGrp="1"/>
          </p:cNvSpPr>
          <p:nvPr>
            <p:ph sz="quarter" idx="13"/>
          </p:nvPr>
        </p:nvSpPr>
        <p:spPr>
          <a:xfrm>
            <a:off x="334800" y="1268414"/>
            <a:ext cx="6523200" cy="5113337"/>
          </a:xfrm>
          <a:noFill/>
          <a:ln>
            <a:noFill/>
          </a:ln>
        </p:spPr>
        <p:txBody>
          <a:bodyPr spcFirstLastPara="1" vert="horz" wrap="square" lIns="121900" tIns="121900" rIns="121900" bIns="121900" rtlCol="0" anchor="t" anchorCtr="0">
            <a:noAutofit/>
          </a:bodyPr>
          <a:lstStyle/>
          <a:p>
            <a:r>
              <a:rPr lang="en-US" sz="2000" dirty="0"/>
              <a:t>Services aimed at reducing power consumption while preserving responsiveness</a:t>
            </a:r>
          </a:p>
          <a:p>
            <a:pPr>
              <a:spcBef>
                <a:spcPts val="1333"/>
              </a:spcBef>
            </a:pPr>
            <a:r>
              <a:rPr lang="en-US" sz="2000" b="1" dirty="0"/>
              <a:t>Key concepts</a:t>
            </a:r>
          </a:p>
          <a:p>
            <a:pPr lvl="1"/>
            <a:r>
              <a:rPr lang="en-US" sz="1800" dirty="0" err="1"/>
              <a:t>Tickless</a:t>
            </a:r>
            <a:r>
              <a:rPr lang="en-US" sz="1800" dirty="0"/>
              <a:t> kernel</a:t>
            </a:r>
          </a:p>
          <a:p>
            <a:pPr lvl="1"/>
            <a:r>
              <a:rPr lang="en-US" sz="1800" dirty="0"/>
              <a:t>System PM: idle thread, interruptions only for registered events</a:t>
            </a:r>
          </a:p>
          <a:p>
            <a:pPr lvl="1"/>
            <a:r>
              <a:rPr lang="en-US" sz="1800" dirty="0"/>
              <a:t>Device PM: device drivers can react to PM state changes</a:t>
            </a:r>
          </a:p>
          <a:p>
            <a:pPr>
              <a:spcBef>
                <a:spcPts val="1333"/>
              </a:spcBef>
            </a:pPr>
            <a:r>
              <a:rPr lang="en-US" sz="2000" dirty="0"/>
              <a:t>Handled by the kernel / Customizable by the user</a:t>
            </a:r>
          </a:p>
          <a:p>
            <a:pPr>
              <a:spcBef>
                <a:spcPts val="1333"/>
              </a:spcBef>
              <a:spcAft>
                <a:spcPts val="1333"/>
              </a:spcAft>
            </a:pPr>
            <a:r>
              <a:rPr lang="en-US" sz="2000" dirty="0"/>
              <a:t>Automated testing using Twister Power Harness</a:t>
            </a:r>
          </a:p>
        </p:txBody>
      </p:sp>
      <p:sp>
        <p:nvSpPr>
          <p:cNvPr id="736" name="Google Shape;736;p102"/>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 dirty="0"/>
              <a:t>Power Management</a:t>
            </a:r>
            <a:endParaRPr lang="en-US" dirty="0"/>
          </a:p>
        </p:txBody>
      </p:sp>
      <p:pic>
        <p:nvPicPr>
          <p:cNvPr id="3" name="Picture 2" descr="A green leaf and plug with black background&#10;&#10;AI-generated content may be incorrect.">
            <a:extLst>
              <a:ext uri="{FF2B5EF4-FFF2-40B4-BE49-F238E27FC236}">
                <a16:creationId xmlns:a16="http://schemas.microsoft.com/office/drawing/2014/main" id="{A66DA66D-CBB1-E599-38FB-24C0BFCE62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54780" y="2093976"/>
            <a:ext cx="2670048" cy="267004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5">
          <a:extLst>
            <a:ext uri="{FF2B5EF4-FFF2-40B4-BE49-F238E27FC236}">
              <a16:creationId xmlns:a16="http://schemas.microsoft.com/office/drawing/2014/main" id="{2B556B6F-DA0E-A42E-45BF-0057FFCC1C55}"/>
            </a:ext>
          </a:extLst>
        </p:cNvPr>
        <p:cNvGrpSpPr/>
        <p:nvPr/>
      </p:nvGrpSpPr>
      <p:grpSpPr>
        <a:xfrm>
          <a:off x="0" y="0"/>
          <a:ext cx="0" cy="0"/>
          <a:chOff x="0" y="0"/>
          <a:chExt cx="0" cy="0"/>
        </a:xfrm>
      </p:grpSpPr>
      <p:sp>
        <p:nvSpPr>
          <p:cNvPr id="737" name="Google Shape;737;p102">
            <a:extLst>
              <a:ext uri="{FF2B5EF4-FFF2-40B4-BE49-F238E27FC236}">
                <a16:creationId xmlns:a16="http://schemas.microsoft.com/office/drawing/2014/main" id="{329BB995-CA7E-914B-D359-585FDB927BDF}"/>
              </a:ext>
            </a:extLst>
          </p:cNvPr>
          <p:cNvSpPr txBox="1">
            <a:spLocks noGrp="1"/>
          </p:cNvSpPr>
          <p:nvPr>
            <p:ph sz="quarter" idx="13"/>
          </p:nvPr>
        </p:nvSpPr>
        <p:spPr>
          <a:xfrm>
            <a:off x="334800" y="1268414"/>
            <a:ext cx="11520000" cy="5113337"/>
          </a:xfrm>
          <a:noFill/>
          <a:ln>
            <a:noFill/>
          </a:ln>
        </p:spPr>
        <p:txBody>
          <a:bodyPr spcFirstLastPara="1" vert="horz" wrap="square" lIns="121900" tIns="121900" rIns="121900" bIns="121900" rtlCol="0" anchor="t" anchorCtr="0">
            <a:noAutofit/>
          </a:bodyPr>
          <a:lstStyle/>
          <a:p>
            <a:pPr>
              <a:spcAft>
                <a:spcPts val="600"/>
              </a:spcAft>
            </a:pPr>
            <a:r>
              <a:rPr lang="en-US" sz="2000" dirty="0"/>
              <a:t>Leverage </a:t>
            </a:r>
            <a:r>
              <a:rPr lang="en-US" sz="2000" b="1" dirty="0" err="1"/>
              <a:t>MCUboot</a:t>
            </a:r>
            <a:r>
              <a:rPr lang="en-US" sz="2000" dirty="0"/>
              <a:t> as secure bootloader</a:t>
            </a:r>
          </a:p>
          <a:p>
            <a:pPr>
              <a:spcAft>
                <a:spcPts val="600"/>
              </a:spcAft>
            </a:pPr>
            <a:r>
              <a:rPr lang="en-US" sz="2000" dirty="0"/>
              <a:t>Application binary can be signed/encrypted</a:t>
            </a:r>
          </a:p>
          <a:p>
            <a:pPr lvl="1">
              <a:spcAft>
                <a:spcPts val="600"/>
              </a:spcAft>
            </a:pPr>
            <a:r>
              <a:rPr lang="en-US" sz="2000" dirty="0"/>
              <a:t>Can use hardware keys</a:t>
            </a:r>
          </a:p>
          <a:p>
            <a:pPr>
              <a:spcAft>
                <a:spcPts val="600"/>
              </a:spcAft>
            </a:pPr>
            <a:r>
              <a:rPr lang="en-US" sz="2000" dirty="0"/>
              <a:t>But also:</a:t>
            </a:r>
          </a:p>
          <a:p>
            <a:pPr lvl="1">
              <a:spcAft>
                <a:spcPts val="600"/>
              </a:spcAft>
            </a:pPr>
            <a:r>
              <a:rPr lang="en-US" sz="2000" dirty="0"/>
              <a:t>Downgrade prevention</a:t>
            </a:r>
          </a:p>
          <a:p>
            <a:pPr lvl="1">
              <a:spcAft>
                <a:spcPts val="600"/>
              </a:spcAft>
            </a:pPr>
            <a:r>
              <a:rPr lang="en-US" sz="2000" dirty="0"/>
              <a:t>Dependency checks</a:t>
            </a:r>
          </a:p>
          <a:p>
            <a:pPr lvl="1">
              <a:spcAft>
                <a:spcPts val="600"/>
              </a:spcAft>
            </a:pPr>
            <a:r>
              <a:rPr lang="en-US" sz="2000" dirty="0"/>
              <a:t>Reset and failure recovery</a:t>
            </a:r>
          </a:p>
          <a:p>
            <a:pPr>
              <a:spcAft>
                <a:spcPts val="600"/>
              </a:spcAft>
            </a:pPr>
            <a:r>
              <a:rPr lang="en-US" sz="2000" dirty="0"/>
              <a:t>Over-the-air (OTA) upgrades</a:t>
            </a:r>
          </a:p>
          <a:p>
            <a:pPr lvl="1">
              <a:spcAft>
                <a:spcPts val="600"/>
              </a:spcAft>
            </a:pPr>
            <a:r>
              <a:rPr lang="en-US" sz="2000" dirty="0"/>
              <a:t>OMA LwM2M, Eclipse </a:t>
            </a:r>
            <a:r>
              <a:rPr lang="en-US" sz="2000" dirty="0" err="1"/>
              <a:t>hawkBit</a:t>
            </a:r>
            <a:endParaRPr lang="en-US" sz="2000" dirty="0"/>
          </a:p>
          <a:p>
            <a:pPr lvl="1">
              <a:spcAft>
                <a:spcPts val="600"/>
              </a:spcAft>
            </a:pPr>
            <a:r>
              <a:rPr lang="en-US" sz="2000" dirty="0"/>
              <a:t>Vendor offerings</a:t>
            </a:r>
          </a:p>
        </p:txBody>
      </p:sp>
      <p:sp>
        <p:nvSpPr>
          <p:cNvPr id="736" name="Google Shape;736;p102">
            <a:extLst>
              <a:ext uri="{FF2B5EF4-FFF2-40B4-BE49-F238E27FC236}">
                <a16:creationId xmlns:a16="http://schemas.microsoft.com/office/drawing/2014/main" id="{FE76E0E3-3B6D-4F7D-77BC-9ABDED3B6ECD}"/>
              </a:ext>
            </a:extLst>
          </p:cNvPr>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US"/>
              <a:t>Secure boot / Device Management</a:t>
            </a:r>
          </a:p>
        </p:txBody>
      </p:sp>
      <p:pic>
        <p:nvPicPr>
          <p:cNvPr id="6" name="Picture 5">
            <a:extLst>
              <a:ext uri="{FF2B5EF4-FFF2-40B4-BE49-F238E27FC236}">
                <a16:creationId xmlns:a16="http://schemas.microsoft.com/office/drawing/2014/main" id="{BDA18116-1235-6C9A-17FC-D81305F73F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8600" y="2209800"/>
            <a:ext cx="2667000" cy="2667000"/>
          </a:xfrm>
          <a:prstGeom prst="rect">
            <a:avLst/>
          </a:prstGeom>
        </p:spPr>
      </p:pic>
    </p:spTree>
    <p:extLst>
      <p:ext uri="{BB962C8B-B14F-4D97-AF65-F5344CB8AC3E}">
        <p14:creationId xmlns:p14="http://schemas.microsoft.com/office/powerpoint/2010/main" val="669246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3" name="Google Shape;743;p103"/>
          <p:cNvSpPr txBox="1">
            <a:spLocks noGrp="1"/>
          </p:cNvSpPr>
          <p:nvPr>
            <p:ph sz="quarter" idx="13"/>
          </p:nvPr>
        </p:nvSpPr>
        <p:spPr>
          <a:xfrm>
            <a:off x="334963" y="1268413"/>
            <a:ext cx="6294437" cy="5113337"/>
          </a:xfrm>
          <a:noFill/>
          <a:ln>
            <a:noFill/>
          </a:ln>
        </p:spPr>
        <p:txBody>
          <a:bodyPr spcFirstLastPara="1" vert="horz" wrap="square" lIns="121900" tIns="121900" rIns="121900" bIns="121900" rtlCol="0" anchor="t" anchorCtr="0">
            <a:noAutofit/>
          </a:bodyPr>
          <a:lstStyle/>
          <a:p>
            <a:pPr>
              <a:spcAft>
                <a:spcPts val="1200"/>
              </a:spcAft>
            </a:pPr>
            <a:r>
              <a:rPr lang="en-US" sz="2000" b="1" dirty="0"/>
              <a:t>Cryptography APIs</a:t>
            </a:r>
          </a:p>
          <a:p>
            <a:pPr lvl="1">
              <a:spcAft>
                <a:spcPts val="1200"/>
              </a:spcAft>
            </a:pPr>
            <a:r>
              <a:rPr lang="en-US" sz="2000" dirty="0"/>
              <a:t>Random Number Generation, ciphering, etc.</a:t>
            </a:r>
          </a:p>
          <a:p>
            <a:pPr lvl="1">
              <a:spcAft>
                <a:spcPts val="1200"/>
              </a:spcAft>
            </a:pPr>
            <a:r>
              <a:rPr lang="en-US" sz="2000" dirty="0"/>
              <a:t>Supported by crypto HW, or SW implementation (</a:t>
            </a:r>
            <a:r>
              <a:rPr lang="en-US" sz="2000" dirty="0" err="1"/>
              <a:t>TinyCrypt</a:t>
            </a:r>
            <a:r>
              <a:rPr lang="en-US" sz="2000" dirty="0"/>
              <a:t>)</a:t>
            </a:r>
            <a:br>
              <a:rPr lang="en-US" sz="2000" dirty="0"/>
            </a:br>
            <a:endParaRPr lang="en-US" sz="2000" dirty="0"/>
          </a:p>
          <a:p>
            <a:pPr>
              <a:spcAft>
                <a:spcPts val="1200"/>
              </a:spcAft>
            </a:pPr>
            <a:r>
              <a:rPr lang="en-US" sz="2000" b="1" dirty="0"/>
              <a:t>Trusted Firmware integration</a:t>
            </a:r>
          </a:p>
          <a:p>
            <a:pPr lvl="1">
              <a:spcAft>
                <a:spcPts val="1200"/>
              </a:spcAft>
            </a:pPr>
            <a:r>
              <a:rPr lang="en-US" sz="2000" dirty="0"/>
              <a:t>Firmware verification/encryption</a:t>
            </a:r>
          </a:p>
          <a:p>
            <a:pPr lvl="1">
              <a:spcAft>
                <a:spcPts val="1200"/>
              </a:spcAft>
            </a:pPr>
            <a:r>
              <a:rPr lang="en-US" sz="2000" dirty="0"/>
              <a:t>Device attestation</a:t>
            </a:r>
          </a:p>
          <a:p>
            <a:pPr lvl="1">
              <a:spcAft>
                <a:spcPts val="1200"/>
              </a:spcAft>
            </a:pPr>
            <a:r>
              <a:rPr lang="en-US" sz="2000" dirty="0"/>
              <a:t>Management of device secrets</a:t>
            </a:r>
          </a:p>
        </p:txBody>
      </p:sp>
      <p:sp>
        <p:nvSpPr>
          <p:cNvPr id="742" name="Google Shape;742;p103"/>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US"/>
              <a:t>Hardware security</a:t>
            </a:r>
          </a:p>
        </p:txBody>
      </p:sp>
      <p:grpSp>
        <p:nvGrpSpPr>
          <p:cNvPr id="14" name="Group 13">
            <a:extLst>
              <a:ext uri="{FF2B5EF4-FFF2-40B4-BE49-F238E27FC236}">
                <a16:creationId xmlns:a16="http://schemas.microsoft.com/office/drawing/2014/main" id="{4EA246C3-BD99-9B36-55F0-AD04670FED8B}"/>
              </a:ext>
            </a:extLst>
          </p:cNvPr>
          <p:cNvGrpSpPr/>
          <p:nvPr/>
        </p:nvGrpSpPr>
        <p:grpSpPr>
          <a:xfrm>
            <a:off x="7741170" y="1905000"/>
            <a:ext cx="3048000" cy="3048000"/>
            <a:chOff x="2667000" y="0"/>
            <a:chExt cx="6858000" cy="6858000"/>
          </a:xfrm>
        </p:grpSpPr>
        <p:pic>
          <p:nvPicPr>
            <p:cNvPr id="3" name="Picture 2" descr="A green square with white lines&#10;&#10;Description automatically generated">
              <a:extLst>
                <a:ext uri="{FF2B5EF4-FFF2-40B4-BE49-F238E27FC236}">
                  <a16:creationId xmlns:a16="http://schemas.microsoft.com/office/drawing/2014/main" id="{09C21BE6-162D-3A71-CB19-97028A7225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pic>
          <p:nvPicPr>
            <p:cNvPr id="13" name="Picture 12" descr="A green and black padlock&#10;&#10;Description automatically generated">
              <a:extLst>
                <a:ext uri="{FF2B5EF4-FFF2-40B4-BE49-F238E27FC236}">
                  <a16:creationId xmlns:a16="http://schemas.microsoft.com/office/drawing/2014/main" id="{7A94E998-AD50-BE56-1035-9EDB7A6361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3941" y="2186941"/>
              <a:ext cx="2484119" cy="2484119"/>
            </a:xfrm>
            <a:prstGeom prst="rect">
              <a:avLst/>
            </a:prstGeom>
          </p:spPr>
        </p:pic>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EA14906-4212-AE00-689C-833808372F9D}"/>
              </a:ext>
            </a:extLst>
          </p:cNvPr>
          <p:cNvSpPr>
            <a:spLocks noGrp="1"/>
          </p:cNvSpPr>
          <p:nvPr>
            <p:ph type="title"/>
          </p:nvPr>
        </p:nvSpPr>
        <p:spPr/>
        <p:txBody>
          <a:bodyPr/>
          <a:lstStyle/>
          <a:p>
            <a:r>
              <a:rPr lang="en-US" dirty="0"/>
              <a:t>Zephyr Dev Community</a:t>
            </a:r>
          </a:p>
        </p:txBody>
      </p:sp>
      <p:sp>
        <p:nvSpPr>
          <p:cNvPr id="6" name="Title 4">
            <a:extLst>
              <a:ext uri="{FF2B5EF4-FFF2-40B4-BE49-F238E27FC236}">
                <a16:creationId xmlns:a16="http://schemas.microsoft.com/office/drawing/2014/main" id="{4D4E4CD8-4EFA-0CEB-DE4E-DB73E9354C10}"/>
              </a:ext>
            </a:extLst>
          </p:cNvPr>
          <p:cNvSpPr txBox="1">
            <a:spLocks/>
          </p:cNvSpPr>
          <p:nvPr/>
        </p:nvSpPr>
        <p:spPr>
          <a:xfrm>
            <a:off x="324727" y="5943600"/>
            <a:ext cx="7589440" cy="683369"/>
          </a:xfrm>
          <a:prstGeom prst="rect">
            <a:avLst/>
          </a:prstGeom>
        </p:spPr>
        <p:txBody>
          <a:bodyPr vert="horz" lIns="0" tIns="0" rIns="0" bIns="0" rtlCol="0" anchor="b" anchorCtr="0">
            <a:noAutofit/>
          </a:bodyPr>
          <a:lstStyle>
            <a:lvl1pPr algn="l" defTabSz="576000" rtl="0" eaLnBrk="1" fontAlgn="base" hangingPunct="1">
              <a:spcBef>
                <a:spcPct val="0"/>
              </a:spcBef>
              <a:spcAft>
                <a:spcPct val="0"/>
              </a:spcAft>
              <a:buClr>
                <a:schemeClr val="tx1"/>
              </a:buClr>
              <a:buFontTx/>
              <a:buNone/>
              <a:defRPr sz="3600" b="1" baseline="0">
                <a:solidFill>
                  <a:schemeClr val="bg1"/>
                </a:solidFill>
                <a:latin typeface="+mj-lt"/>
                <a:ea typeface="+mj-ea"/>
                <a:cs typeface="+mj-cs"/>
              </a:defRPr>
            </a:lvl1pPr>
            <a:lvl2pPr algn="l" rtl="0" eaLnBrk="1" fontAlgn="base" hangingPunct="1">
              <a:spcBef>
                <a:spcPct val="0"/>
              </a:spcBef>
              <a:spcAft>
                <a:spcPct val="0"/>
              </a:spcAft>
              <a:defRPr sz="3467" b="1">
                <a:solidFill>
                  <a:schemeClr val="tx2"/>
                </a:solidFill>
                <a:latin typeface="Arial" charset="0"/>
              </a:defRPr>
            </a:lvl2pPr>
            <a:lvl3pPr algn="l" rtl="0" eaLnBrk="1" fontAlgn="base" hangingPunct="1">
              <a:spcBef>
                <a:spcPct val="0"/>
              </a:spcBef>
              <a:spcAft>
                <a:spcPct val="0"/>
              </a:spcAft>
              <a:defRPr sz="3467" b="1">
                <a:solidFill>
                  <a:schemeClr val="tx2"/>
                </a:solidFill>
                <a:latin typeface="Arial" charset="0"/>
              </a:defRPr>
            </a:lvl3pPr>
            <a:lvl4pPr algn="l" rtl="0" eaLnBrk="1" fontAlgn="base" hangingPunct="1">
              <a:spcBef>
                <a:spcPct val="0"/>
              </a:spcBef>
              <a:spcAft>
                <a:spcPct val="0"/>
              </a:spcAft>
              <a:defRPr sz="3467" b="1">
                <a:solidFill>
                  <a:schemeClr val="tx2"/>
                </a:solidFill>
                <a:latin typeface="Arial" charset="0"/>
              </a:defRPr>
            </a:lvl4pPr>
            <a:lvl5pPr algn="l" rtl="0" eaLnBrk="1" fontAlgn="base" hangingPunct="1">
              <a:spcBef>
                <a:spcPct val="0"/>
              </a:spcBef>
              <a:spcAft>
                <a:spcPct val="0"/>
              </a:spcAft>
              <a:defRPr sz="3467" b="1">
                <a:solidFill>
                  <a:schemeClr val="tx2"/>
                </a:solidFill>
                <a:latin typeface="Arial" charset="0"/>
              </a:defRPr>
            </a:lvl5pPr>
            <a:lvl6pPr marL="609585" algn="l" rtl="0" eaLnBrk="1" fontAlgn="base" hangingPunct="1">
              <a:spcBef>
                <a:spcPct val="0"/>
              </a:spcBef>
              <a:spcAft>
                <a:spcPct val="0"/>
              </a:spcAft>
              <a:defRPr sz="3467" b="1">
                <a:solidFill>
                  <a:schemeClr val="tx2"/>
                </a:solidFill>
                <a:latin typeface="Arial" charset="0"/>
              </a:defRPr>
            </a:lvl6pPr>
            <a:lvl7pPr marL="1219170" algn="l" rtl="0" eaLnBrk="1" fontAlgn="base" hangingPunct="1">
              <a:spcBef>
                <a:spcPct val="0"/>
              </a:spcBef>
              <a:spcAft>
                <a:spcPct val="0"/>
              </a:spcAft>
              <a:defRPr sz="3467" b="1">
                <a:solidFill>
                  <a:schemeClr val="tx2"/>
                </a:solidFill>
                <a:latin typeface="Arial" charset="0"/>
              </a:defRPr>
            </a:lvl7pPr>
            <a:lvl8pPr marL="1828754" algn="l" rtl="0" eaLnBrk="1" fontAlgn="base" hangingPunct="1">
              <a:spcBef>
                <a:spcPct val="0"/>
              </a:spcBef>
              <a:spcAft>
                <a:spcPct val="0"/>
              </a:spcAft>
              <a:defRPr sz="3467" b="1">
                <a:solidFill>
                  <a:schemeClr val="tx2"/>
                </a:solidFill>
                <a:latin typeface="Arial" charset="0"/>
              </a:defRPr>
            </a:lvl8pPr>
            <a:lvl9pPr marL="2438339" algn="l" rtl="0" eaLnBrk="1" fontAlgn="base" hangingPunct="1">
              <a:spcBef>
                <a:spcPct val="0"/>
              </a:spcBef>
              <a:spcAft>
                <a:spcPct val="0"/>
              </a:spcAft>
              <a:defRPr sz="3467" b="1">
                <a:solidFill>
                  <a:schemeClr val="tx2"/>
                </a:solidFill>
                <a:latin typeface="Arial" charset="0"/>
              </a:defRPr>
            </a:lvl9pPr>
          </a:lstStyle>
          <a:p>
            <a:r>
              <a:rPr lang="en-US" sz="2000" b="0" i="1" kern="0" dirty="0"/>
              <a:t>Content in this section is taken from Zephyr marketing collateral</a:t>
            </a:r>
          </a:p>
        </p:txBody>
      </p:sp>
    </p:spTree>
    <p:extLst>
      <p:ext uri="{BB962C8B-B14F-4D97-AF65-F5344CB8AC3E}">
        <p14:creationId xmlns:p14="http://schemas.microsoft.com/office/powerpoint/2010/main" val="536925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10" name="Picture 9">
            <a:extLst>
              <a:ext uri="{FF2B5EF4-FFF2-40B4-BE49-F238E27FC236}">
                <a16:creationId xmlns:a16="http://schemas.microsoft.com/office/drawing/2014/main" id="{CA414784-A129-6E76-1975-E03BAFEB7BDA}"/>
              </a:ext>
            </a:extLst>
          </p:cNvPr>
          <p:cNvPicPr>
            <a:picLocks noChangeAspect="1"/>
          </p:cNvPicPr>
          <p:nvPr/>
        </p:nvPicPr>
        <p:blipFill>
          <a:blip r:embed="rId3"/>
          <a:stretch>
            <a:fillRect/>
          </a:stretch>
        </p:blipFill>
        <p:spPr>
          <a:xfrm>
            <a:off x="335360" y="3374622"/>
            <a:ext cx="4437826" cy="2516017"/>
          </a:xfrm>
          <a:prstGeom prst="rect">
            <a:avLst/>
          </a:prstGeom>
        </p:spPr>
      </p:pic>
      <p:pic>
        <p:nvPicPr>
          <p:cNvPr id="3" name="Picture 2">
            <a:extLst>
              <a:ext uri="{FF2B5EF4-FFF2-40B4-BE49-F238E27FC236}">
                <a16:creationId xmlns:a16="http://schemas.microsoft.com/office/drawing/2014/main" id="{9E4377F1-0800-1D22-D382-75EDA31A2586}"/>
              </a:ext>
            </a:extLst>
          </p:cNvPr>
          <p:cNvPicPr>
            <a:picLocks noChangeAspect="1"/>
          </p:cNvPicPr>
          <p:nvPr/>
        </p:nvPicPr>
        <p:blipFill>
          <a:blip r:embed="rId4"/>
          <a:stretch>
            <a:fillRect/>
          </a:stretch>
        </p:blipFill>
        <p:spPr>
          <a:xfrm>
            <a:off x="5994407" y="1290151"/>
            <a:ext cx="5412637" cy="4728783"/>
          </a:xfrm>
          <a:prstGeom prst="rect">
            <a:avLst/>
          </a:prstGeom>
          <a:ln>
            <a:solidFill>
              <a:schemeClr val="accent1"/>
            </a:solidFill>
          </a:ln>
        </p:spPr>
      </p:pic>
      <p:sp>
        <p:nvSpPr>
          <p:cNvPr id="606" name="Google Shape;606;p84"/>
          <p:cNvSpPr txBox="1">
            <a:spLocks noGrp="1"/>
          </p:cNvSpPr>
          <p:nvPr>
            <p:ph type="title"/>
          </p:nvPr>
        </p:nvSpPr>
        <p:spPr>
          <a:xfrm>
            <a:off x="335360" y="188720"/>
            <a:ext cx="9613068" cy="720000"/>
          </a:xfrm>
          <a:noFill/>
          <a:ln>
            <a:noFill/>
          </a:ln>
        </p:spPr>
        <p:txBody>
          <a:bodyPr spcFirstLastPara="1" vert="horz" wrap="square" lIns="121900" tIns="60933" rIns="121900" bIns="60933" rtlCol="0" anchor="t" anchorCtr="0">
            <a:noAutofit/>
          </a:bodyPr>
          <a:lstStyle/>
          <a:p>
            <a:r>
              <a:rPr lang="en-US" dirty="0">
                <a:sym typeface="Open Sans Light"/>
              </a:rPr>
              <a:t>Vibrant and active community of contributors</a:t>
            </a:r>
          </a:p>
        </p:txBody>
      </p:sp>
      <p:sp>
        <p:nvSpPr>
          <p:cNvPr id="607" name="Google Shape;607;p84"/>
          <p:cNvSpPr txBox="1"/>
          <p:nvPr/>
        </p:nvSpPr>
        <p:spPr>
          <a:xfrm>
            <a:off x="196099" y="938176"/>
            <a:ext cx="6667600" cy="1754286"/>
          </a:xfrm>
          <a:prstGeom prst="rect">
            <a:avLst/>
          </a:prstGeom>
          <a:noFill/>
          <a:ln>
            <a:noFill/>
          </a:ln>
        </p:spPr>
        <p:txBody>
          <a:bodyPr spcFirstLastPara="1" wrap="square" lIns="121900" tIns="121900" rIns="121900" bIns="121900" anchor="t" anchorCtr="0">
            <a:spAutoFit/>
          </a:bodyPr>
          <a:lstStyle/>
          <a:p>
            <a:pPr>
              <a:spcBef>
                <a:spcPts val="0"/>
              </a:spcBef>
              <a:spcAft>
                <a:spcPts val="0"/>
              </a:spcAft>
              <a:buClr>
                <a:srgbClr val="000000"/>
              </a:buClr>
              <a:buSzPts val="1100"/>
            </a:pPr>
            <a:r>
              <a:rPr dirty="0"/>
              <a:t>https://github.com/zephyrproject-rtos/zephyr</a:t>
            </a:r>
            <a:endParaRPr sz="1467" dirty="0">
              <a:solidFill>
                <a:srgbClr val="000000"/>
              </a:solidFill>
              <a:latin typeface="Open Sans"/>
              <a:ea typeface="Open Sans"/>
              <a:cs typeface="Open Sans"/>
              <a:sym typeface="Open Sans"/>
            </a:endParaRPr>
          </a:p>
          <a:p>
            <a:r>
              <a:rPr dirty="0"/>
              <a:t>Total commits: </a:t>
            </a:r>
            <a:r>
              <a:rPr lang="en-US" dirty="0"/>
              <a:t>155,000+</a:t>
            </a:r>
            <a:endParaRPr dirty="0"/>
          </a:p>
          <a:p>
            <a:r>
              <a:rPr dirty="0"/>
              <a:t>Total contributors: </a:t>
            </a:r>
            <a:r>
              <a:rPr lang="en-US" dirty="0"/>
              <a:t> 3,600+</a:t>
            </a:r>
            <a:endParaRPr dirty="0"/>
          </a:p>
          <a:p>
            <a:endParaRPr dirty="0"/>
          </a:p>
          <a:p>
            <a:r>
              <a:rPr dirty="0"/>
              <a:t>GitHub stars: 16,754  |  Forks: 10,157</a:t>
            </a:r>
          </a:p>
          <a:p>
            <a:r>
              <a:rPr dirty="0"/>
              <a:t>Commits in the last 30 days: </a:t>
            </a:r>
            <a:r>
              <a:rPr lang="en-US" dirty="0"/>
              <a:t>3,874</a:t>
            </a:r>
            <a:endParaRPr dirty="0"/>
          </a:p>
          <a:p>
            <a:r>
              <a:rPr dirty="0"/>
              <a:t>Latest tagged release: v4.4.2 (Aug 2026)</a:t>
            </a:r>
          </a:p>
        </p:txBody>
      </p:sp>
      <p:cxnSp>
        <p:nvCxnSpPr>
          <p:cNvPr id="608" name="Google Shape;608;p84"/>
          <p:cNvCxnSpPr>
            <a:cxnSpLocks/>
          </p:cNvCxnSpPr>
          <p:nvPr/>
        </p:nvCxnSpPr>
        <p:spPr>
          <a:xfrm flipH="1" flipV="1">
            <a:off x="2514600" y="1608992"/>
            <a:ext cx="8056894" cy="3496408"/>
          </a:xfrm>
          <a:prstGeom prst="straightConnector1">
            <a:avLst/>
          </a:prstGeom>
          <a:noFill/>
          <a:ln w="19050" cap="flat" cmpd="sng">
            <a:solidFill>
              <a:srgbClr val="B8DEDA"/>
            </a:solidFill>
            <a:prstDash val="solid"/>
            <a:round/>
            <a:headEnd type="none" w="sm" len="sm"/>
            <a:tailEnd type="triangle" w="med" len="med"/>
          </a:ln>
        </p:spPr>
      </p:cxnSp>
      <p:cxnSp>
        <p:nvCxnSpPr>
          <p:cNvPr id="609" name="Google Shape;609;p84"/>
          <p:cNvCxnSpPr>
            <a:cxnSpLocks/>
          </p:cNvCxnSpPr>
          <p:nvPr/>
        </p:nvCxnSpPr>
        <p:spPr>
          <a:xfrm flipH="1" flipV="1">
            <a:off x="2438400" y="1397702"/>
            <a:ext cx="6934200" cy="569026"/>
          </a:xfrm>
          <a:prstGeom prst="straightConnector1">
            <a:avLst/>
          </a:prstGeom>
          <a:noFill/>
          <a:ln w="19050" cap="flat" cmpd="sng">
            <a:solidFill>
              <a:srgbClr val="B8DEDA"/>
            </a:solidFill>
            <a:prstDash val="solid"/>
            <a:round/>
            <a:headEnd type="none" w="sm" len="sm"/>
            <a:tailEnd type="triangle" w="med" len="med"/>
          </a:ln>
        </p:spPr>
      </p:cxnSp>
      <p:cxnSp>
        <p:nvCxnSpPr>
          <p:cNvPr id="611" name="Google Shape;611;p84"/>
          <p:cNvCxnSpPr>
            <a:cxnSpLocks/>
          </p:cNvCxnSpPr>
          <p:nvPr/>
        </p:nvCxnSpPr>
        <p:spPr>
          <a:xfrm flipV="1">
            <a:off x="1417320" y="2667000"/>
            <a:ext cx="1253286" cy="2560320"/>
          </a:xfrm>
          <a:prstGeom prst="straightConnector1">
            <a:avLst/>
          </a:prstGeom>
          <a:noFill/>
          <a:ln w="19050" cap="flat" cmpd="sng">
            <a:solidFill>
              <a:srgbClr val="B8DEDA"/>
            </a:solidFill>
            <a:prstDash val="solid"/>
            <a:round/>
            <a:headEnd type="none" w="sm" len="sm"/>
            <a:tailEnd type="triangle" w="med" len="med"/>
          </a:ln>
        </p:spPr>
      </p:cxnSp>
      <p:grpSp>
        <p:nvGrpSpPr>
          <p:cNvPr id="5" name="Group 4">
            <a:extLst>
              <a:ext uri="{FF2B5EF4-FFF2-40B4-BE49-F238E27FC236}">
                <a16:creationId xmlns:a16="http://schemas.microsoft.com/office/drawing/2014/main" id="{5696D2EA-2C4B-6212-F2B9-9EBB0D0BD180}"/>
              </a:ext>
            </a:extLst>
          </p:cNvPr>
          <p:cNvGrpSpPr/>
          <p:nvPr/>
        </p:nvGrpSpPr>
        <p:grpSpPr>
          <a:xfrm>
            <a:off x="3121269" y="3118665"/>
            <a:ext cx="3036896" cy="691335"/>
            <a:chOff x="8860518" y="-845721"/>
            <a:chExt cx="3036896" cy="928400"/>
          </a:xfrm>
        </p:grpSpPr>
        <p:sp>
          <p:nvSpPr>
            <p:cNvPr id="612" name="Google Shape;612;p84"/>
            <p:cNvSpPr/>
            <p:nvPr/>
          </p:nvSpPr>
          <p:spPr>
            <a:xfrm>
              <a:off x="8860518" y="-845721"/>
              <a:ext cx="3036896" cy="928400"/>
            </a:xfrm>
            <a:prstGeom prst="wedgeRectCallout">
              <a:avLst>
                <a:gd name="adj1" fmla="val -49553"/>
                <a:gd name="adj2" fmla="val -124694"/>
              </a:avLst>
            </a:prstGeom>
            <a:solidFill>
              <a:srgbClr val="0A8276"/>
            </a:solidFill>
            <a:ln w="9525" cap="flat" cmpd="sng">
              <a:solidFill>
                <a:srgbClr val="9454DB"/>
              </a:solidFill>
              <a:prstDash val="solid"/>
              <a:round/>
              <a:headEnd type="none" w="sm" len="sm"/>
              <a:tailEnd type="none" w="sm" len="sm"/>
            </a:ln>
          </p:spPr>
          <p:txBody>
            <a:bodyPr spcFirstLastPara="1" wrap="square" lIns="121900" tIns="121900" rIns="121900" bIns="121900" anchor="ctr" anchorCtr="0">
              <a:noAutofit/>
            </a:bodyPr>
            <a:lstStyle/>
            <a:p>
              <a:pPr algn="ctr">
                <a:spcBef>
                  <a:spcPts val="0"/>
                </a:spcBef>
                <a:spcAft>
                  <a:spcPts val="0"/>
                </a:spcAft>
                <a:buClr>
                  <a:srgbClr val="000000"/>
                </a:buClr>
                <a:buSzPts val="1400"/>
              </a:pPr>
              <a:endParaRPr sz="1867" dirty="0">
                <a:solidFill>
                  <a:srgbClr val="000000"/>
                </a:solidFill>
                <a:latin typeface="Open Sans"/>
                <a:ea typeface="Open Sans"/>
                <a:cs typeface="Open Sans"/>
                <a:sym typeface="Open Sans"/>
              </a:endParaRPr>
            </a:p>
          </p:txBody>
        </p:sp>
        <p:sp>
          <p:nvSpPr>
            <p:cNvPr id="613" name="Google Shape;613;p84"/>
            <p:cNvSpPr txBox="1"/>
            <p:nvPr/>
          </p:nvSpPr>
          <p:spPr>
            <a:xfrm>
              <a:off x="9003722" y="-710957"/>
              <a:ext cx="2831527" cy="606800"/>
            </a:xfrm>
            <a:prstGeom prst="rect">
              <a:avLst/>
            </a:prstGeom>
            <a:noFill/>
            <a:ln>
              <a:noFill/>
            </a:ln>
          </p:spPr>
          <p:txBody>
            <a:bodyPr spcFirstLastPara="1" wrap="square" lIns="121900" tIns="121900" rIns="121900" bIns="121900" anchor="t" anchorCtr="0">
              <a:noAutofit/>
            </a:bodyPr>
            <a:lstStyle/>
            <a:p>
              <a:pPr>
                <a:spcBef>
                  <a:spcPts val="0"/>
                </a:spcBef>
                <a:spcAft>
                  <a:spcPts val="0"/>
                </a:spcAft>
                <a:buClr>
                  <a:srgbClr val="000000"/>
                </a:buClr>
                <a:buSzPts val="2200"/>
              </a:pPr>
              <a:r>
                <a:rPr sz="2400" dirty="0">
                  <a:solidFill>
                    <a:schemeClr val="bg1"/>
                  </a:solidFill>
                </a:rPr>
                <a:t>~</a:t>
              </a:r>
              <a:r>
                <a:rPr lang="en-US" sz="2400" b="1" dirty="0">
                  <a:solidFill>
                    <a:schemeClr val="bg1"/>
                  </a:solidFill>
                </a:rPr>
                <a:t>5.2</a:t>
              </a:r>
              <a:r>
                <a:rPr sz="2400" dirty="0">
                  <a:solidFill>
                    <a:schemeClr val="bg1"/>
                  </a:solidFill>
                </a:rPr>
                <a:t> commits/hour</a:t>
              </a:r>
              <a:endParaRPr sz="4000" dirty="0">
                <a:solidFill>
                  <a:schemeClr val="bg1"/>
                </a:solidFill>
                <a:latin typeface="Open Sans"/>
                <a:ea typeface="Open Sans"/>
                <a:cs typeface="Open Sans"/>
                <a:sym typeface="Open Sans"/>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90"/>
          <p:cNvSpPr txBox="1">
            <a:spLocks noGrp="1"/>
          </p:cNvSpPr>
          <p:nvPr>
            <p:ph type="title"/>
          </p:nvPr>
        </p:nvSpPr>
        <p:spPr>
          <a:prstGeom prst="rect">
            <a:avLst/>
          </a:prstGeom>
          <a:noFill/>
          <a:ln>
            <a:noFill/>
          </a:ln>
        </p:spPr>
        <p:txBody>
          <a:bodyPr spcFirstLastPara="1" vert="horz" wrap="square" lIns="121900" tIns="60933" rIns="121900" bIns="60933" rtlCol="0" anchor="t" anchorCtr="0">
            <a:noAutofit/>
          </a:bodyPr>
          <a:lstStyle/>
          <a:p>
            <a:r>
              <a:rPr lang="en" dirty="0"/>
              <a:t>GitHub Community Growth</a:t>
            </a:r>
            <a:endParaRPr dirty="0"/>
          </a:p>
        </p:txBody>
      </p:sp>
      <p:sp>
        <p:nvSpPr>
          <p:cNvPr id="647" name="Google Shape;647;p90"/>
          <p:cNvSpPr txBox="1"/>
          <p:nvPr/>
        </p:nvSpPr>
        <p:spPr>
          <a:xfrm>
            <a:off x="457200" y="3953739"/>
            <a:ext cx="5943600" cy="2048239"/>
          </a:xfrm>
          <a:prstGeom prst="rect">
            <a:avLst/>
          </a:prstGeom>
          <a:solidFill>
            <a:schemeClr val="dk2"/>
          </a:solidFill>
          <a:ln w="9525" cap="flat" cmpd="sng">
            <a:solidFill>
              <a:schemeClr val="lt1"/>
            </a:solidFill>
            <a:prstDash val="solid"/>
            <a:round/>
            <a:headEnd type="none" w="sm" len="sm"/>
            <a:tailEnd type="none" w="sm" len="sm"/>
          </a:ln>
        </p:spPr>
        <p:txBody>
          <a:bodyPr spcFirstLastPara="1" wrap="square" lIns="243833" tIns="243833" rIns="243833" bIns="243833" anchor="t" anchorCtr="0">
            <a:spAutoFit/>
          </a:bodyPr>
          <a:lstStyle/>
          <a:p>
            <a:pPr marL="0" indent="0" algn="l" rtl="0">
              <a:lnSpc>
                <a:spcPct val="115000"/>
              </a:lnSpc>
              <a:spcBef>
                <a:spcPts val="0"/>
              </a:spcBef>
              <a:spcAft>
                <a:spcPts val="0"/>
              </a:spcAft>
              <a:buNone/>
            </a:pPr>
            <a:r>
              <a:rPr b="1" dirty="0">
                <a:solidFill>
                  <a:schemeClr val="bg1"/>
                </a:solidFill>
              </a:rPr>
              <a:t>What this data shows:</a:t>
            </a:r>
          </a:p>
          <a:p>
            <a:pPr marL="285750" indent="-285750">
              <a:spcAft>
                <a:spcPts val="600"/>
              </a:spcAft>
              <a:buFont typeface="Arial" panose="020B0604020202020204" pitchFamily="34" charset="0"/>
              <a:buChar char="•"/>
            </a:pPr>
            <a:r>
              <a:rPr b="0" dirty="0">
                <a:solidFill>
                  <a:schemeClr val="bg1"/>
                </a:solidFill>
              </a:rPr>
              <a:t>Commit activity nearly doubled over the past year </a:t>
            </a:r>
            <a:endParaRPr lang="en-US" b="0" dirty="0">
              <a:solidFill>
                <a:schemeClr val="bg1"/>
              </a:solidFill>
            </a:endParaRPr>
          </a:p>
          <a:p>
            <a:pPr marL="285750" indent="-285750">
              <a:spcAft>
                <a:spcPts val="600"/>
              </a:spcAft>
              <a:buFont typeface="Arial" panose="020B0604020202020204" pitchFamily="34" charset="0"/>
              <a:buChar char="•"/>
            </a:pPr>
            <a:r>
              <a:rPr b="0" dirty="0">
                <a:solidFill>
                  <a:schemeClr val="bg1"/>
                </a:solidFill>
              </a:rPr>
              <a:t>16,756 stars and 10,158 forks - a large, broad-reach open-source community.</a:t>
            </a:r>
          </a:p>
          <a:p>
            <a:pPr marL="285750" indent="-285750">
              <a:spcAft>
                <a:spcPts val="600"/>
              </a:spcAft>
              <a:buFont typeface="Arial" panose="020B0604020202020204" pitchFamily="34" charset="0"/>
              <a:buChar char="•"/>
            </a:pPr>
            <a:r>
              <a:rPr b="0" dirty="0">
                <a:solidFill>
                  <a:schemeClr val="bg1"/>
                </a:solidFill>
              </a:rPr>
              <a:t>Fork-to-star ratio (~61%) is high - many developers are actively building on Zephyr, not just bookmarking it.</a:t>
            </a:r>
          </a:p>
        </p:txBody>
      </p:sp>
      <p:grpSp>
        <p:nvGrpSpPr>
          <p:cNvPr id="10" name="Group 9">
            <a:extLst>
              <a:ext uri="{FF2B5EF4-FFF2-40B4-BE49-F238E27FC236}">
                <a16:creationId xmlns:a16="http://schemas.microsoft.com/office/drawing/2014/main" id="{E59419D7-8294-7C51-CBEB-A5589D10568B}"/>
              </a:ext>
            </a:extLst>
          </p:cNvPr>
          <p:cNvGrpSpPr/>
          <p:nvPr/>
        </p:nvGrpSpPr>
        <p:grpSpPr>
          <a:xfrm>
            <a:off x="6998514" y="1839651"/>
            <a:ext cx="4555529" cy="902981"/>
            <a:chOff x="7066519" y="1396980"/>
            <a:chExt cx="4555529" cy="902981"/>
          </a:xfrm>
        </p:grpSpPr>
        <p:sp>
          <p:nvSpPr>
            <p:cNvPr id="2" name="Google Shape;967;p84">
              <a:extLst>
                <a:ext uri="{FF2B5EF4-FFF2-40B4-BE49-F238E27FC236}">
                  <a16:creationId xmlns:a16="http://schemas.microsoft.com/office/drawing/2014/main" id="{4C98ADE1-2A57-3CFD-B390-7919948C9CBF}"/>
                </a:ext>
              </a:extLst>
            </p:cNvPr>
            <p:cNvSpPr txBox="1">
              <a:spLocks/>
            </p:cNvSpPr>
            <p:nvPr/>
          </p:nvSpPr>
          <p:spPr>
            <a:xfrm>
              <a:off x="7838398" y="1579961"/>
              <a:ext cx="3783650" cy="720000"/>
            </a:xfrm>
            <a:prstGeom prst="rect">
              <a:avLst/>
            </a:prstGeom>
          </p:spPr>
          <p:txBody>
            <a:bodyPr spcFirstLastPara="1" vert="horz" wrap="square" lIns="91425" tIns="91425" rIns="91425" bIns="91425" rtlCol="0" anchor="t" anchorCtr="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marL="0" indent="0">
                <a:lnSpc>
                  <a:spcPct val="140000"/>
                </a:lnSpc>
                <a:buFont typeface="Arial" panose="020B0604020202020204" pitchFamily="34" charset="0"/>
                <a:buNone/>
              </a:pPr>
              <a:r>
                <a:rPr lang="en-US" u="sng" kern="0" dirty="0">
                  <a:solidFill>
                    <a:schemeClr val="hlink"/>
                  </a:solidFill>
                  <a:latin typeface="Open Sans SemiBold"/>
                  <a:ea typeface="Open Sans SemiBold"/>
                  <a:cs typeface="Open Sans SemiBold"/>
                  <a:sym typeface="Open Sans SemiBold"/>
                  <a:hlinkClick r:id="rId3"/>
                </a:rPr>
                <a:t>github.com/</a:t>
              </a:r>
              <a:r>
                <a:rPr lang="en-US" u="sng" kern="0" dirty="0" err="1">
                  <a:solidFill>
                    <a:schemeClr val="hlink"/>
                  </a:solidFill>
                  <a:latin typeface="Open Sans SemiBold"/>
                  <a:ea typeface="Open Sans SemiBold"/>
                  <a:cs typeface="Open Sans SemiBold"/>
                  <a:sym typeface="Open Sans SemiBold"/>
                  <a:hlinkClick r:id="rId3"/>
                </a:rPr>
                <a:t>zephyrproject-rtos</a:t>
              </a:r>
              <a:r>
                <a:rPr lang="en-US" kern="0" dirty="0">
                  <a:latin typeface="Open Sans SemiBold"/>
                  <a:ea typeface="Open Sans SemiBold"/>
                  <a:cs typeface="Open Sans SemiBold"/>
                  <a:sym typeface="Open Sans SemiBold"/>
                </a:rPr>
                <a:t> </a:t>
              </a:r>
            </a:p>
            <a:p>
              <a:pPr marL="0" indent="0">
                <a:lnSpc>
                  <a:spcPct val="140000"/>
                </a:lnSpc>
                <a:buFont typeface="Arial" panose="020B0604020202020204" pitchFamily="34" charset="0"/>
                <a:buNone/>
              </a:pPr>
              <a:endParaRPr lang="en-US" kern="0" dirty="0">
                <a:latin typeface="Open Sans SemiBold"/>
                <a:ea typeface="Open Sans SemiBold"/>
                <a:cs typeface="Open Sans SemiBold"/>
                <a:sym typeface="Open Sans SemiBold"/>
              </a:endParaRPr>
            </a:p>
          </p:txBody>
        </p:sp>
        <p:pic>
          <p:nvPicPr>
            <p:cNvPr id="9" name="Picture 8" descr="A black cat with a blue circle&#10;&#10;AI-generated content may be incorrect.">
              <a:extLst>
                <a:ext uri="{FF2B5EF4-FFF2-40B4-BE49-F238E27FC236}">
                  <a16:creationId xmlns:a16="http://schemas.microsoft.com/office/drawing/2014/main" id="{5E220150-0AC1-C0A3-407D-3BE2A7D67C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66519" y="1396980"/>
              <a:ext cx="771879" cy="771879"/>
            </a:xfrm>
            <a:prstGeom prst="rect">
              <a:avLst/>
            </a:prstGeom>
          </p:spPr>
        </p:pic>
      </p:grpSp>
      <p:graphicFrame>
        <p:nvGraphicFramePr>
          <p:cNvPr id="648" name="Chart 647"/>
          <p:cNvGraphicFramePr>
            <a:graphicFrameLocks noGrp="1"/>
          </p:cNvGraphicFramePr>
          <p:nvPr>
            <p:extLst>
              <p:ext uri="{D42A27DB-BD31-4B8C-83A1-F6EECF244321}">
                <p14:modId xmlns:p14="http://schemas.microsoft.com/office/powerpoint/2010/main" val="1082293014"/>
              </p:ext>
            </p:extLst>
          </p:nvPr>
        </p:nvGraphicFramePr>
        <p:xfrm>
          <a:off x="457200" y="856022"/>
          <a:ext cx="6049669" cy="27432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649" name="Chart 648"/>
          <p:cNvGraphicFramePr>
            <a:graphicFrameLocks noGrp="1"/>
          </p:cNvGraphicFramePr>
          <p:nvPr>
            <p:extLst>
              <p:ext uri="{D42A27DB-BD31-4B8C-83A1-F6EECF244321}">
                <p14:modId xmlns:p14="http://schemas.microsoft.com/office/powerpoint/2010/main" val="3337802493"/>
              </p:ext>
            </p:extLst>
          </p:nvPr>
        </p:nvGraphicFramePr>
        <p:xfrm>
          <a:off x="6629400" y="3310054"/>
          <a:ext cx="5293759" cy="274320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Share of voice (search &amp; social mentions) vs. other RTOS projects</a:t>
            </a:r>
          </a:p>
        </p:txBody>
      </p:sp>
      <p:graphicFrame>
        <p:nvGraphicFramePr>
          <p:cNvPr id="3" name="Chart 2"/>
          <p:cNvGraphicFramePr>
            <a:graphicFrameLocks noGrp="1"/>
          </p:cNvGraphicFramePr>
          <p:nvPr/>
        </p:nvGraphicFramePr>
        <p:xfrm>
          <a:off x="1050000" y="1150000"/>
          <a:ext cx="2300000" cy="230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Table 3"/>
          <p:cNvGraphicFramePr>
            <a:graphicFrameLocks noGrp="1"/>
          </p:cNvGraphicFramePr>
          <p:nvPr/>
        </p:nvGraphicFramePr>
        <p:xfrm>
          <a:off x="500000" y="3620000"/>
          <a:ext cx="3400000" cy="1750000"/>
        </p:xfrm>
        <a:graphic>
          <a:graphicData uri="http://schemas.openxmlformats.org/drawingml/2006/table">
            <a:tbl>
              <a:tblPr>
                <a:tableStyleId>{5C22544A-7EE6-4342-B048-85BDC9FD1C3A}</a:tableStyleId>
              </a:tblPr>
              <a:tblGrid>
                <a:gridCol w="2040000">
                  <a:extLst>
                    <a:ext uri="{9D8B030D-6E8A-4147-A177-3AD203B41FA5}">
                      <a16:colId xmlns:a16="http://schemas.microsoft.com/office/drawing/2014/main" val="20000"/>
                    </a:ext>
                  </a:extLst>
                </a:gridCol>
                <a:gridCol w="1360000">
                  <a:extLst>
                    <a:ext uri="{9D8B030D-6E8A-4147-A177-3AD203B41FA5}">
                      <a16:colId xmlns:a16="http://schemas.microsoft.com/office/drawing/2014/main" val="20001"/>
                    </a:ext>
                  </a:extLst>
                </a:gridCol>
              </a:tblGrid>
              <a:tr h="250000">
                <a:tc>
                  <a:txBody>
                    <a:bodyPr/>
                    <a:lstStyle/>
                    <a:p>
                      <a:r>
                        <a:rPr sz="900" b="1"/>
                        <a:t>RTOS</a:t>
                      </a:r>
                    </a:p>
                  </a:txBody>
                  <a:tcPr marT="18000" marB="18000">
                    <a:solidFill>
                      <a:srgbClr val="F2F2F2"/>
                    </a:solidFill>
                  </a:tcPr>
                </a:tc>
                <a:tc>
                  <a:txBody>
                    <a:bodyPr/>
                    <a:lstStyle/>
                    <a:p>
                      <a:r>
                        <a:rPr sz="900" b="1"/>
                        <a:t>Mentions</a:t>
                      </a:r>
                    </a:p>
                  </a:txBody>
                  <a:tcPr marT="18000" marB="18000">
                    <a:solidFill>
                      <a:srgbClr val="F2F2F2"/>
                    </a:solidFill>
                  </a:tcPr>
                </a:tc>
                <a:extLst>
                  <a:ext uri="{0D108BD9-81ED-4DB2-BD59-A6C34878D82A}">
                    <a16:rowId xmlns:a16="http://schemas.microsoft.com/office/drawing/2014/main" val="10000"/>
                  </a:ext>
                </a:extLst>
              </a:tr>
              <a:tr h="250000">
                <a:tc>
                  <a:txBody>
                    <a:bodyPr/>
                    <a:lstStyle/>
                    <a:p>
                      <a:r>
                        <a:rPr sz="900" b="1">
                          <a:solidFill>
                            <a:srgbClr val="2E75B6"/>
                          </a:solidFill>
                        </a:rPr>
                        <a:t>Zephyr Project</a:t>
                      </a:r>
                    </a:p>
                  </a:txBody>
                  <a:tcPr marT="12000" marB="12000" anchor="ctr"/>
                </a:tc>
                <a:tc>
                  <a:txBody>
                    <a:bodyPr/>
                    <a:lstStyle/>
                    <a:p>
                      <a:r>
                        <a:rPr sz="900" b="0">
                          <a:solidFill>
                            <a:srgbClr val="333333"/>
                          </a:solidFill>
                        </a:rPr>
                        <a:t>984 (60%)</a:t>
                      </a:r>
                    </a:p>
                  </a:txBody>
                  <a:tcPr marT="12000" marB="12000" anchor="ctr"/>
                </a:tc>
                <a:extLst>
                  <a:ext uri="{0D108BD9-81ED-4DB2-BD59-A6C34878D82A}">
                    <a16:rowId xmlns:a16="http://schemas.microsoft.com/office/drawing/2014/main" val="10001"/>
                  </a:ext>
                </a:extLst>
              </a:tr>
              <a:tr h="250000">
                <a:tc>
                  <a:txBody>
                    <a:bodyPr/>
                    <a:lstStyle/>
                    <a:p>
                      <a:r>
                        <a:rPr sz="900" b="1">
                          <a:solidFill>
                            <a:srgbClr val="2FB380"/>
                          </a:solidFill>
                        </a:rPr>
                        <a:t>FreeRTOS</a:t>
                      </a:r>
                    </a:p>
                  </a:txBody>
                  <a:tcPr marT="12000" marB="12000" anchor="ctr"/>
                </a:tc>
                <a:tc>
                  <a:txBody>
                    <a:bodyPr/>
                    <a:lstStyle/>
                    <a:p>
                      <a:r>
                        <a:rPr sz="900" b="0">
                          <a:solidFill>
                            <a:srgbClr val="333333"/>
                          </a:solidFill>
                        </a:rPr>
                        <a:t>570 (35%)</a:t>
                      </a:r>
                    </a:p>
                  </a:txBody>
                  <a:tcPr marT="12000" marB="12000" anchor="ctr"/>
                </a:tc>
                <a:extLst>
                  <a:ext uri="{0D108BD9-81ED-4DB2-BD59-A6C34878D82A}">
                    <a16:rowId xmlns:a16="http://schemas.microsoft.com/office/drawing/2014/main" val="10002"/>
                  </a:ext>
                </a:extLst>
              </a:tr>
              <a:tr h="250000">
                <a:tc>
                  <a:txBody>
                    <a:bodyPr/>
                    <a:lstStyle/>
                    <a:p>
                      <a:r>
                        <a:rPr sz="900" b="1">
                          <a:solidFill>
                            <a:srgbClr val="E8554E"/>
                          </a:solidFill>
                        </a:rPr>
                        <a:t>ThreadX</a:t>
                      </a:r>
                    </a:p>
                  </a:txBody>
                  <a:tcPr marT="12000" marB="12000" anchor="ctr"/>
                </a:tc>
                <a:tc>
                  <a:txBody>
                    <a:bodyPr/>
                    <a:lstStyle/>
                    <a:p>
                      <a:r>
                        <a:rPr sz="900" b="0">
                          <a:solidFill>
                            <a:srgbClr val="333333"/>
                          </a:solidFill>
                        </a:rPr>
                        <a:t>59 (4%)</a:t>
                      </a:r>
                    </a:p>
                  </a:txBody>
                  <a:tcPr marT="12000" marB="12000" anchor="ctr"/>
                </a:tc>
                <a:extLst>
                  <a:ext uri="{0D108BD9-81ED-4DB2-BD59-A6C34878D82A}">
                    <a16:rowId xmlns:a16="http://schemas.microsoft.com/office/drawing/2014/main" val="10003"/>
                  </a:ext>
                </a:extLst>
              </a:tr>
              <a:tr h="250000">
                <a:tc>
                  <a:txBody>
                    <a:bodyPr/>
                    <a:lstStyle/>
                    <a:p>
                      <a:r>
                        <a:rPr sz="900" b="1">
                          <a:solidFill>
                            <a:srgbClr val="7B61FF"/>
                          </a:solidFill>
                        </a:rPr>
                        <a:t>ARM Mbed</a:t>
                      </a:r>
                    </a:p>
                  </a:txBody>
                  <a:tcPr marT="12000" marB="12000" anchor="ctr"/>
                </a:tc>
                <a:tc>
                  <a:txBody>
                    <a:bodyPr/>
                    <a:lstStyle/>
                    <a:p>
                      <a:r>
                        <a:rPr sz="900" b="0">
                          <a:solidFill>
                            <a:srgbClr val="333333"/>
                          </a:solidFill>
                        </a:rPr>
                        <a:t>3 (0%)</a:t>
                      </a:r>
                    </a:p>
                  </a:txBody>
                  <a:tcPr marT="12000" marB="12000" anchor="ctr"/>
                </a:tc>
                <a:extLst>
                  <a:ext uri="{0D108BD9-81ED-4DB2-BD59-A6C34878D82A}">
                    <a16:rowId xmlns:a16="http://schemas.microsoft.com/office/drawing/2014/main" val="10004"/>
                  </a:ext>
                </a:extLst>
              </a:tr>
              <a:tr h="250000">
                <a:tc>
                  <a:txBody>
                    <a:bodyPr/>
                    <a:lstStyle/>
                    <a:p>
                      <a:r>
                        <a:rPr sz="900" b="1">
                          <a:solidFill>
                            <a:srgbClr val="35C7C0"/>
                          </a:solidFill>
                        </a:rPr>
                        <a:t>RIOT</a:t>
                      </a:r>
                    </a:p>
                  </a:txBody>
                  <a:tcPr marT="12000" marB="12000" anchor="ctr"/>
                </a:tc>
                <a:tc>
                  <a:txBody>
                    <a:bodyPr/>
                    <a:lstStyle/>
                    <a:p>
                      <a:r>
                        <a:rPr sz="900" b="0">
                          <a:solidFill>
                            <a:srgbClr val="333333"/>
                          </a:solidFill>
                        </a:rPr>
                        <a:t>7 (0%)</a:t>
                      </a:r>
                    </a:p>
                  </a:txBody>
                  <a:tcPr marT="12000" marB="12000" anchor="ctr"/>
                </a:tc>
                <a:extLst>
                  <a:ext uri="{0D108BD9-81ED-4DB2-BD59-A6C34878D82A}">
                    <a16:rowId xmlns:a16="http://schemas.microsoft.com/office/drawing/2014/main" val="10005"/>
                  </a:ext>
                </a:extLst>
              </a:tr>
              <a:tr h="250000">
                <a:tc>
                  <a:txBody>
                    <a:bodyPr/>
                    <a:lstStyle/>
                    <a:p>
                      <a:r>
                        <a:rPr sz="900" b="1">
                          <a:solidFill>
                            <a:srgbClr val="F2C94C"/>
                          </a:solidFill>
                        </a:rPr>
                        <a:t>NuttX</a:t>
                      </a:r>
                    </a:p>
                  </a:txBody>
                  <a:tcPr marT="12000" marB="12000" anchor="ctr"/>
                </a:tc>
                <a:tc>
                  <a:txBody>
                    <a:bodyPr/>
                    <a:lstStyle/>
                    <a:p>
                      <a:r>
                        <a:rPr sz="900" b="0">
                          <a:solidFill>
                            <a:srgbClr val="333333"/>
                          </a:solidFill>
                        </a:rPr>
                        <a:t>7 (0%)</a:t>
                      </a:r>
                    </a:p>
                  </a:txBody>
                  <a:tcPr marT="12000" marB="12000" anchor="ctr"/>
                </a:tc>
                <a:extLst>
                  <a:ext uri="{0D108BD9-81ED-4DB2-BD59-A6C34878D82A}">
                    <a16:rowId xmlns:a16="http://schemas.microsoft.com/office/drawing/2014/main" val="10006"/>
                  </a:ext>
                </a:extLst>
              </a:tr>
            </a:tbl>
          </a:graphicData>
        </a:graphic>
      </p:graphicFrame>
      <p:sp>
        <p:nvSpPr>
          <p:cNvPr id="5" name="TextBox 4"/>
          <p:cNvSpPr txBox="1"/>
          <p:nvPr/>
        </p:nvSpPr>
        <p:spPr>
          <a:xfrm>
            <a:off x="500000" y="5460000"/>
            <a:ext cx="3400000" cy="400000"/>
          </a:xfrm>
          <a:prstGeom prst="rect">
            <a:avLst/>
          </a:prstGeom>
          <a:noFill/>
        </p:spPr>
        <p:txBody>
          <a:bodyPr wrap="square">
            <a:spAutoFit/>
          </a:bodyPr>
          <a:lstStyle/>
          <a:p>
            <a:pPr algn="ctr"/>
            <a:r>
              <a:rPr sz="1400" b="1"/>
              <a:t>January 2026</a:t>
            </a:r>
          </a:p>
        </p:txBody>
      </p:sp>
      <p:graphicFrame>
        <p:nvGraphicFramePr>
          <p:cNvPr id="6" name="Chart 5"/>
          <p:cNvGraphicFramePr>
            <a:graphicFrameLocks noGrp="1"/>
          </p:cNvGraphicFramePr>
          <p:nvPr/>
        </p:nvGraphicFramePr>
        <p:xfrm>
          <a:off x="4946000" y="1150000"/>
          <a:ext cx="2300000" cy="23000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Table 6"/>
          <p:cNvGraphicFramePr>
            <a:graphicFrameLocks noGrp="1"/>
          </p:cNvGraphicFramePr>
          <p:nvPr/>
        </p:nvGraphicFramePr>
        <p:xfrm>
          <a:off x="4396000" y="3620000"/>
          <a:ext cx="3400000" cy="1750000"/>
        </p:xfrm>
        <a:graphic>
          <a:graphicData uri="http://schemas.openxmlformats.org/drawingml/2006/table">
            <a:tbl>
              <a:tblPr>
                <a:tableStyleId>{5C22544A-7EE6-4342-B048-85BDC9FD1C3A}</a:tableStyleId>
              </a:tblPr>
              <a:tblGrid>
                <a:gridCol w="2040000">
                  <a:extLst>
                    <a:ext uri="{9D8B030D-6E8A-4147-A177-3AD203B41FA5}">
                      <a16:colId xmlns:a16="http://schemas.microsoft.com/office/drawing/2014/main" val="20000"/>
                    </a:ext>
                  </a:extLst>
                </a:gridCol>
                <a:gridCol w="1360000">
                  <a:extLst>
                    <a:ext uri="{9D8B030D-6E8A-4147-A177-3AD203B41FA5}">
                      <a16:colId xmlns:a16="http://schemas.microsoft.com/office/drawing/2014/main" val="20001"/>
                    </a:ext>
                  </a:extLst>
                </a:gridCol>
              </a:tblGrid>
              <a:tr h="250000">
                <a:tc>
                  <a:txBody>
                    <a:bodyPr/>
                    <a:lstStyle/>
                    <a:p>
                      <a:r>
                        <a:rPr sz="900" b="1"/>
                        <a:t>RTOS</a:t>
                      </a:r>
                    </a:p>
                  </a:txBody>
                  <a:tcPr marT="18000" marB="18000">
                    <a:solidFill>
                      <a:srgbClr val="F2F2F2"/>
                    </a:solidFill>
                  </a:tcPr>
                </a:tc>
                <a:tc>
                  <a:txBody>
                    <a:bodyPr/>
                    <a:lstStyle/>
                    <a:p>
                      <a:r>
                        <a:rPr sz="900" b="1"/>
                        <a:t>Mentions</a:t>
                      </a:r>
                    </a:p>
                  </a:txBody>
                  <a:tcPr marT="18000" marB="18000">
                    <a:solidFill>
                      <a:srgbClr val="F2F2F2"/>
                    </a:solidFill>
                  </a:tcPr>
                </a:tc>
                <a:extLst>
                  <a:ext uri="{0D108BD9-81ED-4DB2-BD59-A6C34878D82A}">
                    <a16:rowId xmlns:a16="http://schemas.microsoft.com/office/drawing/2014/main" val="10000"/>
                  </a:ext>
                </a:extLst>
              </a:tr>
              <a:tr h="250000">
                <a:tc>
                  <a:txBody>
                    <a:bodyPr/>
                    <a:lstStyle/>
                    <a:p>
                      <a:r>
                        <a:rPr sz="900" b="1">
                          <a:solidFill>
                            <a:srgbClr val="2E75B6"/>
                          </a:solidFill>
                        </a:rPr>
                        <a:t>Zephyr Project</a:t>
                      </a:r>
                    </a:p>
                  </a:txBody>
                  <a:tcPr marT="12000" marB="12000" anchor="ctr"/>
                </a:tc>
                <a:tc>
                  <a:txBody>
                    <a:bodyPr/>
                    <a:lstStyle/>
                    <a:p>
                      <a:r>
                        <a:rPr sz="900" b="0">
                          <a:solidFill>
                            <a:srgbClr val="333333"/>
                          </a:solidFill>
                        </a:rPr>
                        <a:t>1.1K (79%)</a:t>
                      </a:r>
                    </a:p>
                  </a:txBody>
                  <a:tcPr marT="12000" marB="12000" anchor="ctr"/>
                </a:tc>
                <a:extLst>
                  <a:ext uri="{0D108BD9-81ED-4DB2-BD59-A6C34878D82A}">
                    <a16:rowId xmlns:a16="http://schemas.microsoft.com/office/drawing/2014/main" val="10001"/>
                  </a:ext>
                </a:extLst>
              </a:tr>
              <a:tr h="250000">
                <a:tc>
                  <a:txBody>
                    <a:bodyPr/>
                    <a:lstStyle/>
                    <a:p>
                      <a:r>
                        <a:rPr sz="900" b="1">
                          <a:solidFill>
                            <a:srgbClr val="2FB380"/>
                          </a:solidFill>
                        </a:rPr>
                        <a:t>FreeRTOS</a:t>
                      </a:r>
                    </a:p>
                  </a:txBody>
                  <a:tcPr marT="12000" marB="12000" anchor="ctr"/>
                </a:tc>
                <a:tc>
                  <a:txBody>
                    <a:bodyPr/>
                    <a:lstStyle/>
                    <a:p>
                      <a:r>
                        <a:rPr sz="900" b="0">
                          <a:solidFill>
                            <a:srgbClr val="333333"/>
                          </a:solidFill>
                        </a:rPr>
                        <a:t>261 (20%)</a:t>
                      </a:r>
                    </a:p>
                  </a:txBody>
                  <a:tcPr marT="12000" marB="12000" anchor="ctr"/>
                </a:tc>
                <a:extLst>
                  <a:ext uri="{0D108BD9-81ED-4DB2-BD59-A6C34878D82A}">
                    <a16:rowId xmlns:a16="http://schemas.microsoft.com/office/drawing/2014/main" val="10002"/>
                  </a:ext>
                </a:extLst>
              </a:tr>
              <a:tr h="250000">
                <a:tc>
                  <a:txBody>
                    <a:bodyPr/>
                    <a:lstStyle/>
                    <a:p>
                      <a:r>
                        <a:rPr sz="900" b="1">
                          <a:solidFill>
                            <a:srgbClr val="E8554E"/>
                          </a:solidFill>
                        </a:rPr>
                        <a:t>ThreadX</a:t>
                      </a:r>
                    </a:p>
                  </a:txBody>
                  <a:tcPr marT="12000" marB="12000" anchor="ctr"/>
                </a:tc>
                <a:tc>
                  <a:txBody>
                    <a:bodyPr/>
                    <a:lstStyle/>
                    <a:p>
                      <a:r>
                        <a:rPr sz="900" b="0">
                          <a:solidFill>
                            <a:srgbClr val="333333"/>
                          </a:solidFill>
                        </a:rPr>
                        <a:t>11 (1%)</a:t>
                      </a:r>
                    </a:p>
                  </a:txBody>
                  <a:tcPr marT="12000" marB="12000" anchor="ctr"/>
                </a:tc>
                <a:extLst>
                  <a:ext uri="{0D108BD9-81ED-4DB2-BD59-A6C34878D82A}">
                    <a16:rowId xmlns:a16="http://schemas.microsoft.com/office/drawing/2014/main" val="10003"/>
                  </a:ext>
                </a:extLst>
              </a:tr>
              <a:tr h="250000">
                <a:tc>
                  <a:txBody>
                    <a:bodyPr/>
                    <a:lstStyle/>
                    <a:p>
                      <a:r>
                        <a:rPr sz="900" b="1">
                          <a:solidFill>
                            <a:srgbClr val="7B61FF"/>
                          </a:solidFill>
                        </a:rPr>
                        <a:t>ARM Mbed</a:t>
                      </a:r>
                    </a:p>
                  </a:txBody>
                  <a:tcPr marT="12000" marB="12000" anchor="ctr"/>
                </a:tc>
                <a:tc>
                  <a:txBody>
                    <a:bodyPr/>
                    <a:lstStyle/>
                    <a:p>
                      <a:r>
                        <a:rPr sz="900" b="0">
                          <a:solidFill>
                            <a:srgbClr val="333333"/>
                          </a:solidFill>
                        </a:rPr>
                        <a:t>0 (0%)</a:t>
                      </a:r>
                    </a:p>
                  </a:txBody>
                  <a:tcPr marT="12000" marB="12000" anchor="ctr"/>
                </a:tc>
                <a:extLst>
                  <a:ext uri="{0D108BD9-81ED-4DB2-BD59-A6C34878D82A}">
                    <a16:rowId xmlns:a16="http://schemas.microsoft.com/office/drawing/2014/main" val="10004"/>
                  </a:ext>
                </a:extLst>
              </a:tr>
              <a:tr h="250000">
                <a:tc>
                  <a:txBody>
                    <a:bodyPr/>
                    <a:lstStyle/>
                    <a:p>
                      <a:r>
                        <a:rPr sz="900" b="1">
                          <a:solidFill>
                            <a:srgbClr val="35C7C0"/>
                          </a:solidFill>
                        </a:rPr>
                        <a:t>RIOT</a:t>
                      </a:r>
                    </a:p>
                  </a:txBody>
                  <a:tcPr marT="12000" marB="12000" anchor="ctr"/>
                </a:tc>
                <a:tc>
                  <a:txBody>
                    <a:bodyPr/>
                    <a:lstStyle/>
                    <a:p>
                      <a:r>
                        <a:rPr sz="900" b="0">
                          <a:solidFill>
                            <a:srgbClr val="333333"/>
                          </a:solidFill>
                        </a:rPr>
                        <a:t>4 (0%)</a:t>
                      </a:r>
                    </a:p>
                  </a:txBody>
                  <a:tcPr marT="12000" marB="12000" anchor="ctr"/>
                </a:tc>
                <a:extLst>
                  <a:ext uri="{0D108BD9-81ED-4DB2-BD59-A6C34878D82A}">
                    <a16:rowId xmlns:a16="http://schemas.microsoft.com/office/drawing/2014/main" val="10005"/>
                  </a:ext>
                </a:extLst>
              </a:tr>
              <a:tr h="250000">
                <a:tc>
                  <a:txBody>
                    <a:bodyPr/>
                    <a:lstStyle/>
                    <a:p>
                      <a:r>
                        <a:rPr sz="900" b="1">
                          <a:solidFill>
                            <a:srgbClr val="F2C94C"/>
                          </a:solidFill>
                        </a:rPr>
                        <a:t>NuttX</a:t>
                      </a:r>
                    </a:p>
                  </a:txBody>
                  <a:tcPr marT="12000" marB="12000" anchor="ctr"/>
                </a:tc>
                <a:tc>
                  <a:txBody>
                    <a:bodyPr/>
                    <a:lstStyle/>
                    <a:p>
                      <a:r>
                        <a:rPr sz="900" b="0">
                          <a:solidFill>
                            <a:srgbClr val="333333"/>
                          </a:solidFill>
                        </a:rPr>
                        <a:t>3 (0%)</a:t>
                      </a:r>
                    </a:p>
                  </a:txBody>
                  <a:tcPr marT="12000" marB="12000" anchor="ctr"/>
                </a:tc>
                <a:extLst>
                  <a:ext uri="{0D108BD9-81ED-4DB2-BD59-A6C34878D82A}">
                    <a16:rowId xmlns:a16="http://schemas.microsoft.com/office/drawing/2014/main" val="10006"/>
                  </a:ext>
                </a:extLst>
              </a:tr>
            </a:tbl>
          </a:graphicData>
        </a:graphic>
      </p:graphicFrame>
      <p:sp>
        <p:nvSpPr>
          <p:cNvPr id="8" name="TextBox 7"/>
          <p:cNvSpPr txBox="1"/>
          <p:nvPr/>
        </p:nvSpPr>
        <p:spPr>
          <a:xfrm>
            <a:off x="4396000" y="5460000"/>
            <a:ext cx="3400000" cy="400000"/>
          </a:xfrm>
          <a:prstGeom prst="rect">
            <a:avLst/>
          </a:prstGeom>
          <a:noFill/>
        </p:spPr>
        <p:txBody>
          <a:bodyPr wrap="square">
            <a:spAutoFit/>
          </a:bodyPr>
          <a:lstStyle/>
          <a:p>
            <a:pPr algn="ctr"/>
            <a:r>
              <a:rPr sz="1400" b="1"/>
              <a:t>February 2026</a:t>
            </a:r>
          </a:p>
        </p:txBody>
      </p:sp>
      <p:graphicFrame>
        <p:nvGraphicFramePr>
          <p:cNvPr id="9" name="Chart 8"/>
          <p:cNvGraphicFramePr>
            <a:graphicFrameLocks noGrp="1"/>
          </p:cNvGraphicFramePr>
          <p:nvPr/>
        </p:nvGraphicFramePr>
        <p:xfrm>
          <a:off x="8842000" y="1150000"/>
          <a:ext cx="2300000" cy="230000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Table 9"/>
          <p:cNvGraphicFramePr>
            <a:graphicFrameLocks noGrp="1"/>
          </p:cNvGraphicFramePr>
          <p:nvPr/>
        </p:nvGraphicFramePr>
        <p:xfrm>
          <a:off x="8292000" y="3620000"/>
          <a:ext cx="3400000" cy="1750000"/>
        </p:xfrm>
        <a:graphic>
          <a:graphicData uri="http://schemas.openxmlformats.org/drawingml/2006/table">
            <a:tbl>
              <a:tblPr>
                <a:tableStyleId>{5C22544A-7EE6-4342-B048-85BDC9FD1C3A}</a:tableStyleId>
              </a:tblPr>
              <a:tblGrid>
                <a:gridCol w="2040000">
                  <a:extLst>
                    <a:ext uri="{9D8B030D-6E8A-4147-A177-3AD203B41FA5}">
                      <a16:colId xmlns:a16="http://schemas.microsoft.com/office/drawing/2014/main" val="20000"/>
                    </a:ext>
                  </a:extLst>
                </a:gridCol>
                <a:gridCol w="1360000">
                  <a:extLst>
                    <a:ext uri="{9D8B030D-6E8A-4147-A177-3AD203B41FA5}">
                      <a16:colId xmlns:a16="http://schemas.microsoft.com/office/drawing/2014/main" val="20001"/>
                    </a:ext>
                  </a:extLst>
                </a:gridCol>
              </a:tblGrid>
              <a:tr h="250000">
                <a:tc>
                  <a:txBody>
                    <a:bodyPr/>
                    <a:lstStyle/>
                    <a:p>
                      <a:r>
                        <a:rPr sz="900" b="1"/>
                        <a:t>RTOS</a:t>
                      </a:r>
                    </a:p>
                  </a:txBody>
                  <a:tcPr marT="18000" marB="18000">
                    <a:solidFill>
                      <a:srgbClr val="F2F2F2"/>
                    </a:solidFill>
                  </a:tcPr>
                </a:tc>
                <a:tc>
                  <a:txBody>
                    <a:bodyPr/>
                    <a:lstStyle/>
                    <a:p>
                      <a:r>
                        <a:rPr sz="900" b="1"/>
                        <a:t>Mentions</a:t>
                      </a:r>
                    </a:p>
                  </a:txBody>
                  <a:tcPr marT="18000" marB="18000">
                    <a:solidFill>
                      <a:srgbClr val="F2F2F2"/>
                    </a:solidFill>
                  </a:tcPr>
                </a:tc>
                <a:extLst>
                  <a:ext uri="{0D108BD9-81ED-4DB2-BD59-A6C34878D82A}">
                    <a16:rowId xmlns:a16="http://schemas.microsoft.com/office/drawing/2014/main" val="10000"/>
                  </a:ext>
                </a:extLst>
              </a:tr>
              <a:tr h="250000">
                <a:tc>
                  <a:txBody>
                    <a:bodyPr/>
                    <a:lstStyle/>
                    <a:p>
                      <a:r>
                        <a:rPr sz="900" b="1">
                          <a:solidFill>
                            <a:srgbClr val="2E75B6"/>
                          </a:solidFill>
                        </a:rPr>
                        <a:t>Zephyr Project</a:t>
                      </a:r>
                    </a:p>
                  </a:txBody>
                  <a:tcPr marT="12000" marB="12000" anchor="ctr"/>
                </a:tc>
                <a:tc>
                  <a:txBody>
                    <a:bodyPr/>
                    <a:lstStyle/>
                    <a:p>
                      <a:r>
                        <a:rPr sz="900" b="0">
                          <a:solidFill>
                            <a:srgbClr val="333333"/>
                          </a:solidFill>
                        </a:rPr>
                        <a:t>662 (45%)</a:t>
                      </a:r>
                    </a:p>
                  </a:txBody>
                  <a:tcPr marT="12000" marB="12000" anchor="ctr"/>
                </a:tc>
                <a:extLst>
                  <a:ext uri="{0D108BD9-81ED-4DB2-BD59-A6C34878D82A}">
                    <a16:rowId xmlns:a16="http://schemas.microsoft.com/office/drawing/2014/main" val="10001"/>
                  </a:ext>
                </a:extLst>
              </a:tr>
              <a:tr h="250000">
                <a:tc>
                  <a:txBody>
                    <a:bodyPr/>
                    <a:lstStyle/>
                    <a:p>
                      <a:r>
                        <a:rPr sz="900" b="1">
                          <a:solidFill>
                            <a:srgbClr val="2FB380"/>
                          </a:solidFill>
                        </a:rPr>
                        <a:t>FreeRTOS</a:t>
                      </a:r>
                    </a:p>
                  </a:txBody>
                  <a:tcPr marT="12000" marB="12000" anchor="ctr"/>
                </a:tc>
                <a:tc>
                  <a:txBody>
                    <a:bodyPr/>
                    <a:lstStyle/>
                    <a:p>
                      <a:r>
                        <a:rPr sz="900" b="0">
                          <a:solidFill>
                            <a:srgbClr val="333333"/>
                          </a:solidFill>
                        </a:rPr>
                        <a:t>609 (42%)</a:t>
                      </a:r>
                    </a:p>
                  </a:txBody>
                  <a:tcPr marT="12000" marB="12000" anchor="ctr"/>
                </a:tc>
                <a:extLst>
                  <a:ext uri="{0D108BD9-81ED-4DB2-BD59-A6C34878D82A}">
                    <a16:rowId xmlns:a16="http://schemas.microsoft.com/office/drawing/2014/main" val="10002"/>
                  </a:ext>
                </a:extLst>
              </a:tr>
              <a:tr h="250000">
                <a:tc>
                  <a:txBody>
                    <a:bodyPr/>
                    <a:lstStyle/>
                    <a:p>
                      <a:r>
                        <a:rPr sz="900" b="1">
                          <a:solidFill>
                            <a:srgbClr val="E8554E"/>
                          </a:solidFill>
                        </a:rPr>
                        <a:t>ThreadX</a:t>
                      </a:r>
                    </a:p>
                  </a:txBody>
                  <a:tcPr marT="12000" marB="12000" anchor="ctr"/>
                </a:tc>
                <a:tc>
                  <a:txBody>
                    <a:bodyPr/>
                    <a:lstStyle/>
                    <a:p>
                      <a:r>
                        <a:rPr sz="900" b="0">
                          <a:solidFill>
                            <a:srgbClr val="333333"/>
                          </a:solidFill>
                        </a:rPr>
                        <a:t>181 (12%)</a:t>
                      </a:r>
                    </a:p>
                  </a:txBody>
                  <a:tcPr marT="12000" marB="12000" anchor="ctr"/>
                </a:tc>
                <a:extLst>
                  <a:ext uri="{0D108BD9-81ED-4DB2-BD59-A6C34878D82A}">
                    <a16:rowId xmlns:a16="http://schemas.microsoft.com/office/drawing/2014/main" val="10003"/>
                  </a:ext>
                </a:extLst>
              </a:tr>
              <a:tr h="250000">
                <a:tc>
                  <a:txBody>
                    <a:bodyPr/>
                    <a:lstStyle/>
                    <a:p>
                      <a:r>
                        <a:rPr sz="900" b="1">
                          <a:solidFill>
                            <a:srgbClr val="7B61FF"/>
                          </a:solidFill>
                        </a:rPr>
                        <a:t>ARM Mbed</a:t>
                      </a:r>
                    </a:p>
                  </a:txBody>
                  <a:tcPr marT="12000" marB="12000" anchor="ctr"/>
                </a:tc>
                <a:tc>
                  <a:txBody>
                    <a:bodyPr/>
                    <a:lstStyle/>
                    <a:p>
                      <a:r>
                        <a:rPr sz="900" b="0">
                          <a:solidFill>
                            <a:srgbClr val="333333"/>
                          </a:solidFill>
                        </a:rPr>
                        <a:t>5 (0%)</a:t>
                      </a:r>
                    </a:p>
                  </a:txBody>
                  <a:tcPr marT="12000" marB="12000" anchor="ctr"/>
                </a:tc>
                <a:extLst>
                  <a:ext uri="{0D108BD9-81ED-4DB2-BD59-A6C34878D82A}">
                    <a16:rowId xmlns:a16="http://schemas.microsoft.com/office/drawing/2014/main" val="10004"/>
                  </a:ext>
                </a:extLst>
              </a:tr>
              <a:tr h="250000">
                <a:tc>
                  <a:txBody>
                    <a:bodyPr/>
                    <a:lstStyle/>
                    <a:p>
                      <a:r>
                        <a:rPr sz="900" b="1">
                          <a:solidFill>
                            <a:srgbClr val="35C7C0"/>
                          </a:solidFill>
                        </a:rPr>
                        <a:t>RIOT</a:t>
                      </a:r>
                    </a:p>
                  </a:txBody>
                  <a:tcPr marT="12000" marB="12000" anchor="ctr"/>
                </a:tc>
                <a:tc>
                  <a:txBody>
                    <a:bodyPr/>
                    <a:lstStyle/>
                    <a:p>
                      <a:r>
                        <a:rPr sz="900" b="0">
                          <a:solidFill>
                            <a:srgbClr val="333333"/>
                          </a:solidFill>
                        </a:rPr>
                        <a:t>5 (0%)</a:t>
                      </a:r>
                    </a:p>
                  </a:txBody>
                  <a:tcPr marT="12000" marB="12000" anchor="ctr"/>
                </a:tc>
                <a:extLst>
                  <a:ext uri="{0D108BD9-81ED-4DB2-BD59-A6C34878D82A}">
                    <a16:rowId xmlns:a16="http://schemas.microsoft.com/office/drawing/2014/main" val="10005"/>
                  </a:ext>
                </a:extLst>
              </a:tr>
              <a:tr h="250000">
                <a:tc>
                  <a:txBody>
                    <a:bodyPr/>
                    <a:lstStyle/>
                    <a:p>
                      <a:r>
                        <a:rPr sz="900" b="1">
                          <a:solidFill>
                            <a:srgbClr val="F2C94C"/>
                          </a:solidFill>
                        </a:rPr>
                        <a:t>NuttX</a:t>
                      </a:r>
                    </a:p>
                  </a:txBody>
                  <a:tcPr marT="12000" marB="12000" anchor="ctr"/>
                </a:tc>
                <a:tc>
                  <a:txBody>
                    <a:bodyPr/>
                    <a:lstStyle/>
                    <a:p>
                      <a:r>
                        <a:rPr sz="900" b="0">
                          <a:solidFill>
                            <a:srgbClr val="333333"/>
                          </a:solidFill>
                        </a:rPr>
                        <a:t>0 (0%)</a:t>
                      </a:r>
                    </a:p>
                  </a:txBody>
                  <a:tcPr marT="12000" marB="12000" anchor="ctr"/>
                </a:tc>
                <a:extLst>
                  <a:ext uri="{0D108BD9-81ED-4DB2-BD59-A6C34878D82A}">
                    <a16:rowId xmlns:a16="http://schemas.microsoft.com/office/drawing/2014/main" val="10006"/>
                  </a:ext>
                </a:extLst>
              </a:tr>
            </a:tbl>
          </a:graphicData>
        </a:graphic>
      </p:graphicFrame>
      <p:sp>
        <p:nvSpPr>
          <p:cNvPr id="11" name="TextBox 10"/>
          <p:cNvSpPr txBox="1"/>
          <p:nvPr/>
        </p:nvSpPr>
        <p:spPr>
          <a:xfrm>
            <a:off x="8292000" y="5460000"/>
            <a:ext cx="3400000" cy="400000"/>
          </a:xfrm>
          <a:prstGeom prst="rect">
            <a:avLst/>
          </a:prstGeom>
          <a:noFill/>
        </p:spPr>
        <p:txBody>
          <a:bodyPr wrap="square">
            <a:spAutoFit/>
          </a:bodyPr>
          <a:lstStyle/>
          <a:p>
            <a:pPr algn="ctr"/>
            <a:r>
              <a:rPr sz="1400" b="1"/>
              <a:t>March 2026</a:t>
            </a:r>
          </a:p>
        </p:txBody>
      </p:sp>
      <p:sp>
        <p:nvSpPr>
          <p:cNvPr id="12" name="TextBox 11"/>
          <p:cNvSpPr txBox="1"/>
          <p:nvPr/>
        </p:nvSpPr>
        <p:spPr>
          <a:xfrm>
            <a:off x="500000" y="5950000"/>
            <a:ext cx="11200000" cy="246221"/>
          </a:xfrm>
          <a:prstGeom prst="rect">
            <a:avLst/>
          </a:prstGeom>
          <a:noFill/>
        </p:spPr>
        <p:txBody>
          <a:bodyPr wrap="square">
            <a:spAutoFit/>
          </a:bodyPr>
          <a:lstStyle/>
          <a:p>
            <a:r>
              <a:rPr sz="1000" b="1" dirty="0"/>
              <a:t>Source: Zephyr Project marketing team (search + social listening tool), Q1 2026 snapshot.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BB9E46D-3CC9-56C6-643E-CED9BF6C2909}"/>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260DCEB8-0248-CFDC-C88B-F854B702E52A}"/>
              </a:ext>
            </a:extLst>
          </p:cNvPr>
          <p:cNvSpPr>
            <a:spLocks noGrp="1"/>
          </p:cNvSpPr>
          <p:nvPr>
            <p:ph type="ftr" sz="quarter" idx="11"/>
          </p:nvPr>
        </p:nvSpPr>
        <p:spPr/>
        <p:txBody>
          <a:bodyPr/>
          <a:lstStyle/>
          <a:p>
            <a:endParaRPr lang="en-US" dirty="0"/>
          </a:p>
        </p:txBody>
      </p:sp>
      <p:grpSp>
        <p:nvGrpSpPr>
          <p:cNvPr id="11" name="Group 10">
            <a:extLst>
              <a:ext uri="{FF2B5EF4-FFF2-40B4-BE49-F238E27FC236}">
                <a16:creationId xmlns:a16="http://schemas.microsoft.com/office/drawing/2014/main" id="{5F4EE56E-88AE-A26B-66EF-84F39DF857DB}"/>
              </a:ext>
            </a:extLst>
          </p:cNvPr>
          <p:cNvGrpSpPr/>
          <p:nvPr>
            <p:custDataLst>
              <p:tags r:id="rId1"/>
            </p:custDataLst>
          </p:nvPr>
        </p:nvGrpSpPr>
        <p:grpSpPr>
          <a:xfrm>
            <a:off x="334434" y="1268413"/>
            <a:ext cx="10692231" cy="1655999"/>
            <a:chOff x="334434" y="1268413"/>
            <a:chExt cx="10692231" cy="1655999"/>
          </a:xfrm>
        </p:grpSpPr>
        <p:sp>
          <p:nvSpPr>
            <p:cNvPr id="5" name="MIO_AGENDA_ELEMENT_TITEL_1">
              <a:hlinkClick r:id="rId11" action="ppaction://hlinksldjump"/>
              <a:extLst>
                <a:ext uri="{FF2B5EF4-FFF2-40B4-BE49-F238E27FC236}">
                  <a16:creationId xmlns:a16="http://schemas.microsoft.com/office/drawing/2014/main" id="{2B6FDDEB-C195-7E23-2A0B-747111DB255D}"/>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Zephyr Project Introduction ( Overview | Ecosystem | Dev Community )</a:t>
              </a:r>
              <a:endParaRPr lang="de-DE" sz="1800" dirty="0">
                <a:latin typeface="+mn-lt"/>
              </a:endParaRPr>
            </a:p>
          </p:txBody>
        </p:sp>
        <p:sp>
          <p:nvSpPr>
            <p:cNvPr id="6" name="MIO_AGENDA_ELEMENT_ELEMENTNUMBER_1">
              <a:hlinkClick r:id="rId11" action="ppaction://hlinksldjump"/>
              <a:extLst>
                <a:ext uri="{FF2B5EF4-FFF2-40B4-BE49-F238E27FC236}">
                  <a16:creationId xmlns:a16="http://schemas.microsoft.com/office/drawing/2014/main" id="{F88B1F61-2F57-5CE1-8F87-67736669EF21}"/>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TITEL_2">
              <a:hlinkClick r:id="rId12" action="ppaction://hlinksldjump"/>
              <a:extLst>
                <a:ext uri="{FF2B5EF4-FFF2-40B4-BE49-F238E27FC236}">
                  <a16:creationId xmlns:a16="http://schemas.microsoft.com/office/drawing/2014/main" id="{B5C3544E-AF90-DE03-B4EB-754D6C084388}"/>
                </a:ext>
              </a:extLst>
            </p:cNvPr>
            <p:cNvSpPr>
              <a:spLocks/>
            </p:cNvSpPr>
            <p:nvPr>
              <p:custDataLst>
                <p:tags r:id="rId5"/>
              </p:custDataLst>
            </p:nvPr>
          </p:nvSpPr>
          <p:spPr>
            <a:xfrm>
              <a:off x="1235075" y="1844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Infineon's involvement within Zephyr ( Platinum Membership | TSC )</a:t>
              </a:r>
              <a:endParaRPr lang="de-DE" sz="1800" b="1" dirty="0">
                <a:solidFill>
                  <a:schemeClr val="tx2"/>
                </a:solidFill>
                <a:latin typeface="+mn-lt"/>
              </a:endParaRPr>
            </a:p>
          </p:txBody>
        </p:sp>
        <p:sp>
          <p:nvSpPr>
            <p:cNvPr id="8" name="MIO_AGENDA_ELEMENT_ELEMENTNUMBER_2">
              <a:hlinkClick r:id="rId12" action="ppaction://hlinksldjump"/>
              <a:extLst>
                <a:ext uri="{FF2B5EF4-FFF2-40B4-BE49-F238E27FC236}">
                  <a16:creationId xmlns:a16="http://schemas.microsoft.com/office/drawing/2014/main" id="{1C2B95EF-690C-8658-06B3-E8C76ED76C2B}"/>
                </a:ext>
              </a:extLst>
            </p:cNvPr>
            <p:cNvSpPr>
              <a:spLocks noChangeAspect="1"/>
            </p:cNvSpPr>
            <p:nvPr>
              <p:custDataLst>
                <p:tags r:id="rId6"/>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9" name="MIO_AGENDA_ELEMENT_TITEL_3">
              <a:hlinkClick r:id="rId13" action="ppaction://hlinksldjump"/>
              <a:extLst>
                <a:ext uri="{FF2B5EF4-FFF2-40B4-BE49-F238E27FC236}">
                  <a16:creationId xmlns:a16="http://schemas.microsoft.com/office/drawing/2014/main" id="{7E63DC60-CAD1-B15C-A6A2-AC0745E148CD}"/>
                </a:ext>
              </a:extLst>
            </p:cNvPr>
            <p:cNvSpPr>
              <a:spLocks/>
            </p:cNvSpPr>
            <p:nvPr>
              <p:custDataLst>
                <p:tags r:id="rId7"/>
              </p:custDataLst>
            </p:nvPr>
          </p:nvSpPr>
          <p:spPr>
            <a:xfrm>
              <a:off x="1235076" y="2420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Getting started with Zephyr ( Development Board Support )</a:t>
              </a:r>
              <a:endParaRPr lang="de-DE" sz="1800" dirty="0">
                <a:latin typeface="+mn-lt"/>
              </a:endParaRPr>
            </a:p>
          </p:txBody>
        </p:sp>
        <p:sp>
          <p:nvSpPr>
            <p:cNvPr id="10" name="MIO_AGENDA_ELEMENT_ELEMENTNUMBER_3">
              <a:hlinkClick r:id="rId13" action="ppaction://hlinksldjump"/>
              <a:extLst>
                <a:ext uri="{FF2B5EF4-FFF2-40B4-BE49-F238E27FC236}">
                  <a16:creationId xmlns:a16="http://schemas.microsoft.com/office/drawing/2014/main" id="{FD1B1601-7C1D-BC0E-B888-4532E8E0D515}"/>
                </a:ext>
              </a:extLst>
            </p:cNvPr>
            <p:cNvSpPr>
              <a:spLocks noChangeAspect="1"/>
            </p:cNvSpPr>
            <p:nvPr>
              <p:custDataLst>
                <p:tags r:id="rId8"/>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grpSp>
      <p:sp>
        <p:nvSpPr>
          <p:cNvPr id="2" name="Title 1">
            <a:extLst>
              <a:ext uri="{FF2B5EF4-FFF2-40B4-BE49-F238E27FC236}">
                <a16:creationId xmlns:a16="http://schemas.microsoft.com/office/drawing/2014/main" id="{5BCDF1A3-FC22-6CB9-E53A-ED42794A54FB}"/>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35930157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76"/>
          <p:cNvSpPr txBox="1">
            <a:spLocks noGrp="1"/>
          </p:cNvSpPr>
          <p:nvPr>
            <p:ph type="title"/>
          </p:nvPr>
        </p:nvSpPr>
        <p:spPr>
          <a:xfrm>
            <a:off x="335360" y="423000"/>
            <a:ext cx="9613068" cy="720000"/>
          </a:xfrm>
          <a:prstGeom prst="rect">
            <a:avLst/>
          </a:prstGeom>
        </p:spPr>
        <p:txBody>
          <a:bodyPr spcFirstLastPara="1" vert="horz" wrap="square" lIns="121900" tIns="60933" rIns="121900" bIns="60933" rtlCol="0" anchor="t" anchorCtr="0">
            <a:noAutofit/>
          </a:bodyPr>
          <a:lstStyle/>
          <a:p>
            <a:r>
              <a:rPr lang="en" dirty="0"/>
              <a:t>Infineon’s Platinum Membership benefits</a:t>
            </a:r>
            <a:endParaRPr dirty="0"/>
          </a:p>
        </p:txBody>
      </p:sp>
      <p:grpSp>
        <p:nvGrpSpPr>
          <p:cNvPr id="3" name="Group 2">
            <a:extLst>
              <a:ext uri="{FF2B5EF4-FFF2-40B4-BE49-F238E27FC236}">
                <a16:creationId xmlns:a16="http://schemas.microsoft.com/office/drawing/2014/main" id="{6B4B35A1-B4B7-20F0-135B-A73E365D5F62}"/>
              </a:ext>
            </a:extLst>
          </p:cNvPr>
          <p:cNvGrpSpPr/>
          <p:nvPr/>
        </p:nvGrpSpPr>
        <p:grpSpPr>
          <a:xfrm>
            <a:off x="461964" y="1670231"/>
            <a:ext cx="2164614" cy="1562322"/>
            <a:chOff x="1059469" y="1699979"/>
            <a:chExt cx="2164614" cy="1562322"/>
          </a:xfrm>
        </p:grpSpPr>
        <p:grpSp>
          <p:nvGrpSpPr>
            <p:cNvPr id="2" name="Group 1">
              <a:extLst>
                <a:ext uri="{FF2B5EF4-FFF2-40B4-BE49-F238E27FC236}">
                  <a16:creationId xmlns:a16="http://schemas.microsoft.com/office/drawing/2014/main" id="{8FD6EECB-039D-8AEC-EC63-282ADBB3CA67}"/>
                </a:ext>
              </a:extLst>
            </p:cNvPr>
            <p:cNvGrpSpPr/>
            <p:nvPr/>
          </p:nvGrpSpPr>
          <p:grpSpPr>
            <a:xfrm>
              <a:off x="1601063" y="1699979"/>
              <a:ext cx="1081427" cy="1081427"/>
              <a:chOff x="1511373" y="1699979"/>
              <a:chExt cx="1081427" cy="1081427"/>
            </a:xfrm>
          </p:grpSpPr>
          <p:sp>
            <p:nvSpPr>
              <p:cNvPr id="937" name="Google Shape;937;p76"/>
              <p:cNvSpPr/>
              <p:nvPr/>
            </p:nvSpPr>
            <p:spPr>
              <a:xfrm>
                <a:off x="1511373" y="1699979"/>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pic>
            <p:nvPicPr>
              <p:cNvPr id="938" name="Google Shape;938;p76"/>
              <p:cNvPicPr preferRelativeResize="0"/>
              <p:nvPr/>
            </p:nvPicPr>
            <p:blipFill>
              <a:blip r:embed="rId3">
                <a:alphaModFix/>
              </a:blip>
              <a:stretch>
                <a:fillRect/>
              </a:stretch>
            </p:blipFill>
            <p:spPr>
              <a:xfrm>
                <a:off x="1705692" y="1894298"/>
                <a:ext cx="692789" cy="692789"/>
              </a:xfrm>
              <a:prstGeom prst="rect">
                <a:avLst/>
              </a:prstGeom>
              <a:noFill/>
              <a:ln>
                <a:noFill/>
              </a:ln>
            </p:spPr>
          </p:pic>
        </p:grpSp>
        <p:sp>
          <p:nvSpPr>
            <p:cNvPr id="939" name="Google Shape;939;p76"/>
            <p:cNvSpPr txBox="1"/>
            <p:nvPr/>
          </p:nvSpPr>
          <p:spPr>
            <a:xfrm>
              <a:off x="1059469" y="2871028"/>
              <a:ext cx="2164614"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Industry leadership</a:t>
              </a:r>
              <a:endParaRPr dirty="0">
                <a:solidFill>
                  <a:schemeClr val="dk1"/>
                </a:solidFill>
                <a:latin typeface="Open Sans SemiBold"/>
                <a:ea typeface="Open Sans SemiBold"/>
                <a:cs typeface="Open Sans SemiBold"/>
                <a:sym typeface="Open Sans SemiBold"/>
              </a:endParaRPr>
            </a:p>
          </p:txBody>
        </p:sp>
      </p:grpSp>
      <p:grpSp>
        <p:nvGrpSpPr>
          <p:cNvPr id="5" name="Group 4">
            <a:extLst>
              <a:ext uri="{FF2B5EF4-FFF2-40B4-BE49-F238E27FC236}">
                <a16:creationId xmlns:a16="http://schemas.microsoft.com/office/drawing/2014/main" id="{703C0E72-A6C5-E16E-2D42-86F52017CC7B}"/>
              </a:ext>
            </a:extLst>
          </p:cNvPr>
          <p:cNvGrpSpPr/>
          <p:nvPr/>
        </p:nvGrpSpPr>
        <p:grpSpPr>
          <a:xfrm>
            <a:off x="2769717" y="1670231"/>
            <a:ext cx="2899351" cy="1568169"/>
            <a:chOff x="4118933" y="1699979"/>
            <a:chExt cx="2899351" cy="1568169"/>
          </a:xfrm>
        </p:grpSpPr>
        <p:sp>
          <p:nvSpPr>
            <p:cNvPr id="940" name="Google Shape;940;p76"/>
            <p:cNvSpPr/>
            <p:nvPr/>
          </p:nvSpPr>
          <p:spPr>
            <a:xfrm>
              <a:off x="5027895" y="1699979"/>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sp>
          <p:nvSpPr>
            <p:cNvPr id="941" name="Google Shape;941;p76"/>
            <p:cNvSpPr txBox="1"/>
            <p:nvPr/>
          </p:nvSpPr>
          <p:spPr>
            <a:xfrm>
              <a:off x="4118933" y="2876875"/>
              <a:ext cx="2899351"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Fast track to Technical Steering Committee Participation</a:t>
              </a:r>
              <a:endParaRPr dirty="0">
                <a:solidFill>
                  <a:schemeClr val="dk1"/>
                </a:solidFill>
                <a:latin typeface="Open Sans SemiBold"/>
                <a:ea typeface="Open Sans SemiBold"/>
                <a:cs typeface="Open Sans SemiBold"/>
                <a:sym typeface="Open Sans SemiBold"/>
              </a:endParaRPr>
            </a:p>
          </p:txBody>
        </p:sp>
        <p:pic>
          <p:nvPicPr>
            <p:cNvPr id="950" name="Google Shape;950;p76"/>
            <p:cNvPicPr preferRelativeResize="0"/>
            <p:nvPr/>
          </p:nvPicPr>
          <p:blipFill>
            <a:blip r:embed="rId4">
              <a:alphaModFix/>
            </a:blip>
            <a:stretch>
              <a:fillRect/>
            </a:stretch>
          </p:blipFill>
          <p:spPr>
            <a:xfrm>
              <a:off x="5221351" y="1893435"/>
              <a:ext cx="694515" cy="694515"/>
            </a:xfrm>
            <a:prstGeom prst="rect">
              <a:avLst/>
            </a:prstGeom>
            <a:noFill/>
            <a:ln>
              <a:noFill/>
            </a:ln>
          </p:spPr>
        </p:pic>
      </p:grpSp>
      <p:grpSp>
        <p:nvGrpSpPr>
          <p:cNvPr id="7" name="Group 6">
            <a:extLst>
              <a:ext uri="{FF2B5EF4-FFF2-40B4-BE49-F238E27FC236}">
                <a16:creationId xmlns:a16="http://schemas.microsoft.com/office/drawing/2014/main" id="{CAE1E03B-6330-4DF2-7FEC-A27E35315F87}"/>
              </a:ext>
            </a:extLst>
          </p:cNvPr>
          <p:cNvGrpSpPr/>
          <p:nvPr/>
        </p:nvGrpSpPr>
        <p:grpSpPr>
          <a:xfrm>
            <a:off x="5812208" y="1670231"/>
            <a:ext cx="2617482" cy="1562322"/>
            <a:chOff x="6016961" y="1699978"/>
            <a:chExt cx="2617482" cy="1562322"/>
          </a:xfrm>
        </p:grpSpPr>
        <p:sp>
          <p:nvSpPr>
            <p:cNvPr id="943" name="Google Shape;943;p76"/>
            <p:cNvSpPr txBox="1"/>
            <p:nvPr/>
          </p:nvSpPr>
          <p:spPr>
            <a:xfrm>
              <a:off x="6016961" y="2871027"/>
              <a:ext cx="2617482"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Help shape the Safety &amp; Certification Programs</a:t>
              </a:r>
              <a:endParaRPr dirty="0">
                <a:solidFill>
                  <a:schemeClr val="dk1"/>
                </a:solidFill>
                <a:latin typeface="Open Sans SemiBold"/>
                <a:ea typeface="Open Sans SemiBold"/>
                <a:cs typeface="Open Sans SemiBold"/>
                <a:sym typeface="Open Sans SemiBold"/>
              </a:endParaRPr>
            </a:p>
          </p:txBody>
        </p:sp>
        <p:grpSp>
          <p:nvGrpSpPr>
            <p:cNvPr id="6" name="Group 5">
              <a:extLst>
                <a:ext uri="{FF2B5EF4-FFF2-40B4-BE49-F238E27FC236}">
                  <a16:creationId xmlns:a16="http://schemas.microsoft.com/office/drawing/2014/main" id="{778EDDB5-6F74-5EFC-87F5-D86054ED122E}"/>
                </a:ext>
              </a:extLst>
            </p:cNvPr>
            <p:cNvGrpSpPr/>
            <p:nvPr/>
          </p:nvGrpSpPr>
          <p:grpSpPr>
            <a:xfrm>
              <a:off x="6784989" y="1699978"/>
              <a:ext cx="1081427" cy="1081427"/>
              <a:chOff x="9205573" y="1699979"/>
              <a:chExt cx="1081427" cy="1081427"/>
            </a:xfrm>
          </p:grpSpPr>
          <p:sp>
            <p:nvSpPr>
              <p:cNvPr id="942" name="Google Shape;942;p76"/>
              <p:cNvSpPr/>
              <p:nvPr/>
            </p:nvSpPr>
            <p:spPr>
              <a:xfrm>
                <a:off x="9205573" y="1699979"/>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pic>
            <p:nvPicPr>
              <p:cNvPr id="951" name="Google Shape;951;p76"/>
              <p:cNvPicPr preferRelativeResize="0"/>
              <p:nvPr/>
            </p:nvPicPr>
            <p:blipFill>
              <a:blip r:embed="rId5">
                <a:alphaModFix/>
              </a:blip>
              <a:stretch>
                <a:fillRect/>
              </a:stretch>
            </p:blipFill>
            <p:spPr>
              <a:xfrm>
                <a:off x="9399029" y="1893435"/>
                <a:ext cx="694515" cy="694515"/>
              </a:xfrm>
              <a:prstGeom prst="rect">
                <a:avLst/>
              </a:prstGeom>
              <a:noFill/>
              <a:ln>
                <a:noFill/>
              </a:ln>
            </p:spPr>
          </p:pic>
        </p:grpSp>
      </p:grpSp>
      <p:grpSp>
        <p:nvGrpSpPr>
          <p:cNvPr id="8" name="Group 7">
            <a:extLst>
              <a:ext uri="{FF2B5EF4-FFF2-40B4-BE49-F238E27FC236}">
                <a16:creationId xmlns:a16="http://schemas.microsoft.com/office/drawing/2014/main" id="{772477F5-2E08-8FE8-E6A4-AED1C824CD02}"/>
              </a:ext>
            </a:extLst>
          </p:cNvPr>
          <p:cNvGrpSpPr/>
          <p:nvPr/>
        </p:nvGrpSpPr>
        <p:grpSpPr>
          <a:xfrm>
            <a:off x="458769" y="4085053"/>
            <a:ext cx="2164614" cy="1562321"/>
            <a:chOff x="8866120" y="1699979"/>
            <a:chExt cx="2164614" cy="1562321"/>
          </a:xfrm>
        </p:grpSpPr>
        <p:sp>
          <p:nvSpPr>
            <p:cNvPr id="944" name="Google Shape;944;p76"/>
            <p:cNvSpPr/>
            <p:nvPr/>
          </p:nvSpPr>
          <p:spPr>
            <a:xfrm>
              <a:off x="9407714" y="1699979"/>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sp>
          <p:nvSpPr>
            <p:cNvPr id="945" name="Google Shape;945;p76"/>
            <p:cNvSpPr txBox="1"/>
            <p:nvPr/>
          </p:nvSpPr>
          <p:spPr>
            <a:xfrm>
              <a:off x="8866120" y="2871027"/>
              <a:ext cx="2164614"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Marketing Opportunities</a:t>
              </a:r>
              <a:endParaRPr dirty="0">
                <a:solidFill>
                  <a:schemeClr val="dk1"/>
                </a:solidFill>
                <a:latin typeface="Open Sans SemiBold"/>
                <a:ea typeface="Open Sans SemiBold"/>
                <a:cs typeface="Open Sans SemiBold"/>
                <a:sym typeface="Open Sans SemiBold"/>
              </a:endParaRPr>
            </a:p>
          </p:txBody>
        </p:sp>
        <p:pic>
          <p:nvPicPr>
            <p:cNvPr id="952" name="Google Shape;952;p76"/>
            <p:cNvPicPr preferRelativeResize="0"/>
            <p:nvPr/>
          </p:nvPicPr>
          <p:blipFill>
            <a:blip r:embed="rId6">
              <a:alphaModFix/>
            </a:blip>
            <a:stretch>
              <a:fillRect/>
            </a:stretch>
          </p:blipFill>
          <p:spPr>
            <a:xfrm>
              <a:off x="9601170" y="1893435"/>
              <a:ext cx="694515" cy="694515"/>
            </a:xfrm>
            <a:prstGeom prst="rect">
              <a:avLst/>
            </a:prstGeom>
            <a:noFill/>
            <a:ln>
              <a:noFill/>
            </a:ln>
          </p:spPr>
        </p:pic>
      </p:grpSp>
      <p:grpSp>
        <p:nvGrpSpPr>
          <p:cNvPr id="9" name="Group 8">
            <a:extLst>
              <a:ext uri="{FF2B5EF4-FFF2-40B4-BE49-F238E27FC236}">
                <a16:creationId xmlns:a16="http://schemas.microsoft.com/office/drawing/2014/main" id="{C5A00D1D-DBC7-044E-3156-9F94520B1B57}"/>
              </a:ext>
            </a:extLst>
          </p:cNvPr>
          <p:cNvGrpSpPr/>
          <p:nvPr/>
        </p:nvGrpSpPr>
        <p:grpSpPr>
          <a:xfrm>
            <a:off x="2764001" y="4085053"/>
            <a:ext cx="2899351" cy="1562322"/>
            <a:chOff x="3087687" y="4289412"/>
            <a:chExt cx="2899351" cy="1562322"/>
          </a:xfrm>
        </p:grpSpPr>
        <p:sp>
          <p:nvSpPr>
            <p:cNvPr id="946" name="Google Shape;946;p76"/>
            <p:cNvSpPr/>
            <p:nvPr/>
          </p:nvSpPr>
          <p:spPr>
            <a:xfrm>
              <a:off x="3996649" y="4289412"/>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sp>
          <p:nvSpPr>
            <p:cNvPr id="947" name="Google Shape;947;p76"/>
            <p:cNvSpPr txBox="1"/>
            <p:nvPr/>
          </p:nvSpPr>
          <p:spPr>
            <a:xfrm>
              <a:off x="3087687" y="5460461"/>
              <a:ext cx="2899351"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Member Networking Opportunities</a:t>
              </a:r>
              <a:endParaRPr dirty="0">
                <a:solidFill>
                  <a:schemeClr val="dk1"/>
                </a:solidFill>
                <a:latin typeface="Open Sans SemiBold"/>
                <a:ea typeface="Open Sans SemiBold"/>
                <a:cs typeface="Open Sans SemiBold"/>
                <a:sym typeface="Open Sans SemiBold"/>
              </a:endParaRPr>
            </a:p>
          </p:txBody>
        </p:sp>
        <p:pic>
          <p:nvPicPr>
            <p:cNvPr id="953" name="Google Shape;953;p76"/>
            <p:cNvPicPr preferRelativeResize="0"/>
            <p:nvPr/>
          </p:nvPicPr>
          <p:blipFill>
            <a:blip r:embed="rId7">
              <a:alphaModFix/>
            </a:blip>
            <a:stretch>
              <a:fillRect/>
            </a:stretch>
          </p:blipFill>
          <p:spPr>
            <a:xfrm>
              <a:off x="4190105" y="4482868"/>
              <a:ext cx="694515" cy="694515"/>
            </a:xfrm>
            <a:prstGeom prst="rect">
              <a:avLst/>
            </a:prstGeom>
            <a:noFill/>
            <a:ln>
              <a:noFill/>
            </a:ln>
          </p:spPr>
        </p:pic>
      </p:grpSp>
      <p:grpSp>
        <p:nvGrpSpPr>
          <p:cNvPr id="10" name="Group 9">
            <a:extLst>
              <a:ext uri="{FF2B5EF4-FFF2-40B4-BE49-F238E27FC236}">
                <a16:creationId xmlns:a16="http://schemas.microsoft.com/office/drawing/2014/main" id="{40EC1A83-E4B6-2E9C-6677-5FF692DD4E60}"/>
              </a:ext>
            </a:extLst>
          </p:cNvPr>
          <p:cNvGrpSpPr/>
          <p:nvPr/>
        </p:nvGrpSpPr>
        <p:grpSpPr>
          <a:xfrm>
            <a:off x="5812208" y="4085053"/>
            <a:ext cx="2617482" cy="1566441"/>
            <a:chOff x="6016961" y="4285293"/>
            <a:chExt cx="2617482" cy="1566441"/>
          </a:xfrm>
        </p:grpSpPr>
        <p:sp>
          <p:nvSpPr>
            <p:cNvPr id="948" name="Google Shape;948;p76"/>
            <p:cNvSpPr/>
            <p:nvPr/>
          </p:nvSpPr>
          <p:spPr>
            <a:xfrm>
              <a:off x="6784989" y="4285293"/>
              <a:ext cx="1081427" cy="1081427"/>
            </a:xfrm>
            <a:prstGeom prst="ellipse">
              <a:avLst/>
            </a:prstGeom>
            <a:solidFill>
              <a:schemeClr val="dk2"/>
            </a:solidFill>
            <a:ln>
              <a:noFill/>
            </a:ln>
          </p:spPr>
          <p:txBody>
            <a:bodyPr spcFirstLastPara="1" wrap="square" lIns="121900" tIns="121900" rIns="121900" bIns="121900" anchor="ctr" anchorCtr="0">
              <a:noAutofit/>
            </a:bodyPr>
            <a:lstStyle/>
            <a:p>
              <a:pPr>
                <a:spcBef>
                  <a:spcPts val="0"/>
                </a:spcBef>
                <a:spcAft>
                  <a:spcPts val="0"/>
                </a:spcAft>
              </a:pPr>
              <a:endParaRPr sz="1867">
                <a:solidFill>
                  <a:schemeClr val="dk2"/>
                </a:solidFill>
              </a:endParaRPr>
            </a:p>
          </p:txBody>
        </p:sp>
        <p:sp>
          <p:nvSpPr>
            <p:cNvPr id="949" name="Google Shape;949;p76"/>
            <p:cNvSpPr txBox="1"/>
            <p:nvPr/>
          </p:nvSpPr>
          <p:spPr>
            <a:xfrm>
              <a:off x="6016961" y="5460461"/>
              <a:ext cx="2617482" cy="391273"/>
            </a:xfrm>
            <a:prstGeom prst="rect">
              <a:avLst/>
            </a:prstGeom>
            <a:noFill/>
            <a:ln>
              <a:noFill/>
            </a:ln>
          </p:spPr>
          <p:txBody>
            <a:bodyPr spcFirstLastPara="1" wrap="square" lIns="121900" tIns="0" rIns="121900" bIns="121900" anchor="t" anchorCtr="0">
              <a:noAutofit/>
            </a:bodyPr>
            <a:lstStyle/>
            <a:p>
              <a:pPr algn="ctr">
                <a:spcBef>
                  <a:spcPts val="0"/>
                </a:spcBef>
                <a:spcAft>
                  <a:spcPts val="0"/>
                </a:spcAft>
              </a:pPr>
              <a:r>
                <a:rPr lang="en" dirty="0">
                  <a:solidFill>
                    <a:schemeClr val="dk1"/>
                  </a:solidFill>
                  <a:latin typeface="Open Sans SemiBold"/>
                  <a:ea typeface="Open Sans SemiBold"/>
                  <a:cs typeface="Open Sans SemiBold"/>
                  <a:sym typeface="Open Sans SemiBold"/>
                </a:rPr>
                <a:t>Learning &amp; Engagement</a:t>
              </a:r>
              <a:endParaRPr dirty="0">
                <a:solidFill>
                  <a:schemeClr val="dk1"/>
                </a:solidFill>
                <a:latin typeface="Open Sans SemiBold"/>
                <a:ea typeface="Open Sans SemiBold"/>
                <a:cs typeface="Open Sans SemiBold"/>
                <a:sym typeface="Open Sans SemiBold"/>
              </a:endParaRPr>
            </a:p>
          </p:txBody>
        </p:sp>
        <p:pic>
          <p:nvPicPr>
            <p:cNvPr id="954" name="Google Shape;954;p76"/>
            <p:cNvPicPr preferRelativeResize="0"/>
            <p:nvPr/>
          </p:nvPicPr>
          <p:blipFill>
            <a:blip r:embed="rId8">
              <a:alphaModFix/>
            </a:blip>
            <a:stretch>
              <a:fillRect/>
            </a:stretch>
          </p:blipFill>
          <p:spPr>
            <a:xfrm>
              <a:off x="6978445" y="4478749"/>
              <a:ext cx="694515" cy="694515"/>
            </a:xfrm>
            <a:prstGeom prst="rect">
              <a:avLst/>
            </a:prstGeom>
            <a:noFill/>
            <a:ln>
              <a:noFill/>
            </a:ln>
          </p:spPr>
        </p:pic>
      </p:grpSp>
      <p:pic>
        <p:nvPicPr>
          <p:cNvPr id="2050" name="Picture 2">
            <a:extLst>
              <a:ext uri="{FF2B5EF4-FFF2-40B4-BE49-F238E27FC236}">
                <a16:creationId xmlns:a16="http://schemas.microsoft.com/office/drawing/2014/main" id="{BE15914B-71CB-3060-1401-B841323B687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24482" y="1858430"/>
            <a:ext cx="3352800" cy="26822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39782-AE19-7887-C47A-C45C65A2DD08}"/>
              </a:ext>
            </a:extLst>
          </p:cNvPr>
          <p:cNvSpPr>
            <a:spLocks noGrp="1"/>
          </p:cNvSpPr>
          <p:nvPr>
            <p:ph type="title"/>
          </p:nvPr>
        </p:nvSpPr>
        <p:spPr/>
        <p:txBody>
          <a:bodyPr/>
          <a:lstStyle/>
          <a:p>
            <a:r>
              <a:rPr lang="en-US" dirty="0"/>
              <a:t>Infineon supported development boards</a:t>
            </a:r>
          </a:p>
        </p:txBody>
      </p:sp>
      <p:sp>
        <p:nvSpPr>
          <p:cNvPr id="3" name="TextBox 2"/>
          <p:cNvSpPr txBox="1"/>
          <p:nvPr/>
        </p:nvSpPr>
        <p:spPr>
          <a:xfrm>
            <a:off x="457200" y="914400"/>
            <a:ext cx="11274552" cy="457200"/>
          </a:xfrm>
          <a:prstGeom prst="rect">
            <a:avLst/>
          </a:prstGeom>
          <a:noFill/>
        </p:spPr>
        <p:txBody>
          <a:bodyPr wrap="none">
            <a:spAutoFit/>
          </a:bodyPr>
          <a:lstStyle/>
          <a:p>
            <a:r>
              <a:rPr sz="1500" i="1"/>
              <a:t>20 boards, 7 MCU families - in-tree Zephyr support, newest/most-complete families first</a:t>
            </a:r>
          </a:p>
        </p:txBody>
      </p:sp>
      <p:sp>
        <p:nvSpPr>
          <p:cNvPr id="4" name="TextBox 3"/>
          <p:cNvSpPr txBox="1"/>
          <p:nvPr/>
        </p:nvSpPr>
        <p:spPr>
          <a:xfrm>
            <a:off x="457200" y="1417320"/>
            <a:ext cx="3566160" cy="2323713"/>
          </a:xfrm>
          <a:prstGeom prst="rect">
            <a:avLst/>
          </a:prstGeom>
          <a:noFill/>
        </p:spPr>
        <p:txBody>
          <a:bodyPr wrap="square">
            <a:spAutoFit/>
          </a:bodyPr>
          <a:lstStyle/>
          <a:p>
            <a:r>
              <a:rPr sz="1500" b="1" dirty="0">
                <a:solidFill>
                  <a:srgbClr val="0A8276"/>
                </a:solidFill>
              </a:rPr>
              <a:t>PSOC™ Edge</a:t>
            </a:r>
          </a:p>
          <a:p>
            <a:r>
              <a:rPr sz="1250" b="0" dirty="0"/>
              <a:t>KIT_PSE84_EVAL - E84 Evaluation Kit</a:t>
            </a:r>
          </a:p>
          <a:p>
            <a:r>
              <a:rPr sz="1250" b="0" dirty="0"/>
              <a:t>KIT_PSE84_AI - E84 AI Evaluation Kit</a:t>
            </a:r>
            <a:endParaRPr lang="en-US" sz="1250" b="0" dirty="0"/>
          </a:p>
          <a:p>
            <a:endParaRPr sz="1250" b="0" dirty="0"/>
          </a:p>
          <a:p>
            <a:r>
              <a:rPr sz="1500" b="1" dirty="0">
                <a:solidFill>
                  <a:srgbClr val="0A8276"/>
                </a:solidFill>
              </a:rPr>
              <a:t>PSOC™ Control</a:t>
            </a:r>
          </a:p>
          <a:p>
            <a:r>
              <a:rPr sz="1250" b="0" dirty="0"/>
              <a:t>KIT_PSC3M6_EVAL - C3M6 Evaluation Kit</a:t>
            </a:r>
          </a:p>
          <a:p>
            <a:r>
              <a:rPr sz="1250" b="0" dirty="0"/>
              <a:t>KIT_PSC3M5_EVK - C3M5 Evaluation Kit</a:t>
            </a:r>
          </a:p>
          <a:p>
            <a:r>
              <a:rPr sz="1250" b="0" dirty="0"/>
              <a:t>KIT_PSC3M5_CC2 - C3M5 Connectivity Card 2</a:t>
            </a:r>
            <a:endParaRPr lang="en-US" sz="1250" b="0" dirty="0"/>
          </a:p>
          <a:p>
            <a:endParaRPr sz="1250" b="0" dirty="0"/>
          </a:p>
          <a:p>
            <a:r>
              <a:rPr sz="1500" b="1" dirty="0">
                <a:solidFill>
                  <a:srgbClr val="0A8276"/>
                </a:solidFill>
              </a:rPr>
              <a:t>AIROC™</a:t>
            </a:r>
          </a:p>
          <a:p>
            <a:r>
              <a:rPr sz="1250" b="0" dirty="0"/>
              <a:t>CYW920829M2EVK-02 - CYW20829 BLE MCU</a:t>
            </a:r>
          </a:p>
        </p:txBody>
      </p:sp>
      <p:sp>
        <p:nvSpPr>
          <p:cNvPr id="5" name="TextBox 4"/>
          <p:cNvSpPr txBox="1"/>
          <p:nvPr/>
        </p:nvSpPr>
        <p:spPr>
          <a:xfrm>
            <a:off x="4251960" y="1417320"/>
            <a:ext cx="3566160" cy="2477601"/>
          </a:xfrm>
          <a:prstGeom prst="rect">
            <a:avLst/>
          </a:prstGeom>
          <a:noFill/>
        </p:spPr>
        <p:txBody>
          <a:bodyPr wrap="square">
            <a:spAutoFit/>
          </a:bodyPr>
          <a:lstStyle/>
          <a:p>
            <a:r>
              <a:rPr sz="1500" b="1" dirty="0">
                <a:solidFill>
                  <a:srgbClr val="0A8276"/>
                </a:solidFill>
              </a:rPr>
              <a:t>PSOC™ 4</a:t>
            </a:r>
          </a:p>
          <a:p>
            <a:r>
              <a:rPr sz="1250" b="0" dirty="0"/>
              <a:t>CY8CPROTO-041TP - PSOC™ 4100T Plus</a:t>
            </a:r>
          </a:p>
          <a:p>
            <a:r>
              <a:rPr sz="1250" b="0" dirty="0"/>
              <a:t>CY8CKIT-041S-MAX - PSOC™ 4100S Max</a:t>
            </a:r>
          </a:p>
          <a:p>
            <a:r>
              <a:rPr sz="1250" b="0" dirty="0"/>
              <a:t>CY8CPROTO-040T - PSOC™ 4000T</a:t>
            </a:r>
          </a:p>
          <a:p>
            <a:r>
              <a:rPr sz="1250" b="0" dirty="0"/>
              <a:t>CY8CPROTO-040T-AUTO - PSOC™ 4000T AUTO</a:t>
            </a:r>
            <a:endParaRPr lang="en-US" sz="1250" b="0" dirty="0"/>
          </a:p>
          <a:p>
            <a:endParaRPr sz="1250" b="0" dirty="0"/>
          </a:p>
          <a:p>
            <a:r>
              <a:rPr sz="1500" b="1" dirty="0">
                <a:solidFill>
                  <a:srgbClr val="0A8276"/>
                </a:solidFill>
              </a:rPr>
              <a:t>PSOC™ 6</a:t>
            </a:r>
          </a:p>
          <a:p>
            <a:r>
              <a:rPr sz="1250" b="0" dirty="0"/>
              <a:t>CY8CKIT-062S2-AI - PSOC™ 6 AI Eval Kit</a:t>
            </a:r>
          </a:p>
          <a:p>
            <a:r>
              <a:rPr sz="1250" b="0" dirty="0"/>
              <a:t>CY8CPROTO-062-4343W</a:t>
            </a:r>
          </a:p>
          <a:p>
            <a:r>
              <a:rPr sz="1250" b="0" dirty="0"/>
              <a:t>CY8CKIT-062S4 - PSOC™ 62S4 Pioneer Kit</a:t>
            </a:r>
          </a:p>
          <a:p>
            <a:r>
              <a:rPr sz="1250" b="0" dirty="0"/>
              <a:t>CY8CPROTO-063-BLE</a:t>
            </a:r>
          </a:p>
        </p:txBody>
      </p:sp>
      <p:sp>
        <p:nvSpPr>
          <p:cNvPr id="6" name="TextBox 5"/>
          <p:cNvSpPr txBox="1"/>
          <p:nvPr/>
        </p:nvSpPr>
        <p:spPr>
          <a:xfrm>
            <a:off x="8046720" y="1417320"/>
            <a:ext cx="3566160" cy="1900520"/>
          </a:xfrm>
          <a:prstGeom prst="rect">
            <a:avLst/>
          </a:prstGeom>
          <a:noFill/>
        </p:spPr>
        <p:txBody>
          <a:bodyPr wrap="square">
            <a:spAutoFit/>
          </a:bodyPr>
          <a:lstStyle/>
          <a:p>
            <a:r>
              <a:rPr sz="1500" b="1" dirty="0">
                <a:solidFill>
                  <a:srgbClr val="0A8276"/>
                </a:solidFill>
              </a:rPr>
              <a:t>TRAVEO™ T2G</a:t>
            </a:r>
          </a:p>
          <a:p>
            <a:r>
              <a:rPr sz="1250" b="0" dirty="0"/>
              <a:t>KIT_T2G-B-H_EVK - Body High Eval Kit</a:t>
            </a:r>
          </a:p>
          <a:p>
            <a:r>
              <a:rPr sz="1250" b="0" dirty="0"/>
              <a:t>KIT_T2G-B-H-LITE - Body High Lite Eval Kit</a:t>
            </a:r>
          </a:p>
          <a:p>
            <a:r>
              <a:rPr sz="1250" b="0" dirty="0"/>
              <a:t>KIT_T2G-C2D6M-LITE</a:t>
            </a:r>
            <a:endParaRPr lang="en-US" sz="1250" b="0" dirty="0"/>
          </a:p>
          <a:p>
            <a:endParaRPr sz="1250" b="0" dirty="0"/>
          </a:p>
          <a:p>
            <a:r>
              <a:rPr sz="1500" b="1" dirty="0">
                <a:solidFill>
                  <a:srgbClr val="0A8276"/>
                </a:solidFill>
              </a:rPr>
              <a:t>XMC™</a:t>
            </a:r>
          </a:p>
          <a:p>
            <a:r>
              <a:rPr sz="1250" b="0" dirty="0"/>
              <a:t>KIT_XMC72_EVK - XMC7200 Evaluation Kit</a:t>
            </a:r>
          </a:p>
          <a:p>
            <a:r>
              <a:rPr sz="1250" b="0" dirty="0"/>
              <a:t>XMC47-RELAX-KIT</a:t>
            </a:r>
          </a:p>
          <a:p>
            <a:r>
              <a:rPr sz="1250" b="0" dirty="0"/>
              <a:t>XMC45-RELAX-KIT</a:t>
            </a:r>
          </a:p>
        </p:txBody>
      </p:sp>
      <p:pic>
        <p:nvPicPr>
          <p:cNvPr id="8" name="Picture 8" descr="XMC45-RELAX-KIT">
            <a:extLst>
              <a:ext uri="{FF2B5EF4-FFF2-40B4-BE49-F238E27FC236}">
                <a16:creationId xmlns:a16="http://schemas.microsoft.com/office/drawing/2014/main" id="{09BB3B20-8D1E-B113-2177-EFE5E05E0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4201063"/>
            <a:ext cx="1992324" cy="110171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Y8CPROTO-063-BLE">
            <a:extLst>
              <a:ext uri="{FF2B5EF4-FFF2-40B4-BE49-F238E27FC236}">
                <a16:creationId xmlns:a16="http://schemas.microsoft.com/office/drawing/2014/main" id="{BC8D8C72-65F4-EB7E-BE39-D4F707F999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5440680"/>
            <a:ext cx="2492835" cy="60469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A close-up of a circuit board&#10;&#10;AI-generated content may be incorrect.">
            <a:extLst>
              <a:ext uri="{FF2B5EF4-FFF2-40B4-BE49-F238E27FC236}">
                <a16:creationId xmlns:a16="http://schemas.microsoft.com/office/drawing/2014/main" id="{1042C40A-F883-775D-D7FE-2D92EC7045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0915" y="4246043"/>
            <a:ext cx="1302692" cy="1011757"/>
          </a:xfrm>
          <a:prstGeom prst="rect">
            <a:avLst/>
          </a:prstGeom>
        </p:spPr>
      </p:pic>
      <p:pic>
        <p:nvPicPr>
          <p:cNvPr id="14" name="Picture 13">
            <a:extLst>
              <a:ext uri="{FF2B5EF4-FFF2-40B4-BE49-F238E27FC236}">
                <a16:creationId xmlns:a16="http://schemas.microsoft.com/office/drawing/2014/main" id="{2BCE92BB-A50F-1BE7-65C3-35839B488F89}"/>
              </a:ext>
            </a:extLst>
          </p:cNvPr>
          <p:cNvPicPr>
            <a:picLocks noChangeAspect="1"/>
          </p:cNvPicPr>
          <p:nvPr/>
        </p:nvPicPr>
        <p:blipFill>
          <a:blip r:embed="rId5"/>
          <a:stretch>
            <a:fillRect/>
          </a:stretch>
        </p:blipFill>
        <p:spPr>
          <a:xfrm>
            <a:off x="3485142" y="5257800"/>
            <a:ext cx="1992323" cy="1084710"/>
          </a:xfrm>
          <a:prstGeom prst="rect">
            <a:avLst/>
          </a:prstGeom>
        </p:spPr>
      </p:pic>
      <p:pic>
        <p:nvPicPr>
          <p:cNvPr id="16" name="Picture 15" descr="A close-up of a circuit board&#10;&#10;AI-generated content may be incorrect.">
            <a:extLst>
              <a:ext uri="{FF2B5EF4-FFF2-40B4-BE49-F238E27FC236}">
                <a16:creationId xmlns:a16="http://schemas.microsoft.com/office/drawing/2014/main" id="{6060DD50-CCE2-6AF6-1A3D-5A583D3852A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82939" y="4119347"/>
            <a:ext cx="3102203" cy="1408400"/>
          </a:xfrm>
          <a:prstGeom prst="rect">
            <a:avLst/>
          </a:prstGeom>
        </p:spPr>
      </p:pic>
      <p:pic>
        <p:nvPicPr>
          <p:cNvPr id="18" name="Picture 17">
            <a:extLst>
              <a:ext uri="{FF2B5EF4-FFF2-40B4-BE49-F238E27FC236}">
                <a16:creationId xmlns:a16="http://schemas.microsoft.com/office/drawing/2014/main" id="{62CB799E-CD0F-354C-F2E2-50EAF7CCC385}"/>
              </a:ext>
            </a:extLst>
          </p:cNvPr>
          <p:cNvPicPr>
            <a:picLocks noChangeAspect="1"/>
          </p:cNvPicPr>
          <p:nvPr/>
        </p:nvPicPr>
        <p:blipFill>
          <a:blip r:embed="rId7"/>
          <a:stretch>
            <a:fillRect/>
          </a:stretch>
        </p:blipFill>
        <p:spPr>
          <a:xfrm>
            <a:off x="9296400" y="4505781"/>
            <a:ext cx="1992323" cy="1265125"/>
          </a:xfrm>
          <a:prstGeom prst="rect">
            <a:avLst/>
          </a:prstGeom>
        </p:spPr>
      </p:pic>
    </p:spTree>
    <p:extLst>
      <p:ext uri="{BB962C8B-B14F-4D97-AF65-F5344CB8AC3E}">
        <p14:creationId xmlns:p14="http://schemas.microsoft.com/office/powerpoint/2010/main" val="36583224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528FC1D-C6DD-0FB9-9DCE-B5BA74D24FF7}"/>
              </a:ext>
            </a:extLst>
          </p:cNvPr>
          <p:cNvSpPr/>
          <p:nvPr/>
        </p:nvSpPr>
        <p:spPr bwMode="auto">
          <a:xfrm>
            <a:off x="2642496" y="2474350"/>
            <a:ext cx="8991600" cy="1338894"/>
          </a:xfrm>
          <a:prstGeom prst="rect">
            <a:avLst/>
          </a:prstGeom>
          <a:solidFill>
            <a:schemeClr val="bg1">
              <a:lumMod val="9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9" name="Rectangle 18">
            <a:extLst>
              <a:ext uri="{FF2B5EF4-FFF2-40B4-BE49-F238E27FC236}">
                <a16:creationId xmlns:a16="http://schemas.microsoft.com/office/drawing/2014/main" id="{15A4CE07-8505-4525-0E19-D4A8B51FFEBD}"/>
              </a:ext>
            </a:extLst>
          </p:cNvPr>
          <p:cNvSpPr/>
          <p:nvPr/>
        </p:nvSpPr>
        <p:spPr bwMode="auto">
          <a:xfrm>
            <a:off x="2642496" y="3943085"/>
            <a:ext cx="8991600" cy="1105550"/>
          </a:xfrm>
          <a:prstGeom prst="rect">
            <a:avLst/>
          </a:prstGeom>
          <a:solidFill>
            <a:schemeClr val="bg1">
              <a:lumMod val="9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0" name="Rectangle 19">
            <a:extLst>
              <a:ext uri="{FF2B5EF4-FFF2-40B4-BE49-F238E27FC236}">
                <a16:creationId xmlns:a16="http://schemas.microsoft.com/office/drawing/2014/main" id="{AC6AF712-5711-37F9-9D48-79EAF7424144}"/>
              </a:ext>
            </a:extLst>
          </p:cNvPr>
          <p:cNvSpPr/>
          <p:nvPr/>
        </p:nvSpPr>
        <p:spPr bwMode="auto">
          <a:xfrm>
            <a:off x="2642496" y="5178476"/>
            <a:ext cx="8991600" cy="943100"/>
          </a:xfrm>
          <a:prstGeom prst="rect">
            <a:avLst/>
          </a:prstGeom>
          <a:solidFill>
            <a:schemeClr val="bg1">
              <a:lumMod val="9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3" name="Rectangle 12">
            <a:extLst>
              <a:ext uri="{FF2B5EF4-FFF2-40B4-BE49-F238E27FC236}">
                <a16:creationId xmlns:a16="http://schemas.microsoft.com/office/drawing/2014/main" id="{14385F02-D3E0-9186-14C6-675049B530A7}"/>
              </a:ext>
            </a:extLst>
          </p:cNvPr>
          <p:cNvSpPr/>
          <p:nvPr/>
        </p:nvSpPr>
        <p:spPr bwMode="auto">
          <a:xfrm>
            <a:off x="2642496" y="1143000"/>
            <a:ext cx="8991600" cy="1200137"/>
          </a:xfrm>
          <a:prstGeom prst="rect">
            <a:avLst/>
          </a:prstGeom>
          <a:solidFill>
            <a:schemeClr val="bg1">
              <a:lumMod val="9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0" name="Rectangle: Rounded Corners 9">
            <a:extLst>
              <a:ext uri="{FF2B5EF4-FFF2-40B4-BE49-F238E27FC236}">
                <a16:creationId xmlns:a16="http://schemas.microsoft.com/office/drawing/2014/main" id="{F82C629D-41DC-B58C-6D3A-5AC0406EA38F}"/>
              </a:ext>
            </a:extLst>
          </p:cNvPr>
          <p:cNvSpPr/>
          <p:nvPr/>
        </p:nvSpPr>
        <p:spPr bwMode="auto">
          <a:xfrm>
            <a:off x="366877" y="2570944"/>
            <a:ext cx="2133600" cy="491775"/>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1" name="Rectangle: Rounded Corners 10">
            <a:extLst>
              <a:ext uri="{FF2B5EF4-FFF2-40B4-BE49-F238E27FC236}">
                <a16:creationId xmlns:a16="http://schemas.microsoft.com/office/drawing/2014/main" id="{CCB7FF72-F630-9B4D-920E-7C27F70DAAA5}"/>
              </a:ext>
            </a:extLst>
          </p:cNvPr>
          <p:cNvSpPr/>
          <p:nvPr/>
        </p:nvSpPr>
        <p:spPr bwMode="auto">
          <a:xfrm>
            <a:off x="366877" y="4039679"/>
            <a:ext cx="2133600" cy="491775"/>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12" name="Rectangle: Rounded Corners 11">
            <a:extLst>
              <a:ext uri="{FF2B5EF4-FFF2-40B4-BE49-F238E27FC236}">
                <a16:creationId xmlns:a16="http://schemas.microsoft.com/office/drawing/2014/main" id="{6E991BEB-7BB8-7002-05CA-31CB41C50C4F}"/>
              </a:ext>
            </a:extLst>
          </p:cNvPr>
          <p:cNvSpPr/>
          <p:nvPr/>
        </p:nvSpPr>
        <p:spPr bwMode="auto">
          <a:xfrm>
            <a:off x="366877" y="5275070"/>
            <a:ext cx="2133600" cy="491775"/>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9" name="Rectangle: Rounded Corners 8">
            <a:extLst>
              <a:ext uri="{FF2B5EF4-FFF2-40B4-BE49-F238E27FC236}">
                <a16:creationId xmlns:a16="http://schemas.microsoft.com/office/drawing/2014/main" id="{F4804FF7-0639-462D-30E8-6C87F86F6AAD}"/>
              </a:ext>
            </a:extLst>
          </p:cNvPr>
          <p:cNvSpPr/>
          <p:nvPr/>
        </p:nvSpPr>
        <p:spPr bwMode="auto">
          <a:xfrm>
            <a:off x="366877" y="1239594"/>
            <a:ext cx="2133600" cy="491775"/>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sp>
        <p:nvSpPr>
          <p:cNvPr id="2" name="Titel 1">
            <a:extLst>
              <a:ext uri="{FF2B5EF4-FFF2-40B4-BE49-F238E27FC236}">
                <a16:creationId xmlns:a16="http://schemas.microsoft.com/office/drawing/2014/main" id="{D2A3DB54-EDAA-323A-87B5-63B2513F5053}"/>
              </a:ext>
            </a:extLst>
          </p:cNvPr>
          <p:cNvSpPr>
            <a:spLocks noGrp="1"/>
          </p:cNvSpPr>
          <p:nvPr>
            <p:ph type="title"/>
          </p:nvPr>
        </p:nvSpPr>
        <p:spPr/>
        <p:txBody>
          <a:bodyPr/>
          <a:lstStyle/>
          <a:p>
            <a:r>
              <a:rPr lang="en-US" dirty="0"/>
              <a:t>Infineon targeted support in </a:t>
            </a:r>
            <a:br>
              <a:rPr lang="en-US" dirty="0"/>
            </a:br>
            <a:r>
              <a:rPr lang="en-US" dirty="0"/>
              <a:t>Zephyr® RTOS Ecosystem </a:t>
            </a:r>
          </a:p>
        </p:txBody>
      </p:sp>
      <p:pic>
        <p:nvPicPr>
          <p:cNvPr id="3" name="Picture 2" descr="A blue line drawing of a kite&#10;&#10;AI-generated content may be incorrect.">
            <a:extLst>
              <a:ext uri="{FF2B5EF4-FFF2-40B4-BE49-F238E27FC236}">
                <a16:creationId xmlns:a16="http://schemas.microsoft.com/office/drawing/2014/main" id="{014219C8-8535-6A21-7A60-860B223015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9057" y="272600"/>
            <a:ext cx="1021143" cy="720001"/>
          </a:xfrm>
          <a:prstGeom prst="rect">
            <a:avLst/>
          </a:prstGeom>
        </p:spPr>
      </p:pic>
      <p:sp>
        <p:nvSpPr>
          <p:cNvPr id="4" name="TextBox 3">
            <a:extLst>
              <a:ext uri="{FF2B5EF4-FFF2-40B4-BE49-F238E27FC236}">
                <a16:creationId xmlns:a16="http://schemas.microsoft.com/office/drawing/2014/main" id="{7C1FF189-0508-8E92-13C1-D3AC44D49CA9}"/>
              </a:ext>
            </a:extLst>
          </p:cNvPr>
          <p:cNvSpPr txBox="1"/>
          <p:nvPr/>
        </p:nvSpPr>
        <p:spPr bwMode="auto">
          <a:xfrm>
            <a:off x="694927" y="1361500"/>
            <a:ext cx="1484449" cy="23474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b="1" kern="0" baseline="0" dirty="0">
                <a:solidFill>
                  <a:schemeClr val="bg1"/>
                </a:solidFill>
                <a:latin typeface="+mn-lt"/>
                <a:ea typeface="+mn-ea"/>
                <a:cs typeface="+mn-cs"/>
              </a:rPr>
              <a:t>Device Support</a:t>
            </a:r>
          </a:p>
        </p:txBody>
      </p:sp>
      <p:sp>
        <p:nvSpPr>
          <p:cNvPr id="5" name="TextBox 4">
            <a:extLst>
              <a:ext uri="{FF2B5EF4-FFF2-40B4-BE49-F238E27FC236}">
                <a16:creationId xmlns:a16="http://schemas.microsoft.com/office/drawing/2014/main" id="{ABD067BA-0E5D-3AF5-76FF-19DBE20DB279}"/>
              </a:ext>
            </a:extLst>
          </p:cNvPr>
          <p:cNvSpPr txBox="1"/>
          <p:nvPr/>
        </p:nvSpPr>
        <p:spPr bwMode="auto">
          <a:xfrm>
            <a:off x="691452" y="2691206"/>
            <a:ext cx="1484449" cy="23474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b="1" kern="0" baseline="0" dirty="0">
                <a:solidFill>
                  <a:schemeClr val="bg1"/>
                </a:solidFill>
                <a:latin typeface="+mn-lt"/>
                <a:ea typeface="+mn-ea"/>
                <a:cs typeface="+mn-cs"/>
              </a:rPr>
              <a:t>Tool Enablement</a:t>
            </a:r>
          </a:p>
        </p:txBody>
      </p:sp>
      <p:sp>
        <p:nvSpPr>
          <p:cNvPr id="6" name="TextBox 5">
            <a:extLst>
              <a:ext uri="{FF2B5EF4-FFF2-40B4-BE49-F238E27FC236}">
                <a16:creationId xmlns:a16="http://schemas.microsoft.com/office/drawing/2014/main" id="{4BBC50E9-FC8C-D3DA-4D4B-5A54B5767A03}"/>
              </a:ext>
            </a:extLst>
          </p:cNvPr>
          <p:cNvSpPr txBox="1"/>
          <p:nvPr/>
        </p:nvSpPr>
        <p:spPr bwMode="auto">
          <a:xfrm>
            <a:off x="544527" y="4168194"/>
            <a:ext cx="1757538" cy="23474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b="1" kern="0" baseline="0" dirty="0">
                <a:solidFill>
                  <a:schemeClr val="bg1"/>
                </a:solidFill>
                <a:latin typeface="+mn-lt"/>
                <a:ea typeface="+mn-ea"/>
                <a:cs typeface="+mn-cs"/>
              </a:rPr>
              <a:t>Software Ecosystem</a:t>
            </a:r>
          </a:p>
        </p:txBody>
      </p:sp>
      <p:sp>
        <p:nvSpPr>
          <p:cNvPr id="7" name="TextBox 6">
            <a:extLst>
              <a:ext uri="{FF2B5EF4-FFF2-40B4-BE49-F238E27FC236}">
                <a16:creationId xmlns:a16="http://schemas.microsoft.com/office/drawing/2014/main" id="{86AACDDF-4920-7587-D265-F80C0FE37416}"/>
              </a:ext>
            </a:extLst>
          </p:cNvPr>
          <p:cNvSpPr txBox="1"/>
          <p:nvPr/>
        </p:nvSpPr>
        <p:spPr bwMode="auto">
          <a:xfrm>
            <a:off x="356496" y="5382685"/>
            <a:ext cx="2133600" cy="234744"/>
          </a:xfrm>
          <a:prstGeom prst="rect">
            <a:avLst/>
          </a:prstGeom>
          <a:noFill/>
          <a:ln w="9525">
            <a:noFill/>
            <a:miter lim="800000"/>
            <a:headEnd/>
            <a:tailEnd/>
          </a:ln>
          <a:effectLst/>
        </p:spPr>
        <p:txBody>
          <a:bodyPr wrap="square" lIns="0" tIns="0" rIns="0" bIns="0" rtlCol="0" anchor="t" anchorCtr="0">
            <a:spAutoFit/>
          </a:bodyPr>
          <a:lstStyle/>
          <a:p>
            <a:pPr marR="0" algn="ctr" defTabSz="576000" eaLnBrk="0" fontAlgn="auto" latinLnBrk="0" hangingPunct="0">
              <a:lnSpc>
                <a:spcPct val="120000"/>
              </a:lnSpc>
              <a:spcBef>
                <a:spcPts val="0"/>
              </a:spcBef>
              <a:spcAft>
                <a:spcPts val="0"/>
              </a:spcAft>
              <a:buClr>
                <a:schemeClr val="tx2"/>
              </a:buClr>
              <a:buSzTx/>
              <a:tabLst/>
            </a:pPr>
            <a:r>
              <a:rPr lang="en-US" b="1" kern="0" baseline="0" dirty="0">
                <a:solidFill>
                  <a:schemeClr val="bg1"/>
                </a:solidFill>
                <a:latin typeface="+mn-lt"/>
                <a:ea typeface="+mn-ea"/>
                <a:cs typeface="+mn-cs"/>
              </a:rPr>
              <a:t>Ecosystem Engagement</a:t>
            </a:r>
          </a:p>
        </p:txBody>
      </p:sp>
      <p:sp>
        <p:nvSpPr>
          <p:cNvPr id="8" name="TextBox 7">
            <a:extLst>
              <a:ext uri="{FF2B5EF4-FFF2-40B4-BE49-F238E27FC236}">
                <a16:creationId xmlns:a16="http://schemas.microsoft.com/office/drawing/2014/main" id="{3965D29E-3D26-80D7-17B5-D19B4D4834CF}"/>
              </a:ext>
            </a:extLst>
          </p:cNvPr>
          <p:cNvSpPr txBox="1"/>
          <p:nvPr/>
        </p:nvSpPr>
        <p:spPr bwMode="auto">
          <a:xfrm>
            <a:off x="2871095" y="1226950"/>
            <a:ext cx="8611531" cy="1200137"/>
          </a:xfrm>
          <a:prstGeom prst="rect">
            <a:avLst/>
          </a:prstGeom>
          <a:noFill/>
          <a:ln w="9525">
            <a:noFill/>
            <a:miter lim="800000"/>
            <a:headEnd/>
            <a:tailEnd/>
          </a:ln>
          <a:effectLst/>
        </p:spPr>
        <p:txBody>
          <a:bodyPr wrap="square" lIns="0" tIns="0" rIns="0" bIns="0" rtlCol="0" anchor="t" anchorCtr="0">
            <a:spAutoFit/>
          </a:bodyPr>
          <a:lstStyle/>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All new MCUs and Connected MCUs include Zephyr support by default at public release, unless explicitly exempted</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baseline="0" dirty="0">
                <a:latin typeface="+mn-lt"/>
                <a:ea typeface="+mn-ea"/>
                <a:cs typeface="+mn-cs"/>
              </a:rPr>
              <a:t>All applicable Zephyr driver APIs that map to supported device peripheral are supported</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baseline="0" dirty="0">
                <a:latin typeface="+mn-lt"/>
                <a:ea typeface="+mn-ea"/>
                <a:cs typeface="+mn-cs"/>
              </a:rPr>
              <a:t>Enabled Zephyr APIs </a:t>
            </a:r>
            <a:r>
              <a:rPr lang="en-US" sz="1100" kern="0" dirty="0">
                <a:latin typeface="+mn-lt"/>
              </a:rPr>
              <a:t>make best use of Low-Power, DMA, and Security features available in Zephyr</a:t>
            </a:r>
            <a:endParaRPr lang="en-US" sz="1100" kern="0" baseline="0" dirty="0">
              <a:latin typeface="+mn-lt"/>
              <a:ea typeface="+mn-ea"/>
              <a:cs typeface="+mn-cs"/>
            </a:endParaRP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dirty="0">
                <a:latin typeface="+mn-lt"/>
              </a:rPr>
              <a:t>All mass-market focused development kits are supported directly within Zephyr</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dirty="0">
                <a:solidFill>
                  <a:schemeClr val="accent1"/>
                </a:solidFill>
                <a:latin typeface="+mn-lt"/>
              </a:rPr>
              <a:t>Differentiated device capabilities are enabled using Custom APIs, per marketing/product requirements</a:t>
            </a:r>
            <a:endParaRPr lang="en-US" sz="1100" kern="0" baseline="0" dirty="0">
              <a:solidFill>
                <a:schemeClr val="accent1"/>
              </a:solidFill>
              <a:latin typeface="+mn-lt"/>
              <a:ea typeface="+mn-ea"/>
              <a:cs typeface="+mn-cs"/>
            </a:endParaRPr>
          </a:p>
          <a:p>
            <a:pPr marR="0" defTabSz="576000" eaLnBrk="0" fontAlgn="auto" latinLnBrk="0" hangingPunct="0">
              <a:lnSpc>
                <a:spcPct val="120000"/>
              </a:lnSpc>
              <a:spcBef>
                <a:spcPts val="0"/>
              </a:spcBef>
              <a:spcAft>
                <a:spcPts val="0"/>
              </a:spcAft>
              <a:buClr>
                <a:schemeClr val="tx2"/>
              </a:buClr>
              <a:buSzTx/>
              <a:tabLst/>
            </a:pPr>
            <a:endParaRPr lang="en-US" sz="1100" kern="0" dirty="0">
              <a:latin typeface="+mn-lt"/>
            </a:endParaRPr>
          </a:p>
        </p:txBody>
      </p:sp>
      <p:sp>
        <p:nvSpPr>
          <p:cNvPr id="14" name="TextBox 13">
            <a:extLst>
              <a:ext uri="{FF2B5EF4-FFF2-40B4-BE49-F238E27FC236}">
                <a16:creationId xmlns:a16="http://schemas.microsoft.com/office/drawing/2014/main" id="{06DFDF21-1975-AC63-F69A-F92361FF5A06}"/>
              </a:ext>
            </a:extLst>
          </p:cNvPr>
          <p:cNvSpPr txBox="1"/>
          <p:nvPr/>
        </p:nvSpPr>
        <p:spPr bwMode="auto">
          <a:xfrm>
            <a:off x="2871095" y="2539816"/>
            <a:ext cx="8611531" cy="1403269"/>
          </a:xfrm>
          <a:prstGeom prst="rect">
            <a:avLst/>
          </a:prstGeom>
          <a:noFill/>
          <a:ln w="9525">
            <a:noFill/>
            <a:miter lim="800000"/>
            <a:headEnd/>
            <a:tailEnd/>
          </a:ln>
          <a:effectLst/>
        </p:spPr>
        <p:txBody>
          <a:bodyPr wrap="square" lIns="0" tIns="0" rIns="0" bIns="0" rtlCol="0" anchor="t" anchorCtr="0">
            <a:spAutoFit/>
          </a:bodyPr>
          <a:lstStyle/>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Code Generation of device configuration / initialization using graphical configuration tools</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baseline="0" dirty="0">
                <a:latin typeface="+mn-lt"/>
                <a:ea typeface="+mn-ea"/>
                <a:cs typeface="+mn-cs"/>
              </a:rPr>
              <a:t>Ease-of-use </a:t>
            </a:r>
            <a:r>
              <a:rPr lang="en-US" sz="1100" kern="0" dirty="0">
                <a:latin typeface="+mn-lt"/>
              </a:rPr>
              <a:t>assets (videos, documentation, tool extensions, installers) targeting bring-up of Zephyr development environment for Infineon devices</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baseline="0" dirty="0">
                <a:solidFill>
                  <a:schemeClr val="accent1"/>
                </a:solidFill>
                <a:latin typeface="+mn-lt"/>
                <a:ea typeface="+mn-ea"/>
                <a:cs typeface="+mn-cs"/>
              </a:rPr>
              <a:t>Contribution and/or development of IDE support that fully leverages the Zephyr build environment and enable</a:t>
            </a:r>
            <a:r>
              <a:rPr lang="en-US" sz="1100" kern="0" dirty="0">
                <a:solidFill>
                  <a:schemeClr val="accent1"/>
                </a:solidFill>
                <a:latin typeface="+mn-lt"/>
              </a:rPr>
              <a:t>s debugging on Infineon devices</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baseline="0" dirty="0">
                <a:solidFill>
                  <a:schemeClr val="accent1"/>
                </a:solidFill>
                <a:latin typeface="+mn-lt"/>
                <a:ea typeface="+mn-ea"/>
                <a:cs typeface="+mn-cs"/>
              </a:rPr>
              <a:t>AI </a:t>
            </a:r>
            <a:r>
              <a:rPr lang="en-US" sz="1100" kern="0" dirty="0">
                <a:solidFill>
                  <a:schemeClr val="accent1"/>
                </a:solidFill>
                <a:latin typeface="+mn-lt"/>
              </a:rPr>
              <a:t>a</a:t>
            </a:r>
            <a:r>
              <a:rPr lang="en-US" sz="1100" kern="0" baseline="0" dirty="0">
                <a:solidFill>
                  <a:schemeClr val="accent1"/>
                </a:solidFill>
                <a:latin typeface="+mn-lt"/>
                <a:ea typeface="+mn-ea"/>
                <a:cs typeface="+mn-cs"/>
              </a:rPr>
              <a:t>ssisted documentation and coding optimized with relevant </a:t>
            </a:r>
            <a:r>
              <a:rPr lang="en-US" sz="1100" kern="0" dirty="0">
                <a:solidFill>
                  <a:schemeClr val="accent1"/>
                </a:solidFill>
                <a:latin typeface="+mn-lt"/>
              </a:rPr>
              <a:t>Zephyr content for Infineon devices</a:t>
            </a:r>
            <a:endParaRPr lang="en-US" sz="1100" kern="0" baseline="0" dirty="0">
              <a:solidFill>
                <a:schemeClr val="accent1"/>
              </a:solidFill>
              <a:latin typeface="+mn-lt"/>
              <a:ea typeface="+mn-ea"/>
              <a:cs typeface="+mn-cs"/>
            </a:endParaRPr>
          </a:p>
          <a:p>
            <a:pPr marR="0" defTabSz="576000" eaLnBrk="0" fontAlgn="auto" latinLnBrk="0" hangingPunct="0">
              <a:lnSpc>
                <a:spcPct val="120000"/>
              </a:lnSpc>
              <a:spcBef>
                <a:spcPts val="0"/>
              </a:spcBef>
              <a:spcAft>
                <a:spcPts val="0"/>
              </a:spcAft>
              <a:buClr>
                <a:schemeClr val="tx2"/>
              </a:buClr>
              <a:buSzTx/>
              <a:tabLst/>
            </a:pPr>
            <a:endParaRPr lang="en-US" sz="1100" kern="0" dirty="0">
              <a:latin typeface="+mn-lt"/>
            </a:endParaRPr>
          </a:p>
        </p:txBody>
      </p:sp>
      <p:sp>
        <p:nvSpPr>
          <p:cNvPr id="15" name="TextBox 14">
            <a:extLst>
              <a:ext uri="{FF2B5EF4-FFF2-40B4-BE49-F238E27FC236}">
                <a16:creationId xmlns:a16="http://schemas.microsoft.com/office/drawing/2014/main" id="{A7C42F9E-A5D9-1453-E55E-854027173331}"/>
              </a:ext>
            </a:extLst>
          </p:cNvPr>
          <p:cNvSpPr txBox="1"/>
          <p:nvPr/>
        </p:nvSpPr>
        <p:spPr bwMode="auto">
          <a:xfrm>
            <a:off x="2871095" y="4024657"/>
            <a:ext cx="8611531" cy="997004"/>
          </a:xfrm>
          <a:prstGeom prst="rect">
            <a:avLst/>
          </a:prstGeom>
          <a:noFill/>
          <a:ln w="9525">
            <a:noFill/>
            <a:miter lim="800000"/>
            <a:headEnd/>
            <a:tailEnd/>
          </a:ln>
          <a:effectLst/>
        </p:spPr>
        <p:txBody>
          <a:bodyPr wrap="square" lIns="0" tIns="0" rIns="0" bIns="0" rtlCol="0" anchor="t" anchorCtr="0">
            <a:spAutoFit/>
          </a:bodyPr>
          <a:lstStyle/>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Support for standard and applicable Zephyr OS Service, including Cryptography, Device Management, Power Management, TF-M</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dirty="0">
                <a:latin typeface="+mn-lt"/>
              </a:rPr>
              <a:t>Support for Device Management DFU/OTA within Zephyr (leveraging </a:t>
            </a:r>
            <a:r>
              <a:rPr lang="en-US" sz="1100" kern="0" dirty="0" err="1">
                <a:latin typeface="+mn-lt"/>
              </a:rPr>
              <a:t>MCUBoot</a:t>
            </a:r>
            <a:r>
              <a:rPr lang="en-US" sz="1100" kern="0" dirty="0">
                <a:latin typeface="+mn-lt"/>
              </a:rPr>
              <a:t>)</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Support for standard Zephyr connectivity: Zephyr Bluetooth LE Stack/Controller, Zephyr CAN, Zephyr Networking, Zephyr USB</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dirty="0">
                <a:solidFill>
                  <a:schemeClr val="accent1"/>
                </a:solidFill>
                <a:latin typeface="+mn-lt"/>
              </a:rPr>
              <a:t>Well documented support for out-of-tree middleware targeting key device differentiated software libraries (Apple Find My, CAPSENSE, Safety Test)</a:t>
            </a:r>
            <a:endParaRPr lang="en-US" sz="1100" kern="0" baseline="0" dirty="0">
              <a:solidFill>
                <a:schemeClr val="accent1"/>
              </a:solidFill>
              <a:latin typeface="+mn-lt"/>
              <a:ea typeface="+mn-ea"/>
              <a:cs typeface="+mn-cs"/>
            </a:endParaRPr>
          </a:p>
        </p:txBody>
      </p:sp>
      <p:sp>
        <p:nvSpPr>
          <p:cNvPr id="16" name="TextBox 15">
            <a:extLst>
              <a:ext uri="{FF2B5EF4-FFF2-40B4-BE49-F238E27FC236}">
                <a16:creationId xmlns:a16="http://schemas.microsoft.com/office/drawing/2014/main" id="{4E3850F2-F29A-FA4C-89B4-C58A18C24892}"/>
              </a:ext>
            </a:extLst>
          </p:cNvPr>
          <p:cNvSpPr txBox="1"/>
          <p:nvPr/>
        </p:nvSpPr>
        <p:spPr bwMode="auto">
          <a:xfrm>
            <a:off x="2871095" y="5225234"/>
            <a:ext cx="8611531" cy="793872"/>
          </a:xfrm>
          <a:prstGeom prst="rect">
            <a:avLst/>
          </a:prstGeom>
          <a:noFill/>
          <a:ln w="9525">
            <a:noFill/>
            <a:miter lim="800000"/>
            <a:headEnd/>
            <a:tailEnd/>
          </a:ln>
          <a:effectLst/>
        </p:spPr>
        <p:txBody>
          <a:bodyPr wrap="square" lIns="0" tIns="0" rIns="0" bIns="0" rtlCol="0" anchor="t" anchorCtr="0">
            <a:spAutoFit/>
          </a:bodyPr>
          <a:lstStyle/>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Active Platinum level membership in Zephyr engagement</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latin typeface="+mn-lt"/>
              </a:rPr>
              <a:t>Increased technical training and expertise across customer support contacts (FAE, AE)</a:t>
            </a:r>
          </a:p>
          <a:p>
            <a:pPr marL="171450" indent="-171450" defTabSz="576000" eaLnBrk="0" fontAlgn="auto" hangingPunct="0">
              <a:lnSpc>
                <a:spcPct val="120000"/>
              </a:lnSpc>
              <a:spcBef>
                <a:spcPts val="0"/>
              </a:spcBef>
              <a:spcAft>
                <a:spcPts val="0"/>
              </a:spcAft>
              <a:buClr>
                <a:schemeClr val="tx2"/>
              </a:buClr>
              <a:buFont typeface="Arial" panose="020B0604020202020204" pitchFamily="34" charset="0"/>
              <a:buChar char="•"/>
            </a:pPr>
            <a:r>
              <a:rPr lang="en-US" sz="1100" kern="0" dirty="0">
                <a:latin typeface="+mn-lt"/>
              </a:rPr>
              <a:t>Active contribution on technical steering committees and engagement with community</a:t>
            </a:r>
          </a:p>
          <a:p>
            <a:pPr marL="171450" marR="0" indent="-171450"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pPr>
            <a:r>
              <a:rPr lang="en-US" sz="1100" kern="0" dirty="0">
                <a:solidFill>
                  <a:schemeClr val="accent1"/>
                </a:solidFill>
                <a:latin typeface="+mn-lt"/>
              </a:rPr>
              <a:t>Targeted Zephyr marketing and advocacy efforts (webinars, meet-ups, conferences, whitepapers, events)</a:t>
            </a:r>
          </a:p>
        </p:txBody>
      </p:sp>
      <p:sp>
        <p:nvSpPr>
          <p:cNvPr id="17" name="TextBox 16">
            <a:extLst>
              <a:ext uri="{FF2B5EF4-FFF2-40B4-BE49-F238E27FC236}">
                <a16:creationId xmlns:a16="http://schemas.microsoft.com/office/drawing/2014/main" id="{E1B99DFA-5562-5F50-F8A8-238E5225007C}"/>
              </a:ext>
            </a:extLst>
          </p:cNvPr>
          <p:cNvSpPr txBox="1"/>
          <p:nvPr/>
        </p:nvSpPr>
        <p:spPr bwMode="auto">
          <a:xfrm>
            <a:off x="8160044" y="298042"/>
            <a:ext cx="1689688" cy="422873"/>
          </a:xfrm>
          <a:prstGeom prst="rect">
            <a:avLst/>
          </a:prstGeom>
          <a:noFill/>
          <a:ln w="9525">
            <a:noFill/>
            <a:miter lim="800000"/>
            <a:headEnd/>
            <a:tailEnd/>
          </a:ln>
          <a:effectLst/>
        </p:spPr>
        <p:txBody>
          <a:bodyPr wrap="square" lIns="0" tIns="0" rIns="0" bIns="0" rtlCol="0" anchor="t" anchorCtr="0">
            <a:spAutoFit/>
          </a:bodyPr>
          <a:lstStyle/>
          <a:p>
            <a:pPr marR="0" defTabSz="576000" eaLnBrk="0" fontAlgn="auto" latinLnBrk="0" hangingPunct="0">
              <a:lnSpc>
                <a:spcPct val="120000"/>
              </a:lnSpc>
              <a:spcBef>
                <a:spcPts val="0"/>
              </a:spcBef>
              <a:spcAft>
                <a:spcPts val="0"/>
              </a:spcAft>
              <a:buClr>
                <a:schemeClr val="tx2"/>
              </a:buClr>
              <a:buSzTx/>
              <a:tabLst/>
            </a:pPr>
            <a:r>
              <a:rPr lang="en-US" sz="1200" b="1" kern="0" dirty="0">
                <a:latin typeface="+mn-lt"/>
              </a:rPr>
              <a:t>Competitive support</a:t>
            </a:r>
          </a:p>
          <a:p>
            <a:pPr marR="0" defTabSz="576000" eaLnBrk="0" fontAlgn="auto" latinLnBrk="0" hangingPunct="0">
              <a:lnSpc>
                <a:spcPct val="120000"/>
              </a:lnSpc>
              <a:spcBef>
                <a:spcPts val="0"/>
              </a:spcBef>
              <a:spcAft>
                <a:spcPts val="0"/>
              </a:spcAft>
              <a:buClr>
                <a:schemeClr val="tx2"/>
              </a:buClr>
              <a:buSzTx/>
              <a:tabLst/>
            </a:pPr>
            <a:r>
              <a:rPr lang="en-US" sz="1200" b="1" kern="0" dirty="0">
                <a:solidFill>
                  <a:schemeClr val="accent1"/>
                </a:solidFill>
                <a:latin typeface="+mn-lt"/>
              </a:rPr>
              <a:t>Best-in-Class support</a:t>
            </a:r>
          </a:p>
        </p:txBody>
      </p:sp>
    </p:spTree>
    <p:extLst>
      <p:ext uri="{BB962C8B-B14F-4D97-AF65-F5344CB8AC3E}">
        <p14:creationId xmlns:p14="http://schemas.microsoft.com/office/powerpoint/2010/main" val="7309313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398C5-0A61-3ADB-BC43-22A30E8D6D61}"/>
            </a:ext>
          </a:extLst>
        </p:cNvPr>
        <p:cNvGrpSpPr/>
        <p:nvPr/>
      </p:nvGrpSpPr>
      <p:grpSpPr>
        <a:xfrm>
          <a:off x="0" y="0"/>
          <a:ext cx="0" cy="0"/>
          <a:chOff x="0" y="0"/>
          <a:chExt cx="0" cy="0"/>
        </a:xfrm>
      </p:grpSpPr>
      <p:sp>
        <p:nvSpPr>
          <p:cNvPr id="24" name="Rectangle: Rounded Corners 23">
            <a:extLst>
              <a:ext uri="{FF2B5EF4-FFF2-40B4-BE49-F238E27FC236}">
                <a16:creationId xmlns:a16="http://schemas.microsoft.com/office/drawing/2014/main" id="{C4A0B4D2-2BD9-F31E-637E-3B972CE36C89}"/>
              </a:ext>
            </a:extLst>
          </p:cNvPr>
          <p:cNvSpPr/>
          <p:nvPr/>
        </p:nvSpPr>
        <p:spPr bwMode="auto">
          <a:xfrm>
            <a:off x="2426805" y="2906034"/>
            <a:ext cx="5334000" cy="1447800"/>
          </a:xfrm>
          <a:prstGeom prst="roundRect">
            <a:avLst>
              <a:gd name="adj" fmla="val 9135"/>
            </a:avLst>
          </a:prstGeom>
          <a:solidFill>
            <a:schemeClr val="bg1">
              <a:lumMod val="85000"/>
            </a:schemeClr>
          </a:solidFill>
          <a:ln w="9525">
            <a:noFill/>
            <a:miter lim="800000"/>
            <a:headEnd/>
            <a:tailEnd/>
          </a:ln>
        </p:spPr>
        <p:txBody>
          <a:bodyPr wrap="square" lIns="72000" tIns="72000" rIns="72000" bIns="72000" rtlCol="0" anchor="b"/>
          <a:lstStyle/>
          <a:p>
            <a:pPr algn="ctr" defTabSz="576000" eaLnBrk="0" hangingPunct="0">
              <a:lnSpc>
                <a:spcPct val="120000"/>
              </a:lnSpc>
            </a:pPr>
            <a:r>
              <a:rPr lang="en-US" baseline="0" dirty="0">
                <a:latin typeface="+mn-lt"/>
                <a:ea typeface="+mn-ea"/>
                <a:cs typeface="+mn-cs"/>
              </a:rPr>
              <a:t>Baseline Support Submission</a:t>
            </a:r>
          </a:p>
        </p:txBody>
      </p:sp>
      <p:sp>
        <p:nvSpPr>
          <p:cNvPr id="2" name="Title 1">
            <a:extLst>
              <a:ext uri="{FF2B5EF4-FFF2-40B4-BE49-F238E27FC236}">
                <a16:creationId xmlns:a16="http://schemas.microsoft.com/office/drawing/2014/main" id="{E8D218DE-FC99-9C5F-03E7-2D1926CBCE41}"/>
              </a:ext>
            </a:extLst>
          </p:cNvPr>
          <p:cNvSpPr>
            <a:spLocks noGrp="1"/>
          </p:cNvSpPr>
          <p:nvPr>
            <p:ph type="title"/>
          </p:nvPr>
        </p:nvSpPr>
        <p:spPr/>
        <p:txBody>
          <a:bodyPr/>
          <a:lstStyle/>
          <a:p>
            <a:r>
              <a:rPr lang="en-US" dirty="0"/>
              <a:t>Understanding the Zephyr release process</a:t>
            </a:r>
          </a:p>
        </p:txBody>
      </p:sp>
      <p:sp>
        <p:nvSpPr>
          <p:cNvPr id="9" name="Rectangle: Rounded Corners 8">
            <a:extLst>
              <a:ext uri="{FF2B5EF4-FFF2-40B4-BE49-F238E27FC236}">
                <a16:creationId xmlns:a16="http://schemas.microsoft.com/office/drawing/2014/main" id="{E9F87250-5CD1-004A-46FD-4219379B2DBF}"/>
              </a:ext>
            </a:extLst>
          </p:cNvPr>
          <p:cNvSpPr/>
          <p:nvPr/>
        </p:nvSpPr>
        <p:spPr bwMode="auto">
          <a:xfrm>
            <a:off x="450330" y="1119394"/>
            <a:ext cx="1600200" cy="914400"/>
          </a:xfrm>
          <a:prstGeom prst="roundRect">
            <a:avLst/>
          </a:prstGeom>
          <a:solidFill>
            <a:srgbClr val="0A8276"/>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ModusToolbox™ Peripheral Driver Library (PDL)</a:t>
            </a:r>
          </a:p>
        </p:txBody>
      </p:sp>
      <p:sp>
        <p:nvSpPr>
          <p:cNvPr id="12" name="Rectangle: Rounded Corners 11">
            <a:extLst>
              <a:ext uri="{FF2B5EF4-FFF2-40B4-BE49-F238E27FC236}">
                <a16:creationId xmlns:a16="http://schemas.microsoft.com/office/drawing/2014/main" id="{20D77F38-D89A-9C3E-8108-EC5EE25FBED7}"/>
              </a:ext>
            </a:extLst>
          </p:cNvPr>
          <p:cNvSpPr/>
          <p:nvPr/>
        </p:nvSpPr>
        <p:spPr bwMode="auto">
          <a:xfrm>
            <a:off x="450330" y="2112434"/>
            <a:ext cx="4959870" cy="609600"/>
          </a:xfrm>
          <a:prstGeom prst="roundRect">
            <a:avLst/>
          </a:prstGeom>
          <a:solidFill>
            <a:srgbClr val="B9D257"/>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latin typeface="+mn-lt"/>
                <a:ea typeface="+mn-ea"/>
                <a:cs typeface="+mn-cs"/>
              </a:rPr>
              <a:t>Zephyr </a:t>
            </a:r>
            <a:r>
              <a:rPr lang="en-US" baseline="0" dirty="0" err="1">
                <a:latin typeface="+mn-lt"/>
                <a:ea typeface="+mn-ea"/>
                <a:cs typeface="+mn-cs"/>
              </a:rPr>
              <a:t>hal</a:t>
            </a:r>
            <a:r>
              <a:rPr lang="en-US" baseline="0" dirty="0">
                <a:latin typeface="+mn-lt"/>
                <a:ea typeface="+mn-ea"/>
                <a:cs typeface="+mn-cs"/>
              </a:rPr>
              <a:t> module for Infineon assets</a:t>
            </a:r>
          </a:p>
        </p:txBody>
      </p:sp>
      <p:sp>
        <p:nvSpPr>
          <p:cNvPr id="15" name="Rectangle: Rounded Corners 14">
            <a:extLst>
              <a:ext uri="{FF2B5EF4-FFF2-40B4-BE49-F238E27FC236}">
                <a16:creationId xmlns:a16="http://schemas.microsoft.com/office/drawing/2014/main" id="{B92A439B-4D27-97E0-404E-E97CF281241E}"/>
              </a:ext>
            </a:extLst>
          </p:cNvPr>
          <p:cNvSpPr/>
          <p:nvPr/>
        </p:nvSpPr>
        <p:spPr bwMode="auto">
          <a:xfrm>
            <a:off x="2126730" y="1119394"/>
            <a:ext cx="1600200" cy="914400"/>
          </a:xfrm>
          <a:prstGeom prst="roundRect">
            <a:avLst/>
          </a:prstGeom>
          <a:solidFill>
            <a:srgbClr val="0A8276"/>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Wi-Fi / Bluetooth Connectivity support</a:t>
            </a:r>
          </a:p>
        </p:txBody>
      </p:sp>
      <p:sp>
        <p:nvSpPr>
          <p:cNvPr id="16" name="Rectangle: Rounded Corners 15">
            <a:extLst>
              <a:ext uri="{FF2B5EF4-FFF2-40B4-BE49-F238E27FC236}">
                <a16:creationId xmlns:a16="http://schemas.microsoft.com/office/drawing/2014/main" id="{F9B67847-F0D8-F788-815E-C1ACC0F795C2}"/>
              </a:ext>
            </a:extLst>
          </p:cNvPr>
          <p:cNvSpPr/>
          <p:nvPr/>
        </p:nvSpPr>
        <p:spPr bwMode="auto">
          <a:xfrm>
            <a:off x="3810000" y="1119394"/>
            <a:ext cx="1600200" cy="914400"/>
          </a:xfrm>
          <a:prstGeom prst="roundRect">
            <a:avLst/>
          </a:prstGeom>
          <a:solidFill>
            <a:srgbClr val="0A8276"/>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Infineon specific modules / binary blobs</a:t>
            </a:r>
          </a:p>
        </p:txBody>
      </p:sp>
      <p:sp>
        <p:nvSpPr>
          <p:cNvPr id="17" name="Rectangle: Rounded Corners 16">
            <a:extLst>
              <a:ext uri="{FF2B5EF4-FFF2-40B4-BE49-F238E27FC236}">
                <a16:creationId xmlns:a16="http://schemas.microsoft.com/office/drawing/2014/main" id="{D304CC3F-D680-3EE1-CF55-A48C3F5EDA0D}"/>
              </a:ext>
            </a:extLst>
          </p:cNvPr>
          <p:cNvSpPr/>
          <p:nvPr/>
        </p:nvSpPr>
        <p:spPr bwMode="auto">
          <a:xfrm>
            <a:off x="2610435" y="3058434"/>
            <a:ext cx="1600200" cy="914400"/>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SOC / Device support</a:t>
            </a:r>
          </a:p>
        </p:txBody>
      </p:sp>
      <p:sp>
        <p:nvSpPr>
          <p:cNvPr id="18" name="Rectangle: Rounded Corners 17">
            <a:extLst>
              <a:ext uri="{FF2B5EF4-FFF2-40B4-BE49-F238E27FC236}">
                <a16:creationId xmlns:a16="http://schemas.microsoft.com/office/drawing/2014/main" id="{6CD99A34-BD67-3691-E7EC-A263ED27F305}"/>
              </a:ext>
            </a:extLst>
          </p:cNvPr>
          <p:cNvSpPr/>
          <p:nvPr/>
        </p:nvSpPr>
        <p:spPr bwMode="auto">
          <a:xfrm>
            <a:off x="5976975" y="3058434"/>
            <a:ext cx="1600200" cy="914400"/>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dirty="0">
                <a:solidFill>
                  <a:schemeClr val="bg1"/>
                </a:solidFill>
                <a:latin typeface="+mn-lt"/>
              </a:rPr>
              <a:t>Kernel and baseline </a:t>
            </a:r>
            <a:r>
              <a:rPr lang="en-US" baseline="0" dirty="0">
                <a:solidFill>
                  <a:schemeClr val="bg1"/>
                </a:solidFill>
                <a:latin typeface="+mn-lt"/>
                <a:ea typeface="+mn-ea"/>
                <a:cs typeface="+mn-cs"/>
              </a:rPr>
              <a:t>Support</a:t>
            </a:r>
          </a:p>
        </p:txBody>
      </p:sp>
      <p:sp>
        <p:nvSpPr>
          <p:cNvPr id="19" name="Rectangle: Rounded Corners 18">
            <a:extLst>
              <a:ext uri="{FF2B5EF4-FFF2-40B4-BE49-F238E27FC236}">
                <a16:creationId xmlns:a16="http://schemas.microsoft.com/office/drawing/2014/main" id="{CDBFDFFF-7FFF-F977-40DA-2AD628BF1438}"/>
              </a:ext>
            </a:extLst>
          </p:cNvPr>
          <p:cNvSpPr/>
          <p:nvPr/>
        </p:nvSpPr>
        <p:spPr bwMode="auto">
          <a:xfrm>
            <a:off x="8210629" y="4353834"/>
            <a:ext cx="1600200" cy="1393207"/>
          </a:xfrm>
          <a:prstGeom prst="roundRect">
            <a:avLst/>
          </a:prstGeom>
          <a:solidFill>
            <a:srgbClr val="B9D257"/>
          </a:solidFill>
          <a:ln w="9525">
            <a:noFill/>
            <a:miter lim="800000"/>
            <a:headEnd/>
            <a:tailEnd/>
          </a:ln>
        </p:spPr>
        <p:txBody>
          <a:bodyPr wrap="square" lIns="72000" tIns="72000" rIns="72000" bIns="72000" rtlCol="0" anchor="ctr"/>
          <a:lstStyle/>
          <a:p>
            <a:pPr algn="ctr" defTabSz="576000" eaLnBrk="0" hangingPunct="0">
              <a:lnSpc>
                <a:spcPct val="120000"/>
              </a:lnSpc>
            </a:pPr>
            <a:r>
              <a:rPr lang="en-US" b="1" baseline="0" dirty="0">
                <a:latin typeface="+mn-lt"/>
                <a:ea typeface="+mn-ea"/>
                <a:cs typeface="+mn-cs"/>
              </a:rPr>
              <a:t>Zephyr Project Git Repo</a:t>
            </a:r>
          </a:p>
        </p:txBody>
      </p:sp>
      <p:sp>
        <p:nvSpPr>
          <p:cNvPr id="20" name="Rectangle: Rounded Corners 19">
            <a:extLst>
              <a:ext uri="{FF2B5EF4-FFF2-40B4-BE49-F238E27FC236}">
                <a16:creationId xmlns:a16="http://schemas.microsoft.com/office/drawing/2014/main" id="{853A1A2F-FD6F-746A-BCAE-B91BBEAA1D81}"/>
              </a:ext>
            </a:extLst>
          </p:cNvPr>
          <p:cNvSpPr/>
          <p:nvPr/>
        </p:nvSpPr>
        <p:spPr bwMode="auto">
          <a:xfrm>
            <a:off x="4293705" y="3058434"/>
            <a:ext cx="1600200" cy="914400"/>
          </a:xfrm>
          <a:prstGeom prst="roundRect">
            <a:avLst/>
          </a:prstGeom>
          <a:solidFill>
            <a:schemeClr val="tx2"/>
          </a:solidFill>
          <a:ln w="9525">
            <a:no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Development board support</a:t>
            </a:r>
          </a:p>
        </p:txBody>
      </p:sp>
      <p:sp>
        <p:nvSpPr>
          <p:cNvPr id="22" name="Arrow: Bent 21">
            <a:extLst>
              <a:ext uri="{FF2B5EF4-FFF2-40B4-BE49-F238E27FC236}">
                <a16:creationId xmlns:a16="http://schemas.microsoft.com/office/drawing/2014/main" id="{6AE4571E-10D8-436A-1740-6EF428AA7810}"/>
              </a:ext>
            </a:extLst>
          </p:cNvPr>
          <p:cNvSpPr/>
          <p:nvPr/>
        </p:nvSpPr>
        <p:spPr bwMode="auto">
          <a:xfrm flipV="1">
            <a:off x="1124263" y="2786180"/>
            <a:ext cx="1231067" cy="958053"/>
          </a:xfrm>
          <a:prstGeom prst="bentArrow">
            <a:avLst>
              <a:gd name="adj1" fmla="val 21088"/>
              <a:gd name="adj2" fmla="val 25000"/>
              <a:gd name="adj3" fmla="val 25000"/>
              <a:gd name="adj4" fmla="val 43750"/>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latin typeface="+mn-lt"/>
              <a:ea typeface="+mn-ea"/>
              <a:cs typeface="+mn-cs"/>
            </a:endParaRPr>
          </a:p>
        </p:txBody>
      </p:sp>
      <p:sp>
        <p:nvSpPr>
          <p:cNvPr id="23" name="Rectangle: Rounded Corners 22">
            <a:extLst>
              <a:ext uri="{FF2B5EF4-FFF2-40B4-BE49-F238E27FC236}">
                <a16:creationId xmlns:a16="http://schemas.microsoft.com/office/drawing/2014/main" id="{1A99C30C-1CB4-EEAD-200B-82561DE58066}"/>
              </a:ext>
            </a:extLst>
          </p:cNvPr>
          <p:cNvSpPr/>
          <p:nvPr/>
        </p:nvSpPr>
        <p:spPr bwMode="auto">
          <a:xfrm>
            <a:off x="1198901" y="4518961"/>
            <a:ext cx="1600200" cy="914400"/>
          </a:xfrm>
          <a:prstGeom prst="roundRect">
            <a:avLst/>
          </a:prstGeom>
          <a:solidFill>
            <a:schemeClr val="tx2"/>
          </a:solidFill>
          <a:ln w="38100">
            <a:solidFill>
              <a:schemeClr val="bg1"/>
            </a:solid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Zephyr Driver API support</a:t>
            </a:r>
          </a:p>
        </p:txBody>
      </p:sp>
      <p:sp>
        <p:nvSpPr>
          <p:cNvPr id="25" name="Rectangle: Rounded Corners 24">
            <a:extLst>
              <a:ext uri="{FF2B5EF4-FFF2-40B4-BE49-F238E27FC236}">
                <a16:creationId xmlns:a16="http://schemas.microsoft.com/office/drawing/2014/main" id="{940FED66-B1FA-6D49-89F5-16F669699B07}"/>
              </a:ext>
            </a:extLst>
          </p:cNvPr>
          <p:cNvSpPr/>
          <p:nvPr/>
        </p:nvSpPr>
        <p:spPr bwMode="auto">
          <a:xfrm>
            <a:off x="1654345" y="4754665"/>
            <a:ext cx="1600200" cy="914400"/>
          </a:xfrm>
          <a:prstGeom prst="roundRect">
            <a:avLst/>
          </a:prstGeom>
          <a:solidFill>
            <a:schemeClr val="tx2"/>
          </a:solidFill>
          <a:ln w="38100">
            <a:solidFill>
              <a:schemeClr val="bg1"/>
            </a:solid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Zephyr Driver API support</a:t>
            </a:r>
          </a:p>
        </p:txBody>
      </p:sp>
      <p:sp>
        <p:nvSpPr>
          <p:cNvPr id="26" name="Rectangle: Rounded Corners 25">
            <a:extLst>
              <a:ext uri="{FF2B5EF4-FFF2-40B4-BE49-F238E27FC236}">
                <a16:creationId xmlns:a16="http://schemas.microsoft.com/office/drawing/2014/main" id="{D83F64D4-A798-E970-F54E-5DEB389E644E}"/>
              </a:ext>
            </a:extLst>
          </p:cNvPr>
          <p:cNvSpPr/>
          <p:nvPr/>
        </p:nvSpPr>
        <p:spPr bwMode="auto">
          <a:xfrm>
            <a:off x="2109789" y="4990369"/>
            <a:ext cx="1600200" cy="914400"/>
          </a:xfrm>
          <a:prstGeom prst="roundRect">
            <a:avLst/>
          </a:prstGeom>
          <a:solidFill>
            <a:schemeClr val="tx2"/>
          </a:solidFill>
          <a:ln w="38100">
            <a:solidFill>
              <a:schemeClr val="bg1"/>
            </a:solid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Zephyr Driver API support</a:t>
            </a:r>
          </a:p>
        </p:txBody>
      </p:sp>
      <p:sp>
        <p:nvSpPr>
          <p:cNvPr id="27" name="Rectangle: Rounded Corners 26">
            <a:extLst>
              <a:ext uri="{FF2B5EF4-FFF2-40B4-BE49-F238E27FC236}">
                <a16:creationId xmlns:a16="http://schemas.microsoft.com/office/drawing/2014/main" id="{26423C69-15F0-4616-7266-C110E19CD95C}"/>
              </a:ext>
            </a:extLst>
          </p:cNvPr>
          <p:cNvSpPr/>
          <p:nvPr/>
        </p:nvSpPr>
        <p:spPr bwMode="auto">
          <a:xfrm>
            <a:off x="2565233" y="5226074"/>
            <a:ext cx="1600200" cy="914400"/>
          </a:xfrm>
          <a:prstGeom prst="roundRect">
            <a:avLst/>
          </a:prstGeom>
          <a:solidFill>
            <a:schemeClr val="tx2"/>
          </a:solidFill>
          <a:ln w="38100">
            <a:solidFill>
              <a:schemeClr val="bg1"/>
            </a:solidFill>
            <a:miter lim="800000"/>
            <a:headEnd/>
            <a:tailEnd/>
          </a:ln>
        </p:spPr>
        <p:txBody>
          <a:bodyPr wrap="square" lIns="72000" tIns="72000" rIns="72000" bIns="72000" rtlCol="0" anchor="ctr"/>
          <a:lstStyle/>
          <a:p>
            <a:pPr algn="ctr" defTabSz="576000" eaLnBrk="0" hangingPunct="0">
              <a:lnSpc>
                <a:spcPct val="120000"/>
              </a:lnSpc>
            </a:pPr>
            <a:r>
              <a:rPr lang="en-US" baseline="0" dirty="0">
                <a:solidFill>
                  <a:schemeClr val="bg1"/>
                </a:solidFill>
                <a:latin typeface="+mn-lt"/>
                <a:ea typeface="+mn-ea"/>
                <a:cs typeface="+mn-cs"/>
              </a:rPr>
              <a:t>Zephyr Driver API support</a:t>
            </a:r>
          </a:p>
        </p:txBody>
      </p:sp>
      <p:sp>
        <p:nvSpPr>
          <p:cNvPr id="28" name="Arrow: Bent 27">
            <a:extLst>
              <a:ext uri="{FF2B5EF4-FFF2-40B4-BE49-F238E27FC236}">
                <a16:creationId xmlns:a16="http://schemas.microsoft.com/office/drawing/2014/main" id="{723ECC5C-E80D-6689-253F-2A9F48020068}"/>
              </a:ext>
            </a:extLst>
          </p:cNvPr>
          <p:cNvSpPr/>
          <p:nvPr/>
        </p:nvSpPr>
        <p:spPr bwMode="auto">
          <a:xfrm rot="16200000" flipH="1" flipV="1">
            <a:off x="8105618" y="3169924"/>
            <a:ext cx="843824" cy="1371599"/>
          </a:xfrm>
          <a:prstGeom prst="bentArrow">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latin typeface="+mn-lt"/>
              <a:ea typeface="+mn-ea"/>
              <a:cs typeface="+mn-cs"/>
            </a:endParaRPr>
          </a:p>
        </p:txBody>
      </p:sp>
      <p:sp>
        <p:nvSpPr>
          <p:cNvPr id="29" name="Arrow: Right 28">
            <a:extLst>
              <a:ext uri="{FF2B5EF4-FFF2-40B4-BE49-F238E27FC236}">
                <a16:creationId xmlns:a16="http://schemas.microsoft.com/office/drawing/2014/main" id="{F1138E35-3A40-3103-3E39-7438129DD1AA}"/>
              </a:ext>
            </a:extLst>
          </p:cNvPr>
          <p:cNvSpPr/>
          <p:nvPr/>
        </p:nvSpPr>
        <p:spPr bwMode="auto">
          <a:xfrm>
            <a:off x="4210635" y="4965179"/>
            <a:ext cx="3935895" cy="446397"/>
          </a:xfrm>
          <a:prstGeom prst="rightArrow">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latin typeface="+mn-lt"/>
              <a:ea typeface="+mn-ea"/>
              <a:cs typeface="+mn-cs"/>
            </a:endParaRPr>
          </a:p>
        </p:txBody>
      </p:sp>
      <p:sp>
        <p:nvSpPr>
          <p:cNvPr id="31" name="Speech Bubble: Rectangle 30">
            <a:extLst>
              <a:ext uri="{FF2B5EF4-FFF2-40B4-BE49-F238E27FC236}">
                <a16:creationId xmlns:a16="http://schemas.microsoft.com/office/drawing/2014/main" id="{4ED78321-02CB-3283-0518-52A203E9F639}"/>
              </a:ext>
            </a:extLst>
          </p:cNvPr>
          <p:cNvSpPr/>
          <p:nvPr/>
        </p:nvSpPr>
        <p:spPr bwMode="auto">
          <a:xfrm>
            <a:off x="5920138" y="1752434"/>
            <a:ext cx="1600200" cy="720000"/>
          </a:xfrm>
          <a:prstGeom prst="wedgeRectCallout">
            <a:avLst>
              <a:gd name="adj1" fmla="val -81723"/>
              <a:gd name="adj2" fmla="val 52090"/>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dirty="0">
                <a:latin typeface="+mn-lt"/>
              </a:rPr>
              <a:t>Submission to Zephyr community with cursory level review</a:t>
            </a:r>
            <a:endParaRPr lang="en-US" sz="1100" baseline="0" dirty="0">
              <a:latin typeface="+mn-lt"/>
              <a:ea typeface="+mn-ea"/>
              <a:cs typeface="+mn-cs"/>
            </a:endParaRPr>
          </a:p>
        </p:txBody>
      </p:sp>
      <p:sp>
        <p:nvSpPr>
          <p:cNvPr id="32" name="Speech Bubble: Rectangle 31">
            <a:extLst>
              <a:ext uri="{FF2B5EF4-FFF2-40B4-BE49-F238E27FC236}">
                <a16:creationId xmlns:a16="http://schemas.microsoft.com/office/drawing/2014/main" id="{A7D3FE94-6D4E-E695-93D8-605F8D0A92B2}"/>
              </a:ext>
            </a:extLst>
          </p:cNvPr>
          <p:cNvSpPr/>
          <p:nvPr/>
        </p:nvSpPr>
        <p:spPr bwMode="auto">
          <a:xfrm>
            <a:off x="9584689" y="2637568"/>
            <a:ext cx="2163853" cy="720000"/>
          </a:xfrm>
          <a:prstGeom prst="wedgeRectCallout">
            <a:avLst>
              <a:gd name="adj1" fmla="val -76385"/>
              <a:gd name="adj2" fmla="val 72910"/>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dirty="0">
                <a:latin typeface="+mn-lt"/>
              </a:rPr>
              <a:t>Baseline support submission to Zephyr community.  Requires review and acceptance.</a:t>
            </a:r>
            <a:endParaRPr lang="en-US" sz="1100" baseline="0" dirty="0">
              <a:latin typeface="+mn-lt"/>
              <a:ea typeface="+mn-ea"/>
              <a:cs typeface="+mn-cs"/>
            </a:endParaRPr>
          </a:p>
        </p:txBody>
      </p:sp>
      <p:sp>
        <p:nvSpPr>
          <p:cNvPr id="33" name="Speech Bubble: Rectangle 32">
            <a:extLst>
              <a:ext uri="{FF2B5EF4-FFF2-40B4-BE49-F238E27FC236}">
                <a16:creationId xmlns:a16="http://schemas.microsoft.com/office/drawing/2014/main" id="{57C67895-5FCE-F10F-8812-ADCF6211297D}"/>
              </a:ext>
            </a:extLst>
          </p:cNvPr>
          <p:cNvSpPr/>
          <p:nvPr/>
        </p:nvSpPr>
        <p:spPr bwMode="auto">
          <a:xfrm>
            <a:off x="4865557" y="5631148"/>
            <a:ext cx="2163853" cy="720000"/>
          </a:xfrm>
          <a:prstGeom prst="wedgeRectCallout">
            <a:avLst>
              <a:gd name="adj1" fmla="val 46925"/>
              <a:gd name="adj2" fmla="val -90524"/>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dirty="0">
                <a:latin typeface="+mn-lt"/>
              </a:rPr>
              <a:t>Subsequent submissions to Zephyr community for additional driver support.</a:t>
            </a:r>
            <a:endParaRPr lang="en-US" sz="1100" baseline="0" dirty="0">
              <a:latin typeface="+mn-lt"/>
              <a:ea typeface="+mn-ea"/>
              <a:cs typeface="+mn-cs"/>
            </a:endParaRPr>
          </a:p>
        </p:txBody>
      </p:sp>
      <p:sp>
        <p:nvSpPr>
          <p:cNvPr id="34" name="Speech Bubble: Rectangle 33">
            <a:extLst>
              <a:ext uri="{FF2B5EF4-FFF2-40B4-BE49-F238E27FC236}">
                <a16:creationId xmlns:a16="http://schemas.microsoft.com/office/drawing/2014/main" id="{50B3EA3E-B790-5B3E-4DA7-A93FB3FA350E}"/>
              </a:ext>
            </a:extLst>
          </p:cNvPr>
          <p:cNvSpPr/>
          <p:nvPr/>
        </p:nvSpPr>
        <p:spPr bwMode="auto">
          <a:xfrm>
            <a:off x="10148341" y="3932663"/>
            <a:ext cx="1600201" cy="954572"/>
          </a:xfrm>
          <a:prstGeom prst="wedgeRectCallout">
            <a:avLst>
              <a:gd name="adj1" fmla="val -70013"/>
              <a:gd name="adj2" fmla="val 43739"/>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dirty="0">
                <a:latin typeface="+mn-lt"/>
              </a:rPr>
              <a:t>Once submissions are approved, support is immediately available within the repository</a:t>
            </a:r>
            <a:endParaRPr lang="en-US" sz="1100" baseline="0" dirty="0">
              <a:latin typeface="+mn-lt"/>
              <a:ea typeface="+mn-ea"/>
              <a:cs typeface="+mn-cs"/>
            </a:endParaRPr>
          </a:p>
        </p:txBody>
      </p:sp>
      <p:sp>
        <p:nvSpPr>
          <p:cNvPr id="35" name="Speech Bubble: Rectangle 34">
            <a:extLst>
              <a:ext uri="{FF2B5EF4-FFF2-40B4-BE49-F238E27FC236}">
                <a16:creationId xmlns:a16="http://schemas.microsoft.com/office/drawing/2014/main" id="{CC6728E0-9A37-CBB3-91DA-07716CC5A4C3}"/>
              </a:ext>
            </a:extLst>
          </p:cNvPr>
          <p:cNvSpPr/>
          <p:nvPr/>
        </p:nvSpPr>
        <p:spPr bwMode="auto">
          <a:xfrm>
            <a:off x="10148341" y="5513862"/>
            <a:ext cx="1600201" cy="954572"/>
          </a:xfrm>
          <a:prstGeom prst="wedgeRectCallout">
            <a:avLst>
              <a:gd name="adj1" fmla="val -69543"/>
              <a:gd name="adj2" fmla="val -43416"/>
            </a:avLst>
          </a:prstGeom>
          <a:solidFill>
            <a:schemeClr val="bg1">
              <a:lumMod val="85000"/>
            </a:schemeClr>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dirty="0">
                <a:latin typeface="+mn-lt"/>
              </a:rPr>
              <a:t>Periodically Zephyr creates a release tag for all available content</a:t>
            </a:r>
            <a:endParaRPr lang="en-US" sz="1100" baseline="0" dirty="0">
              <a:latin typeface="+mn-lt"/>
              <a:ea typeface="+mn-ea"/>
              <a:cs typeface="+mn-cs"/>
            </a:endParaRPr>
          </a:p>
        </p:txBody>
      </p:sp>
      <p:sp>
        <p:nvSpPr>
          <p:cNvPr id="36" name="Rectangle 35">
            <a:extLst>
              <a:ext uri="{FF2B5EF4-FFF2-40B4-BE49-F238E27FC236}">
                <a16:creationId xmlns:a16="http://schemas.microsoft.com/office/drawing/2014/main" id="{C1B8DABF-5C78-FA11-6D80-1D5D6264E5FB}"/>
              </a:ext>
            </a:extLst>
          </p:cNvPr>
          <p:cNvSpPr/>
          <p:nvPr/>
        </p:nvSpPr>
        <p:spPr bwMode="auto">
          <a:xfrm>
            <a:off x="8010245" y="1039371"/>
            <a:ext cx="3283470" cy="1265052"/>
          </a:xfrm>
          <a:prstGeom prst="rect">
            <a:avLst/>
          </a:prstGeom>
          <a:solidFill>
            <a:srgbClr val="B9D257"/>
          </a:solidFill>
          <a:ln w="9525">
            <a:noFill/>
            <a:miter lim="800000"/>
            <a:headEnd/>
            <a:tailEnd/>
          </a:ln>
        </p:spPr>
        <p:txBody>
          <a:bodyPr wrap="square" lIns="72000" tIns="72000" rIns="72000" bIns="72000" rtlCol="0" anchor="ctr"/>
          <a:lstStyle/>
          <a:p>
            <a:pPr algn="ctr" defTabSz="576000" eaLnBrk="0" hangingPunct="0">
              <a:lnSpc>
                <a:spcPct val="120000"/>
              </a:lnSpc>
            </a:pPr>
            <a:r>
              <a:rPr lang="en-US" sz="1100" baseline="0" dirty="0">
                <a:latin typeface="+mn-lt"/>
                <a:ea typeface="+mn-ea"/>
                <a:cs typeface="+mn-cs"/>
              </a:rPr>
              <a:t>Zephyr support is done via a series of community submissions that are reviewed and merged into the community repository.  This process can take 8+ weeks depending on complexity and community bandwidth.</a:t>
            </a:r>
          </a:p>
        </p:txBody>
      </p:sp>
    </p:spTree>
    <p:extLst>
      <p:ext uri="{BB962C8B-B14F-4D97-AF65-F5344CB8AC3E}">
        <p14:creationId xmlns:p14="http://schemas.microsoft.com/office/powerpoint/2010/main" val="22670828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526264-420B-7658-0630-59B2F72EC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7132" y="908720"/>
            <a:ext cx="1585841" cy="1586899"/>
          </a:xfrm>
          <a:prstGeom prst="rect">
            <a:avLst/>
          </a:prstGeom>
        </p:spPr>
      </p:pic>
      <p:sp>
        <p:nvSpPr>
          <p:cNvPr id="7" name="Content Placeholder 6">
            <a:extLst>
              <a:ext uri="{FF2B5EF4-FFF2-40B4-BE49-F238E27FC236}">
                <a16:creationId xmlns:a16="http://schemas.microsoft.com/office/drawing/2014/main" id="{5C65DBDA-D094-17C0-36E8-7C6D6DFE7DB5}"/>
              </a:ext>
            </a:extLst>
          </p:cNvPr>
          <p:cNvSpPr>
            <a:spLocks noGrp="1"/>
          </p:cNvSpPr>
          <p:nvPr>
            <p:ph sz="quarter" idx="13"/>
          </p:nvPr>
        </p:nvSpPr>
        <p:spPr>
          <a:xfrm>
            <a:off x="334800" y="1363663"/>
            <a:ext cx="11520000" cy="5113337"/>
          </a:xfrm>
        </p:spPr>
        <p:txBody>
          <a:bodyPr/>
          <a:lstStyle/>
          <a:p>
            <a:r>
              <a:rPr b="1" dirty="0"/>
              <a:t>Zephyr 4.4.2 released August 2026</a:t>
            </a:r>
          </a:p>
          <a:p>
            <a:pPr lvl="1"/>
            <a:r>
              <a:rPr dirty="0"/>
              <a:t>Full Device Base support for PSOC™ Edge E84</a:t>
            </a:r>
          </a:p>
          <a:p>
            <a:pPr lvl="1"/>
            <a:r>
              <a:rPr dirty="0"/>
              <a:t>Full Device Base support for PSOC™ Control C3</a:t>
            </a:r>
          </a:p>
          <a:p>
            <a:pPr lvl="1"/>
            <a:r>
              <a:rPr dirty="0"/>
              <a:t>Expanded peripheral coverage: ADC, PWM, CAN FD, CAPSENSE</a:t>
            </a:r>
            <a:br>
              <a:rPr lang="en-US" dirty="0"/>
            </a:br>
            <a:endParaRPr dirty="0"/>
          </a:p>
          <a:p>
            <a:r>
              <a:rPr b="1" dirty="0">
                <a:solidFill>
                  <a:srgbClr val="0A8276"/>
                </a:solidFill>
              </a:rPr>
              <a:t>Near-term (Q3-Q4 CY2026)</a:t>
            </a:r>
          </a:p>
          <a:p>
            <a:pPr lvl="1"/>
            <a:r>
              <a:rPr dirty="0"/>
              <a:t>Continued PSOC™ Control C3 coverage (CAN FD, HPPASS ADC)</a:t>
            </a:r>
          </a:p>
          <a:p>
            <a:pPr lvl="1"/>
            <a:r>
              <a:rPr dirty="0"/>
              <a:t>Safety Test Library (IEC 60730) workflow integration</a:t>
            </a:r>
          </a:p>
          <a:p>
            <a:pPr lvl="1"/>
            <a:r>
              <a:rPr dirty="0"/>
              <a:t>PSE84 multi-core and TF-M / TrustZone security enablement</a:t>
            </a:r>
          </a:p>
          <a:p>
            <a:pPr lvl="1"/>
            <a:r>
              <a:rPr dirty="0"/>
              <a:t>PSOC™ 4 HV family expansion (HVMS, HVPA, 040T-AUTO)</a:t>
            </a:r>
          </a:p>
          <a:p>
            <a:pPr lvl="1"/>
            <a:r>
              <a:rPr dirty="0"/>
              <a:t>CAPSENSE™ Zephyr tooling integration</a:t>
            </a:r>
          </a:p>
          <a:p>
            <a:pPr lvl="1"/>
            <a:r>
              <a:rPr dirty="0"/>
              <a:t>TRAVEO™ / AURIX™ automotive enablement</a:t>
            </a:r>
          </a:p>
          <a:p>
            <a:pPr lvl="1"/>
            <a:r>
              <a:rPr dirty="0"/>
              <a:t>Tool enablement &amp; software ecosystem support across the Infineon Zephyr board fleet</a:t>
            </a:r>
          </a:p>
        </p:txBody>
      </p:sp>
      <p:sp>
        <p:nvSpPr>
          <p:cNvPr id="2" name="Title 1">
            <a:extLst>
              <a:ext uri="{FF2B5EF4-FFF2-40B4-BE49-F238E27FC236}">
                <a16:creationId xmlns:a16="http://schemas.microsoft.com/office/drawing/2014/main" id="{0984D846-F676-983D-9208-1E4A71B060D9}"/>
              </a:ext>
            </a:extLst>
          </p:cNvPr>
          <p:cNvSpPr>
            <a:spLocks noGrp="1"/>
          </p:cNvSpPr>
          <p:nvPr>
            <p:ph type="title"/>
          </p:nvPr>
        </p:nvSpPr>
        <p:spPr/>
        <p:txBody>
          <a:bodyPr/>
          <a:lstStyle/>
          <a:p>
            <a:r>
              <a:rPr lang="en-US" dirty="0"/>
              <a:t>Infineon Development Roadmap for Zephyr</a:t>
            </a:r>
          </a:p>
        </p:txBody>
      </p:sp>
      <p:pic>
        <p:nvPicPr>
          <p:cNvPr id="6" name="Picture 5" descr="A grey square with white text&#10;&#10;Description automatically generated">
            <a:extLst>
              <a:ext uri="{FF2B5EF4-FFF2-40B4-BE49-F238E27FC236}">
                <a16:creationId xmlns:a16="http://schemas.microsoft.com/office/drawing/2014/main" id="{1AC84BB0-6185-5848-3EE1-606463079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3419" y="1828800"/>
            <a:ext cx="1455021" cy="1371600"/>
          </a:xfrm>
          <a:prstGeom prst="rect">
            <a:avLst/>
          </a:prstGeom>
        </p:spPr>
      </p:pic>
      <p:pic>
        <p:nvPicPr>
          <p:cNvPr id="8" name="Picture 7" descr="A grey square with white text&#10;&#10;Description automatically generated">
            <a:extLst>
              <a:ext uri="{FF2B5EF4-FFF2-40B4-BE49-F238E27FC236}">
                <a16:creationId xmlns:a16="http://schemas.microsoft.com/office/drawing/2014/main" id="{F6E70CDE-EB91-1A6D-E968-5D45AC98AC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58400" y="2767965"/>
            <a:ext cx="1428750" cy="1346835"/>
          </a:xfrm>
          <a:prstGeom prst="rect">
            <a:avLst/>
          </a:prstGeom>
        </p:spPr>
      </p:pic>
      <p:pic>
        <p:nvPicPr>
          <p:cNvPr id="5" name="Picture 4" descr="A grey square object with white text&#10;&#10;AI-generated content may be incorrect.">
            <a:extLst>
              <a:ext uri="{FF2B5EF4-FFF2-40B4-BE49-F238E27FC236}">
                <a16:creationId xmlns:a16="http://schemas.microsoft.com/office/drawing/2014/main" id="{7DD8E125-97A5-F21B-78A0-0A6C35D91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82200" y="4501037"/>
            <a:ext cx="1425921" cy="1344168"/>
          </a:xfrm>
          <a:prstGeom prst="rect">
            <a:avLst/>
          </a:prstGeom>
        </p:spPr>
      </p:pic>
      <p:pic>
        <p:nvPicPr>
          <p:cNvPr id="10" name="Picture 9">
            <a:extLst>
              <a:ext uri="{FF2B5EF4-FFF2-40B4-BE49-F238E27FC236}">
                <a16:creationId xmlns:a16="http://schemas.microsoft.com/office/drawing/2014/main" id="{867080BA-823A-278A-8BEE-3C7CD688B3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82000" y="3532632"/>
            <a:ext cx="1425921" cy="1344168"/>
          </a:xfrm>
          <a:prstGeom prst="rect">
            <a:avLst/>
          </a:prstGeom>
        </p:spPr>
      </p:pic>
    </p:spTree>
    <p:extLst>
      <p:ext uri="{BB962C8B-B14F-4D97-AF65-F5344CB8AC3E}">
        <p14:creationId xmlns:p14="http://schemas.microsoft.com/office/powerpoint/2010/main" val="5367378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6ADC231-778D-FF78-5969-ACE87784F43D}"/>
              </a:ext>
            </a:extLst>
          </p:cNvPr>
          <p:cNvSpPr>
            <a:spLocks noGrp="1"/>
          </p:cNvSpPr>
          <p:nvPr>
            <p:ph sz="quarter" idx="13"/>
          </p:nvPr>
        </p:nvSpPr>
        <p:spPr>
          <a:xfrm>
            <a:off x="838200" y="2770485"/>
            <a:ext cx="4572000" cy="3720867"/>
          </a:xfrm>
        </p:spPr>
        <p:txBody>
          <a:bodyPr/>
          <a:lstStyle/>
          <a:p>
            <a:pPr>
              <a:spcAft>
                <a:spcPts val="600"/>
              </a:spcAft>
            </a:pPr>
            <a:r>
              <a:rPr lang="en-US" sz="1600" dirty="0"/>
              <a:t>IDE support, including </a:t>
            </a:r>
            <a:r>
              <a:rPr lang="en-US" sz="1600" dirty="0">
                <a:solidFill>
                  <a:schemeClr val="tx2"/>
                </a:solidFill>
              </a:rPr>
              <a:t>Eclipse IDE</a:t>
            </a:r>
            <a:r>
              <a:rPr lang="en-US" sz="1600" dirty="0"/>
              <a:t>, </a:t>
            </a:r>
            <a:br>
              <a:rPr lang="en-US" sz="1600" dirty="0"/>
            </a:br>
            <a:r>
              <a:rPr lang="en-US" sz="1600" dirty="0">
                <a:solidFill>
                  <a:schemeClr val="tx2"/>
                </a:solidFill>
              </a:rPr>
              <a:t>VS Code</a:t>
            </a:r>
            <a:r>
              <a:rPr lang="en-US" sz="1600" dirty="0"/>
              <a:t>, and </a:t>
            </a:r>
            <a:r>
              <a:rPr lang="en-US" sz="1600" dirty="0">
                <a:solidFill>
                  <a:schemeClr val="tx2"/>
                </a:solidFill>
              </a:rPr>
              <a:t>3</a:t>
            </a:r>
            <a:r>
              <a:rPr lang="en-US" sz="1600" baseline="30000" dirty="0">
                <a:solidFill>
                  <a:schemeClr val="tx2"/>
                </a:solidFill>
              </a:rPr>
              <a:t>rd</a:t>
            </a:r>
            <a:r>
              <a:rPr lang="en-US" sz="1600" dirty="0">
                <a:solidFill>
                  <a:schemeClr val="tx2"/>
                </a:solidFill>
              </a:rPr>
              <a:t> party IDEs</a:t>
            </a:r>
            <a:r>
              <a:rPr lang="en-US" sz="1600" dirty="0"/>
              <a:t>.</a:t>
            </a:r>
          </a:p>
          <a:p>
            <a:pPr>
              <a:spcAft>
                <a:spcPts val="600"/>
              </a:spcAft>
            </a:pPr>
            <a:r>
              <a:rPr lang="en-US" sz="1600" dirty="0"/>
              <a:t>Support for GCC, IAR, and Arm compilers using ‘</a:t>
            </a:r>
            <a:r>
              <a:rPr lang="en-US" sz="1600" dirty="0">
                <a:solidFill>
                  <a:schemeClr val="tx2"/>
                </a:solidFill>
              </a:rPr>
              <a:t>make</a:t>
            </a:r>
            <a:r>
              <a:rPr lang="en-US" sz="1600" dirty="0"/>
              <a:t>’ based </a:t>
            </a:r>
            <a:r>
              <a:rPr lang="en-US" sz="1600" dirty="0">
                <a:solidFill>
                  <a:schemeClr val="tx2"/>
                </a:solidFill>
              </a:rPr>
              <a:t>ModusToolbox™ build system</a:t>
            </a:r>
            <a:r>
              <a:rPr lang="en-US" sz="1600" dirty="0"/>
              <a:t>.</a:t>
            </a:r>
          </a:p>
          <a:p>
            <a:pPr>
              <a:spcAft>
                <a:spcPts val="600"/>
              </a:spcAft>
            </a:pPr>
            <a:r>
              <a:rPr lang="en-US" sz="1600" dirty="0"/>
              <a:t>Graphical </a:t>
            </a:r>
            <a:r>
              <a:rPr lang="en-US" sz="1600" dirty="0">
                <a:solidFill>
                  <a:schemeClr val="tx2"/>
                </a:solidFill>
              </a:rPr>
              <a:t>UI configurations </a:t>
            </a:r>
            <a:r>
              <a:rPr lang="en-US" sz="1600" dirty="0"/>
              <a:t>tool</a:t>
            </a:r>
          </a:p>
          <a:p>
            <a:pPr>
              <a:spcAft>
                <a:spcPts val="600"/>
              </a:spcAft>
            </a:pPr>
            <a:r>
              <a:rPr lang="en-US" sz="1600" dirty="0"/>
              <a:t>Leverages </a:t>
            </a:r>
            <a:r>
              <a:rPr lang="en-US" sz="1600" dirty="0">
                <a:solidFill>
                  <a:schemeClr val="tx2"/>
                </a:solidFill>
              </a:rPr>
              <a:t>Infineon developed </a:t>
            </a:r>
            <a:r>
              <a:rPr lang="en-US" sz="1600" dirty="0"/>
              <a:t>low-level drivers, middleware abstraction, middleware, and code examples.</a:t>
            </a:r>
          </a:p>
          <a:p>
            <a:pPr>
              <a:spcAft>
                <a:spcPts val="600"/>
              </a:spcAft>
            </a:pPr>
            <a:r>
              <a:rPr lang="en-US" sz="1600" dirty="0"/>
              <a:t>Enables key partner middleware via </a:t>
            </a:r>
            <a:r>
              <a:rPr lang="en-US" sz="1600" dirty="0">
                <a:solidFill>
                  <a:srgbClr val="0A8276"/>
                </a:solidFill>
              </a:rPr>
              <a:t>ModusToolbox™ &amp; Friends </a:t>
            </a:r>
            <a:r>
              <a:rPr lang="en-US" sz="1600" dirty="0"/>
              <a:t>program </a:t>
            </a:r>
          </a:p>
        </p:txBody>
      </p:sp>
      <p:sp>
        <p:nvSpPr>
          <p:cNvPr id="2" name="Title 1">
            <a:extLst>
              <a:ext uri="{FF2B5EF4-FFF2-40B4-BE49-F238E27FC236}">
                <a16:creationId xmlns:a16="http://schemas.microsoft.com/office/drawing/2014/main" id="{023FA8F0-4622-094A-E2EB-77C4E8D9A731}"/>
              </a:ext>
            </a:extLst>
          </p:cNvPr>
          <p:cNvSpPr>
            <a:spLocks noGrp="1"/>
          </p:cNvSpPr>
          <p:nvPr>
            <p:ph type="title"/>
          </p:nvPr>
        </p:nvSpPr>
        <p:spPr/>
        <p:txBody>
          <a:bodyPr/>
          <a:lstStyle/>
          <a:p>
            <a:r>
              <a:rPr lang="en-US" dirty="0"/>
              <a:t>Understanding ModusToolbox™ and Zephyr</a:t>
            </a:r>
          </a:p>
        </p:txBody>
      </p:sp>
      <p:pic>
        <p:nvPicPr>
          <p:cNvPr id="6" name="Google Shape;546;p78">
            <a:extLst>
              <a:ext uri="{FF2B5EF4-FFF2-40B4-BE49-F238E27FC236}">
                <a16:creationId xmlns:a16="http://schemas.microsoft.com/office/drawing/2014/main" id="{7D4CFD01-AC3E-7E15-0533-3D0E15C66395}"/>
              </a:ext>
            </a:extLst>
          </p:cNvPr>
          <p:cNvPicPr preferRelativeResize="0"/>
          <p:nvPr/>
        </p:nvPicPr>
        <p:blipFill rotWithShape="1">
          <a:blip r:embed="rId2">
            <a:alphaModFix/>
          </a:blip>
          <a:srcRect/>
          <a:stretch/>
        </p:blipFill>
        <p:spPr>
          <a:xfrm>
            <a:off x="5486400" y="1298295"/>
            <a:ext cx="2249129" cy="1173619"/>
          </a:xfrm>
          <a:prstGeom prst="rect">
            <a:avLst/>
          </a:prstGeom>
          <a:noFill/>
          <a:ln>
            <a:noFill/>
          </a:ln>
        </p:spPr>
      </p:pic>
      <p:pic>
        <p:nvPicPr>
          <p:cNvPr id="8" name="Picture 7" descr="A diagram of software tools&#10;&#10;Description automatically generated">
            <a:extLst>
              <a:ext uri="{FF2B5EF4-FFF2-40B4-BE49-F238E27FC236}">
                <a16:creationId xmlns:a16="http://schemas.microsoft.com/office/drawing/2014/main" id="{58FB3127-D5DF-EC33-FCE2-FDF361CB96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1160827"/>
            <a:ext cx="1371600" cy="1366126"/>
          </a:xfrm>
          <a:prstGeom prst="rect">
            <a:avLst/>
          </a:prstGeom>
        </p:spPr>
      </p:pic>
      <p:sp>
        <p:nvSpPr>
          <p:cNvPr id="12" name="Content Placeholder 8">
            <a:extLst>
              <a:ext uri="{FF2B5EF4-FFF2-40B4-BE49-F238E27FC236}">
                <a16:creationId xmlns:a16="http://schemas.microsoft.com/office/drawing/2014/main" id="{7FA7BCDF-6320-2590-7708-71875FECA71F}"/>
              </a:ext>
            </a:extLst>
          </p:cNvPr>
          <p:cNvSpPr txBox="1">
            <a:spLocks/>
          </p:cNvSpPr>
          <p:nvPr/>
        </p:nvSpPr>
        <p:spPr>
          <a:xfrm>
            <a:off x="6096000" y="2770485"/>
            <a:ext cx="5029200" cy="3181351"/>
          </a:xfrm>
          <a:prstGeom prst="rect">
            <a:avLst/>
          </a:prstGeom>
        </p:spPr>
        <p:txBody>
          <a:bodyPr vert="horz" lIns="0" tIns="0" rIns="0" bIns="0" rtlCol="0">
            <a:noAutofit/>
          </a:bodyPr>
          <a:lstStyle>
            <a:lvl1pPr marL="252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800" baseline="0">
                <a:solidFill>
                  <a:schemeClr val="tx1"/>
                </a:solidFill>
                <a:latin typeface="+mn-lt"/>
                <a:ea typeface="+mn-ea"/>
                <a:cs typeface="+mn-cs"/>
              </a:defRPr>
            </a:lvl1pPr>
            <a:lvl2pPr marL="504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600">
                <a:solidFill>
                  <a:schemeClr val="tx1"/>
                </a:solidFill>
                <a:latin typeface="+mn-lt"/>
                <a:ea typeface="+mn-ea"/>
                <a:cs typeface="+mn-cs"/>
              </a:defRPr>
            </a:lvl2pPr>
            <a:lvl3pPr marL="756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3pPr>
            <a:lvl4pPr marL="1008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4pPr>
            <a:lvl5pPr marL="1260000" indent="-252000" algn="l" defTabSz="576000" rtl="0" eaLnBrk="1" fontAlgn="base" hangingPunct="1">
              <a:lnSpc>
                <a:spcPct val="120000"/>
              </a:lnSpc>
              <a:spcBef>
                <a:spcPts val="0"/>
              </a:spcBef>
              <a:spcAft>
                <a:spcPts val="0"/>
              </a:spcAft>
              <a:buClr>
                <a:schemeClr val="tx2"/>
              </a:buClr>
              <a:buSzPct val="100000"/>
              <a:buFont typeface="Arial" panose="020B0604020202020204" pitchFamily="34" charset="0"/>
              <a:buChar char="‒"/>
              <a:defRPr sz="1400" baseline="0">
                <a:solidFill>
                  <a:schemeClr val="tx1"/>
                </a:solidFill>
                <a:latin typeface="+mn-lt"/>
                <a:ea typeface="+mn-ea"/>
                <a:cs typeface="+mn-cs"/>
              </a:defRPr>
            </a:lvl5pPr>
            <a:lvl6pPr marL="1260000" indent="-252000" algn="l" defTabSz="576000" rtl="0" eaLnBrk="1" fontAlgn="base" hangingPunct="1">
              <a:lnSpc>
                <a:spcPct val="120000"/>
              </a:lnSpc>
              <a:spcBef>
                <a:spcPts val="0"/>
              </a:spcBef>
              <a:spcAft>
                <a:spcPts val="0"/>
              </a:spcAft>
              <a:buClr>
                <a:schemeClr val="tx2"/>
              </a:buClr>
              <a:buFont typeface="Arial" panose="020B0604020202020204" pitchFamily="34" charset="0"/>
              <a:buChar char="‒"/>
              <a:defRPr sz="1400" baseline="0">
                <a:solidFill>
                  <a:schemeClr val="tx1"/>
                </a:solidFill>
                <a:latin typeface="+mn-lt"/>
                <a:cs typeface="+mn-cs"/>
              </a:defRPr>
            </a:lvl6pPr>
            <a:lvl7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7pPr>
            <a:lvl8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8pPr>
            <a:lvl9pPr marL="1260000" indent="-252000" algn="l" defTabSz="576000" rtl="0" eaLnBrk="1" fontAlgn="base" hangingPunct="1">
              <a:lnSpc>
                <a:spcPct val="120000"/>
              </a:lnSpc>
              <a:spcBef>
                <a:spcPts val="0"/>
              </a:spcBef>
              <a:spcAft>
                <a:spcPct val="0"/>
              </a:spcAft>
              <a:buClr>
                <a:schemeClr val="tx2"/>
              </a:buClr>
              <a:buFont typeface="Arial" panose="020B0604020202020204" pitchFamily="34" charset="0"/>
              <a:buChar char="‒"/>
              <a:defRPr sz="1400">
                <a:solidFill>
                  <a:schemeClr val="tx1"/>
                </a:solidFill>
                <a:latin typeface="+mn-lt"/>
                <a:cs typeface="+mn-cs"/>
              </a:defRPr>
            </a:lvl9pPr>
          </a:lstStyle>
          <a:p>
            <a:pPr>
              <a:spcAft>
                <a:spcPts val="600"/>
              </a:spcAft>
            </a:pPr>
            <a:r>
              <a:rPr lang="en-US" sz="1600" kern="0" dirty="0"/>
              <a:t>Targeted at </a:t>
            </a:r>
            <a:r>
              <a:rPr lang="en-US" sz="1600" kern="0" dirty="0">
                <a:solidFill>
                  <a:schemeClr val="accent6"/>
                </a:solidFill>
              </a:rPr>
              <a:t>command-line users </a:t>
            </a:r>
            <a:r>
              <a:rPr lang="en-US" sz="1600" kern="0" dirty="0"/>
              <a:t>with some community support for </a:t>
            </a:r>
            <a:r>
              <a:rPr lang="en-US" sz="1600" kern="0" dirty="0">
                <a:solidFill>
                  <a:schemeClr val="accent6"/>
                </a:solidFill>
              </a:rPr>
              <a:t>VS Code</a:t>
            </a:r>
            <a:r>
              <a:rPr lang="en-US" sz="1600" kern="0" dirty="0"/>
              <a:t>.</a:t>
            </a:r>
          </a:p>
          <a:p>
            <a:pPr>
              <a:spcAft>
                <a:spcPts val="600"/>
              </a:spcAft>
            </a:pPr>
            <a:r>
              <a:rPr lang="en-US" sz="1600" kern="0" dirty="0"/>
              <a:t>Default support for GCC compiler using ‘</a:t>
            </a:r>
            <a:r>
              <a:rPr lang="en-US" sz="1600" kern="0" dirty="0">
                <a:solidFill>
                  <a:schemeClr val="accent6"/>
                </a:solidFill>
              </a:rPr>
              <a:t>west</a:t>
            </a:r>
            <a:r>
              <a:rPr lang="en-US" sz="1600" kern="0" dirty="0"/>
              <a:t>’ based </a:t>
            </a:r>
            <a:r>
              <a:rPr lang="en-US" sz="1600" kern="0" dirty="0">
                <a:solidFill>
                  <a:schemeClr val="accent6"/>
                </a:solidFill>
              </a:rPr>
              <a:t>Zephyr build environment</a:t>
            </a:r>
            <a:r>
              <a:rPr lang="en-US" sz="1600" kern="0" dirty="0"/>
              <a:t>.  Additional toolchains are now being supported. </a:t>
            </a:r>
          </a:p>
          <a:p>
            <a:pPr>
              <a:spcAft>
                <a:spcPts val="600"/>
              </a:spcAft>
            </a:pPr>
            <a:r>
              <a:rPr lang="en-US" sz="1600" kern="0" dirty="0"/>
              <a:t>Text-based configuration via </a:t>
            </a:r>
            <a:r>
              <a:rPr lang="en-US" sz="1600" kern="0" dirty="0" err="1">
                <a:solidFill>
                  <a:schemeClr val="accent6"/>
                </a:solidFill>
              </a:rPr>
              <a:t>Kconfig</a:t>
            </a:r>
            <a:endParaRPr lang="en-US" sz="1600" kern="0" dirty="0">
              <a:solidFill>
                <a:schemeClr val="accent6"/>
              </a:solidFill>
            </a:endParaRPr>
          </a:p>
          <a:p>
            <a:pPr>
              <a:spcAft>
                <a:spcPts val="600"/>
              </a:spcAft>
            </a:pPr>
            <a:r>
              <a:rPr lang="en-US" sz="1600" kern="0" dirty="0"/>
              <a:t>Leverages vendor provided device support; Infineon support based on </a:t>
            </a:r>
            <a:r>
              <a:rPr lang="en-US" sz="1600" kern="0" dirty="0">
                <a:solidFill>
                  <a:schemeClr val="accent6"/>
                </a:solidFill>
              </a:rPr>
              <a:t>low-level drivers</a:t>
            </a:r>
            <a:r>
              <a:rPr lang="en-US" sz="1600" kern="0" dirty="0"/>
              <a:t>.</a:t>
            </a:r>
          </a:p>
          <a:p>
            <a:pPr>
              <a:spcAft>
                <a:spcPts val="600"/>
              </a:spcAft>
            </a:pPr>
            <a:r>
              <a:rPr lang="en-US" sz="1600" kern="0" dirty="0">
                <a:solidFill>
                  <a:schemeClr val="accent6"/>
                </a:solidFill>
              </a:rPr>
              <a:t>Community contributed</a:t>
            </a:r>
            <a:r>
              <a:rPr lang="en-US" sz="1600" kern="0" dirty="0"/>
              <a:t> middleware, with support for Zephyr defined driver API, stacks, and RTOS.</a:t>
            </a:r>
          </a:p>
        </p:txBody>
      </p:sp>
      <p:sp>
        <p:nvSpPr>
          <p:cNvPr id="18" name="TextBox 17">
            <a:extLst>
              <a:ext uri="{FF2B5EF4-FFF2-40B4-BE49-F238E27FC236}">
                <a16:creationId xmlns:a16="http://schemas.microsoft.com/office/drawing/2014/main" id="{3AEF1385-2180-9A4A-79FA-2B8E30DF6134}"/>
              </a:ext>
            </a:extLst>
          </p:cNvPr>
          <p:cNvSpPr txBox="1"/>
          <p:nvPr/>
        </p:nvSpPr>
        <p:spPr bwMode="auto">
          <a:xfrm>
            <a:off x="1905000" y="1409332"/>
            <a:ext cx="3352800" cy="951543"/>
          </a:xfrm>
          <a:prstGeom prst="rect">
            <a:avLst/>
          </a:prstGeom>
          <a:noFill/>
          <a:ln w="9525">
            <a:noFill/>
            <a:miter lim="800000"/>
            <a:headEnd/>
            <a:tailEnd/>
          </a:ln>
          <a:effectLst/>
        </p:spPr>
        <p:txBody>
          <a:bodyPr wrap="square">
            <a:spAutoFit/>
          </a:bodyPr>
          <a:lstStyle/>
          <a:p>
            <a:pPr marL="252000" marR="0" lvl="0" indent="-252000" algn="l" defTabSz="576000" rtl="0" eaLnBrk="1" fontAlgn="base" latinLnBrk="0" hangingPunct="1">
              <a:lnSpc>
                <a:spcPct val="120000"/>
              </a:lnSpc>
              <a:spcBef>
                <a:spcPts val="0"/>
              </a:spcBef>
              <a:spcAft>
                <a:spcPts val="600"/>
              </a:spcAft>
              <a:buClr>
                <a:srgbClr val="0A8276"/>
              </a:buClr>
              <a:buSzPct val="100000"/>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a:cs typeface="Arial"/>
              </a:rPr>
              <a:t>Provides a </a:t>
            </a:r>
            <a:r>
              <a:rPr kumimoji="0" lang="en-US" sz="1600" b="0" i="0" u="none" strike="noStrike" kern="0" cap="none" spc="0" normalizeH="0" baseline="0" noProof="0" dirty="0">
                <a:ln>
                  <a:noFill/>
                </a:ln>
                <a:solidFill>
                  <a:srgbClr val="0A8276"/>
                </a:solidFill>
                <a:effectLst/>
                <a:uLnTx/>
                <a:uFillTx/>
                <a:latin typeface="Arial"/>
                <a:cs typeface="Arial"/>
              </a:rPr>
              <a:t>targeted ecosystem </a:t>
            </a:r>
            <a:r>
              <a:rPr kumimoji="0" lang="en-US" sz="1600" b="0" i="0" u="none" strike="noStrike" kern="0" cap="none" spc="0" normalizeH="0" baseline="0" noProof="0" dirty="0">
                <a:ln>
                  <a:noFill/>
                </a:ln>
                <a:solidFill>
                  <a:srgbClr val="1D1D1D"/>
                </a:solidFill>
                <a:effectLst/>
                <a:uLnTx/>
                <a:uFillTx/>
                <a:latin typeface="Arial"/>
                <a:cs typeface="Arial"/>
              </a:rPr>
              <a:t>focused on development of </a:t>
            </a:r>
            <a:r>
              <a:rPr kumimoji="0" lang="en-US" sz="1600" b="0" i="0" u="none" strike="noStrike" kern="0" cap="none" spc="0" normalizeH="0" baseline="0" noProof="0" dirty="0">
                <a:ln>
                  <a:noFill/>
                </a:ln>
                <a:solidFill>
                  <a:srgbClr val="0A8276"/>
                </a:solidFill>
                <a:effectLst/>
                <a:uLnTx/>
                <a:uFillTx/>
                <a:latin typeface="Arial"/>
                <a:cs typeface="Arial"/>
              </a:rPr>
              <a:t>Infineon devices</a:t>
            </a:r>
            <a:r>
              <a:rPr kumimoji="0" lang="en-US" sz="1600" b="0" i="0" u="none" strike="noStrike" kern="0" cap="none" spc="0" normalizeH="0" baseline="0" noProof="0" dirty="0">
                <a:ln>
                  <a:noFill/>
                </a:ln>
                <a:solidFill>
                  <a:srgbClr val="1D1D1D"/>
                </a:solidFill>
                <a:effectLst/>
                <a:uLnTx/>
                <a:uFillTx/>
                <a:latin typeface="Arial"/>
                <a:cs typeface="Arial"/>
              </a:rPr>
              <a:t>.</a:t>
            </a:r>
          </a:p>
        </p:txBody>
      </p:sp>
      <p:sp>
        <p:nvSpPr>
          <p:cNvPr id="22" name="TextBox 21">
            <a:extLst>
              <a:ext uri="{FF2B5EF4-FFF2-40B4-BE49-F238E27FC236}">
                <a16:creationId xmlns:a16="http://schemas.microsoft.com/office/drawing/2014/main" id="{F34EDFDB-1695-28B6-B1C5-6439B33CB782}"/>
              </a:ext>
            </a:extLst>
          </p:cNvPr>
          <p:cNvSpPr txBox="1"/>
          <p:nvPr/>
        </p:nvSpPr>
        <p:spPr bwMode="auto">
          <a:xfrm>
            <a:off x="7620000" y="1372044"/>
            <a:ext cx="3505200" cy="1247008"/>
          </a:xfrm>
          <a:prstGeom prst="rect">
            <a:avLst/>
          </a:prstGeom>
          <a:noFill/>
          <a:ln w="9525">
            <a:noFill/>
            <a:miter lim="800000"/>
            <a:headEnd/>
            <a:tailEnd/>
          </a:ln>
          <a:effectLst/>
        </p:spPr>
        <p:txBody>
          <a:bodyPr wrap="square">
            <a:spAutoFit/>
          </a:bodyPr>
          <a:lstStyle/>
          <a:p>
            <a:pPr marL="285750" marR="0" lvl="0" indent="-285750" algn="l" defTabSz="914400" rtl="0" eaLnBrk="1" fontAlgn="base" latinLnBrk="0" hangingPunct="1">
              <a:lnSpc>
                <a:spcPct val="120000"/>
              </a:lnSpc>
              <a:spcBef>
                <a:spcPct val="0"/>
              </a:spcBef>
              <a:spcAft>
                <a:spcPts val="600"/>
              </a:spcAft>
              <a:buClrTx/>
              <a:buSzTx/>
              <a:buFont typeface="Arial" panose="020B0604020202020204" pitchFamily="34" charset="0"/>
              <a:buChar char="‒"/>
              <a:tabLst/>
              <a:defRPr/>
            </a:pPr>
            <a:r>
              <a:rPr kumimoji="0" lang="en-US" sz="1600" b="0" i="0" u="none" strike="noStrike" kern="0" cap="none" spc="0" normalizeH="0" baseline="0" noProof="0" dirty="0">
                <a:ln>
                  <a:noFill/>
                </a:ln>
                <a:solidFill>
                  <a:srgbClr val="1D1D1D"/>
                </a:solidFill>
                <a:effectLst/>
                <a:uLnTx/>
                <a:uFillTx/>
                <a:latin typeface="Arial" charset="0"/>
                <a:cs typeface="Arial"/>
              </a:rPr>
              <a:t>Provides a </a:t>
            </a:r>
            <a:r>
              <a:rPr kumimoji="0" lang="en-US" sz="1600" b="0" i="0" u="none" strike="noStrike" kern="0" cap="none" spc="0" normalizeH="0" baseline="0" noProof="0" dirty="0">
                <a:ln>
                  <a:noFill/>
                </a:ln>
                <a:solidFill>
                  <a:srgbClr val="9C216E"/>
                </a:solidFill>
                <a:effectLst/>
                <a:uLnTx/>
                <a:uFillTx/>
                <a:latin typeface="Arial" charset="0"/>
                <a:cs typeface="Arial"/>
              </a:rPr>
              <a:t>community driven ecosystem </a:t>
            </a:r>
            <a:r>
              <a:rPr kumimoji="0" lang="en-US" sz="1600" b="0" i="0" u="none" strike="noStrike" kern="0" cap="none" spc="0" normalizeH="0" baseline="0" noProof="0" dirty="0">
                <a:ln>
                  <a:noFill/>
                </a:ln>
                <a:solidFill>
                  <a:srgbClr val="1D1D1D"/>
                </a:solidFill>
                <a:effectLst/>
                <a:uLnTx/>
                <a:uFillTx/>
                <a:latin typeface="Arial" charset="0"/>
                <a:cs typeface="Arial"/>
              </a:rPr>
              <a:t>with support for a targeted set of MCUs from a </a:t>
            </a:r>
            <a:r>
              <a:rPr kumimoji="0" lang="en-US" sz="1600" b="0" i="0" u="none" strike="noStrike" kern="0" cap="none" spc="0" normalizeH="0" baseline="0" noProof="0" dirty="0">
                <a:ln>
                  <a:noFill/>
                </a:ln>
                <a:solidFill>
                  <a:srgbClr val="9C216E"/>
                </a:solidFill>
                <a:effectLst/>
                <a:uLnTx/>
                <a:uFillTx/>
                <a:latin typeface="Arial" charset="0"/>
                <a:cs typeface="Arial"/>
              </a:rPr>
              <a:t>wide range of silicon providers</a:t>
            </a:r>
            <a:r>
              <a:rPr kumimoji="0" lang="en-US" sz="1600" b="0" i="0" u="none" strike="noStrike" kern="0" cap="none" spc="0" normalizeH="0" baseline="0" noProof="0" dirty="0">
                <a:ln>
                  <a:noFill/>
                </a:ln>
                <a:solidFill>
                  <a:srgbClr val="1D1D1D"/>
                </a:solidFill>
                <a:effectLst/>
                <a:uLnTx/>
                <a:uFillTx/>
                <a:latin typeface="Arial" charset="0"/>
                <a:cs typeface="Arial"/>
              </a:rPr>
              <a:t>.</a:t>
            </a:r>
          </a:p>
        </p:txBody>
      </p:sp>
    </p:spTree>
    <p:extLst>
      <p:ext uri="{BB962C8B-B14F-4D97-AF65-F5344CB8AC3E}">
        <p14:creationId xmlns:p14="http://schemas.microsoft.com/office/powerpoint/2010/main" val="1543286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Once the download finishes, install the Zephyr SDK:</a:t>
            </a:r>
          </a:p>
          <a:p>
            <a:pPr lvl="1"/>
            <a:r>
              <a:rPr b="1" dirty="0">
                <a:solidFill>
                  <a:schemeClr val="tx2"/>
                </a:solidFill>
              </a:rPr>
              <a:t>west </a:t>
            </a:r>
            <a:r>
              <a:rPr b="1" dirty="0" err="1">
                <a:solidFill>
                  <a:schemeClr val="tx2"/>
                </a:solidFill>
              </a:rPr>
              <a:t>sdk</a:t>
            </a:r>
            <a:r>
              <a:rPr b="1" dirty="0">
                <a:solidFill>
                  <a:schemeClr val="tx2"/>
                </a:solidFill>
              </a:rPr>
              <a:t> install -t arm-zephyr-</a:t>
            </a:r>
            <a:r>
              <a:rPr b="1" dirty="0" err="1">
                <a:solidFill>
                  <a:schemeClr val="tx2"/>
                </a:solidFill>
              </a:rPr>
              <a:t>eabi</a:t>
            </a:r>
            <a:br>
              <a:rPr lang="en-US" b="1" dirty="0">
                <a:solidFill>
                  <a:schemeClr val="tx2"/>
                </a:solidFill>
              </a:rPr>
            </a:br>
            <a:endParaRPr b="1" dirty="0">
              <a:solidFill>
                <a:schemeClr val="tx2"/>
              </a:solidFill>
            </a:endParaRPr>
          </a:p>
          <a:p>
            <a:r>
              <a:rPr dirty="0"/>
              <a:t>Picks the right SDK version automatically, installs only the ARM toolchain, and registers itself so every future build finds it</a:t>
            </a:r>
            <a:br>
              <a:rPr lang="en-US" dirty="0"/>
            </a:br>
            <a:endParaRPr dirty="0"/>
          </a:p>
          <a:p>
            <a:r>
              <a:rPr dirty="0"/>
              <a:t>Finish with three short commands:</a:t>
            </a:r>
          </a:p>
          <a:p>
            <a:pPr lvl="1"/>
            <a:r>
              <a:rPr b="1" dirty="0">
                <a:solidFill>
                  <a:schemeClr val="tx2"/>
                </a:solidFill>
              </a:rPr>
              <a:t>pip install -r devcon-training-2026/requirements-devcon.txt</a:t>
            </a:r>
          </a:p>
          <a:p>
            <a:pPr lvl="1"/>
            <a:r>
              <a:rPr b="1" dirty="0">
                <a:solidFill>
                  <a:schemeClr val="tx2"/>
                </a:solidFill>
              </a:rPr>
              <a:t>west config </a:t>
            </a:r>
            <a:r>
              <a:rPr b="1" dirty="0" err="1">
                <a:solidFill>
                  <a:schemeClr val="tx2"/>
                </a:solidFill>
              </a:rPr>
              <a:t>build.cmake-args</a:t>
            </a:r>
            <a:r>
              <a:rPr b="1" dirty="0">
                <a:solidFill>
                  <a:schemeClr val="tx2"/>
                </a:solidFill>
              </a:rPr>
              <a:t> -- "-DOPENOCD=&lt;Infineon OpenOCD path&gt;"</a:t>
            </a:r>
            <a:endParaRPr lang="en-US" b="1" dirty="0">
              <a:solidFill>
                <a:schemeClr val="tx2"/>
              </a:solidFill>
            </a:endParaRPr>
          </a:p>
          <a:p>
            <a:pPr lvl="1"/>
            <a:r>
              <a:rPr lang="en-US" b="1" dirty="0">
                <a:solidFill>
                  <a:schemeClr val="tx2"/>
                </a:solidFill>
              </a:rPr>
              <a:t>west patch apply   </a:t>
            </a:r>
            <a:r>
              <a:rPr lang="en-US" dirty="0"/>
              <a:t>(graphics-lab fixes)</a:t>
            </a:r>
            <a:br>
              <a:rPr lang="en-US" dirty="0"/>
            </a:br>
            <a:endParaRPr dirty="0"/>
          </a:p>
        </p:txBody>
      </p:sp>
      <p:sp>
        <p:nvSpPr>
          <p:cNvPr id="3" name="Title 2"/>
          <p:cNvSpPr>
            <a:spLocks noGrp="1"/>
          </p:cNvSpPr>
          <p:nvPr>
            <p:ph type="title"/>
          </p:nvPr>
        </p:nvSpPr>
        <p:spPr/>
        <p:txBody>
          <a:bodyPr/>
          <a:lstStyle/>
          <a:p>
            <a:r>
              <a:rPr lang="en-US" dirty="0"/>
              <a:t>Setup Checkpoint - </a:t>
            </a:r>
            <a:r>
              <a:rPr dirty="0"/>
              <a:t>Toolchain &amp; Finishing the Workspace</a:t>
            </a:r>
          </a:p>
        </p:txBody>
      </p:sp>
    </p:spTree>
    <p:extLst>
      <p:ext uri="{BB962C8B-B14F-4D97-AF65-F5344CB8AC3E}">
        <p14:creationId xmlns:p14="http://schemas.microsoft.com/office/powerpoint/2010/main" val="30397383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BB9E46D-3CC9-56C6-643E-CED9BF6C2909}"/>
              </a:ext>
            </a:extLst>
          </p:cNvPr>
          <p:cNvSpPr>
            <a:spLocks noGrp="1"/>
          </p:cNvSpPr>
          <p:nvPr>
            <p:ph type="dt" sz="half" idx="10"/>
          </p:nvPr>
        </p:nvSpPr>
        <p:spPr/>
        <p:txBody>
          <a:bodyPr/>
          <a:lstStyle/>
          <a:p>
            <a:r>
              <a:rPr lang="en-US" b="1"/>
              <a:t> </a:t>
            </a:r>
            <a:endParaRPr lang="en-US" b="1" dirty="0"/>
          </a:p>
        </p:txBody>
      </p:sp>
      <p:sp>
        <p:nvSpPr>
          <p:cNvPr id="4" name="Footer Placeholder 3">
            <a:extLst>
              <a:ext uri="{FF2B5EF4-FFF2-40B4-BE49-F238E27FC236}">
                <a16:creationId xmlns:a16="http://schemas.microsoft.com/office/drawing/2014/main" id="{260DCEB8-0248-CFDC-C88B-F854B702E52A}"/>
              </a:ext>
            </a:extLst>
          </p:cNvPr>
          <p:cNvSpPr>
            <a:spLocks noGrp="1"/>
          </p:cNvSpPr>
          <p:nvPr>
            <p:ph type="ftr" sz="quarter" idx="11"/>
          </p:nvPr>
        </p:nvSpPr>
        <p:spPr/>
        <p:txBody>
          <a:bodyPr/>
          <a:lstStyle/>
          <a:p>
            <a:endParaRPr lang="en-US" dirty="0"/>
          </a:p>
        </p:txBody>
      </p:sp>
      <p:grpSp>
        <p:nvGrpSpPr>
          <p:cNvPr id="11" name="Group 10">
            <a:extLst>
              <a:ext uri="{FF2B5EF4-FFF2-40B4-BE49-F238E27FC236}">
                <a16:creationId xmlns:a16="http://schemas.microsoft.com/office/drawing/2014/main" id="{D1ACAAAF-50E0-2C30-953B-9A426E6DAED4}"/>
              </a:ext>
            </a:extLst>
          </p:cNvPr>
          <p:cNvGrpSpPr/>
          <p:nvPr>
            <p:custDataLst>
              <p:tags r:id="rId1"/>
            </p:custDataLst>
          </p:nvPr>
        </p:nvGrpSpPr>
        <p:grpSpPr>
          <a:xfrm>
            <a:off x="334434" y="1268413"/>
            <a:ext cx="10692231" cy="1655999"/>
            <a:chOff x="334434" y="1268413"/>
            <a:chExt cx="10692231" cy="1655999"/>
          </a:xfrm>
        </p:grpSpPr>
        <p:sp>
          <p:nvSpPr>
            <p:cNvPr id="5" name="MIO_AGENDA_ELEMENT_TITEL_1">
              <a:hlinkClick r:id="rId11" action="ppaction://hlinksldjump"/>
              <a:extLst>
                <a:ext uri="{FF2B5EF4-FFF2-40B4-BE49-F238E27FC236}">
                  <a16:creationId xmlns:a16="http://schemas.microsoft.com/office/drawing/2014/main" id="{89FBCF26-3182-F2CC-88E5-929CEF39B3C9}"/>
                </a:ext>
              </a:extLst>
            </p:cNvPr>
            <p:cNvSpPr>
              <a:spLocks/>
            </p:cNvSpPr>
            <p:nvPr>
              <p:custDataLst>
                <p:tags r:id="rId3"/>
              </p:custDataLst>
            </p:nvPr>
          </p:nvSpPr>
          <p:spPr>
            <a:xfrm>
              <a:off x="1235076" y="1268413"/>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Zephyr Project Introduction ( Overview | Ecosystem | Dev Community )</a:t>
              </a:r>
              <a:endParaRPr lang="de-DE" sz="1800" dirty="0">
                <a:latin typeface="+mn-lt"/>
              </a:endParaRPr>
            </a:p>
          </p:txBody>
        </p:sp>
        <p:sp>
          <p:nvSpPr>
            <p:cNvPr id="6" name="MIO_AGENDA_ELEMENT_ELEMENTNUMBER_1">
              <a:hlinkClick r:id="rId11" action="ppaction://hlinksldjump"/>
              <a:extLst>
                <a:ext uri="{FF2B5EF4-FFF2-40B4-BE49-F238E27FC236}">
                  <a16:creationId xmlns:a16="http://schemas.microsoft.com/office/drawing/2014/main" id="{C7335B25-8FC5-9EDD-6AA1-23A4118CE4F3}"/>
                </a:ext>
              </a:extLst>
            </p:cNvPr>
            <p:cNvSpPr>
              <a:spLocks noChangeAspect="1"/>
            </p:cNvSpPr>
            <p:nvPr>
              <p:custDataLst>
                <p:tags r:id="rId4"/>
              </p:custDataLst>
            </p:nvPr>
          </p:nvSpPr>
          <p:spPr>
            <a:xfrm>
              <a:off x="334434" y="1268413"/>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1</a:t>
              </a:r>
              <a:endParaRPr lang="de-DE" b="1" dirty="0">
                <a:solidFill>
                  <a:schemeClr val="bg1"/>
                </a:solidFill>
                <a:latin typeface="+mn-lt"/>
                <a:cs typeface="Arial" panose="020B0604020202020204" pitchFamily="34" charset="0"/>
              </a:endParaRPr>
            </a:p>
          </p:txBody>
        </p:sp>
        <p:sp>
          <p:nvSpPr>
            <p:cNvPr id="7" name="MIO_AGENDA_ELEMENT_TITEL_2">
              <a:hlinkClick r:id="rId12" action="ppaction://hlinksldjump"/>
              <a:extLst>
                <a:ext uri="{FF2B5EF4-FFF2-40B4-BE49-F238E27FC236}">
                  <a16:creationId xmlns:a16="http://schemas.microsoft.com/office/drawing/2014/main" id="{1D6E048E-6CF9-1A56-9FF6-CB36DDC1A85D}"/>
                </a:ext>
              </a:extLst>
            </p:cNvPr>
            <p:cNvSpPr>
              <a:spLocks/>
            </p:cNvSpPr>
            <p:nvPr>
              <p:custDataLst>
                <p:tags r:id="rId5"/>
              </p:custDataLst>
            </p:nvPr>
          </p:nvSpPr>
          <p:spPr>
            <a:xfrm>
              <a:off x="1235076" y="1844412"/>
              <a:ext cx="9791589" cy="504000"/>
            </a:xfrm>
            <a:prstGeom prst="rect">
              <a:avLst/>
            </a:prstGeom>
            <a:noFill/>
            <a:extLst>
              <a:ext uri="{909E8E84-426E-40DD-AFC4-6F175D3DCCD1}">
                <a14:hiddenFill xmlns:a14="http://schemas.microsoft.com/office/drawing/2010/main">
                  <a:solidFill>
                    <a:srgbClr val="E9E6E6"/>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a:latin typeface="+mn-lt"/>
                </a:rPr>
                <a:t>Infineon's involvement within Zephyr ( Platinum Membership | TSC )</a:t>
              </a:r>
              <a:endParaRPr lang="de-DE" sz="1800" dirty="0">
                <a:latin typeface="+mn-lt"/>
              </a:endParaRPr>
            </a:p>
          </p:txBody>
        </p:sp>
        <p:sp>
          <p:nvSpPr>
            <p:cNvPr id="8" name="MIO_AGENDA_ELEMENT_ELEMENTNUMBER_2">
              <a:hlinkClick r:id="rId12" action="ppaction://hlinksldjump"/>
              <a:extLst>
                <a:ext uri="{FF2B5EF4-FFF2-40B4-BE49-F238E27FC236}">
                  <a16:creationId xmlns:a16="http://schemas.microsoft.com/office/drawing/2014/main" id="{BA0EFE67-5C91-9F49-C758-10C5E89EE126}"/>
                </a:ext>
              </a:extLst>
            </p:cNvPr>
            <p:cNvSpPr>
              <a:spLocks noChangeAspect="1"/>
            </p:cNvSpPr>
            <p:nvPr>
              <p:custDataLst>
                <p:tags r:id="rId6"/>
              </p:custDataLst>
            </p:nvPr>
          </p:nvSpPr>
          <p:spPr>
            <a:xfrm>
              <a:off x="334434" y="1844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2</a:t>
              </a:r>
              <a:endParaRPr lang="de-DE" b="1" dirty="0">
                <a:solidFill>
                  <a:schemeClr val="bg1"/>
                </a:solidFill>
                <a:latin typeface="+mn-lt"/>
                <a:cs typeface="Arial" panose="020B0604020202020204" pitchFamily="34" charset="0"/>
              </a:endParaRPr>
            </a:p>
          </p:txBody>
        </p:sp>
        <p:sp>
          <p:nvSpPr>
            <p:cNvPr id="9" name="MIO_AGENDA_ELEMENT_TITEL_3">
              <a:hlinkClick r:id="rId13" action="ppaction://hlinksldjump"/>
              <a:extLst>
                <a:ext uri="{FF2B5EF4-FFF2-40B4-BE49-F238E27FC236}">
                  <a16:creationId xmlns:a16="http://schemas.microsoft.com/office/drawing/2014/main" id="{B19E49D8-C515-9E96-B869-65184B639FA0}"/>
                </a:ext>
              </a:extLst>
            </p:cNvPr>
            <p:cNvSpPr>
              <a:spLocks/>
            </p:cNvSpPr>
            <p:nvPr>
              <p:custDataLst>
                <p:tags r:id="rId7"/>
              </p:custDataLst>
            </p:nvPr>
          </p:nvSpPr>
          <p:spPr>
            <a:xfrm>
              <a:off x="1235075" y="2420412"/>
              <a:ext cx="9791589" cy="504000"/>
            </a:xfrm>
            <a:prstGeom prst="rect">
              <a:avLst/>
            </a:prstGeom>
            <a:noFill/>
            <a:extLst>
              <a:ext uri="{909E8E84-426E-40DD-AFC4-6F175D3DCCD1}">
                <a14:hiddenFill xmlns:a14="http://schemas.microsoft.com/office/drawing/2010/main">
                  <a:solidFill>
                    <a:schemeClr val="bg2"/>
                  </a:solidFill>
                </a14:hiddenFill>
              </a:ext>
            </a:extLst>
          </p:spPr>
          <p:txBody>
            <a:bodyPr vert="horz" wrap="none" lIns="0" tIns="36000" rIns="3600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defTabSz="576000" fontAlgn="auto">
                <a:spcBef>
                  <a:spcPts val="0"/>
                </a:spcBef>
                <a:spcAft>
                  <a:spcPts val="0"/>
                </a:spcAft>
                <a:buClr>
                  <a:schemeClr val="accent1"/>
                </a:buClr>
                <a:buSzPct val="100000"/>
                <a:buFont typeface="Arial" panose="020B0604020202020204" pitchFamily="34" charset="0"/>
                <a:buNone/>
              </a:pPr>
              <a:r>
                <a:rPr lang="en-US" sz="1800" b="1">
                  <a:solidFill>
                    <a:schemeClr val="tx2"/>
                  </a:solidFill>
                  <a:latin typeface="+mn-lt"/>
                </a:rPr>
                <a:t>Getting started with Zephyr ( Development Board Support )</a:t>
              </a:r>
              <a:endParaRPr lang="de-DE" sz="1800" b="1" dirty="0">
                <a:solidFill>
                  <a:schemeClr val="tx2"/>
                </a:solidFill>
                <a:latin typeface="+mn-lt"/>
              </a:endParaRPr>
            </a:p>
          </p:txBody>
        </p:sp>
        <p:sp>
          <p:nvSpPr>
            <p:cNvPr id="10" name="MIO_AGENDA_ELEMENT_ELEMENTNUMBER_3">
              <a:hlinkClick r:id="rId13" action="ppaction://hlinksldjump"/>
              <a:extLst>
                <a:ext uri="{FF2B5EF4-FFF2-40B4-BE49-F238E27FC236}">
                  <a16:creationId xmlns:a16="http://schemas.microsoft.com/office/drawing/2014/main" id="{8D9C700E-FB2A-8843-37D0-AFF5F34894A4}"/>
                </a:ext>
              </a:extLst>
            </p:cNvPr>
            <p:cNvSpPr>
              <a:spLocks noChangeAspect="1"/>
            </p:cNvSpPr>
            <p:nvPr>
              <p:custDataLst>
                <p:tags r:id="rId8"/>
              </p:custDataLst>
            </p:nvPr>
          </p:nvSpPr>
          <p:spPr>
            <a:xfrm>
              <a:off x="334434" y="2420412"/>
              <a:ext cx="503937" cy="504000"/>
            </a:xfrm>
            <a:prstGeom prst="ellipse">
              <a:avLst/>
            </a:prstGeom>
            <a:solidFill>
              <a:schemeClr val="accent1"/>
            </a:solidFill>
          </p:spPr>
          <p:txBody>
            <a:bodyPr vert="horz" wrap="none" lIns="0" tIns="36000" rIns="0" bIns="36000" rtlCol="0" anchor="ctr">
              <a:normAutofit/>
            </a:bodyPr>
            <a:lstStyle>
              <a:defPPr>
                <a:defRPr lang="en-US"/>
              </a:defPPr>
              <a:lvl1pPr algn="l" rtl="0" fontAlgn="base">
                <a:spcBef>
                  <a:spcPct val="0"/>
                </a:spcBef>
                <a:spcAft>
                  <a:spcPct val="0"/>
                </a:spcAft>
                <a:defRPr sz="1400" kern="1200">
                  <a:solidFill>
                    <a:schemeClr val="tx1"/>
                  </a:solidFill>
                  <a:latin typeface="Arial" charset="0"/>
                  <a:ea typeface="+mn-ea"/>
                  <a:cs typeface="+mn-cs"/>
                </a:defRPr>
              </a:lvl1pPr>
              <a:lvl2pPr marL="609585" algn="l" rtl="0" fontAlgn="base">
                <a:spcBef>
                  <a:spcPct val="0"/>
                </a:spcBef>
                <a:spcAft>
                  <a:spcPct val="0"/>
                </a:spcAft>
                <a:defRPr sz="1400" kern="1200">
                  <a:solidFill>
                    <a:schemeClr val="tx1"/>
                  </a:solidFill>
                  <a:latin typeface="Arial" charset="0"/>
                  <a:ea typeface="+mn-ea"/>
                  <a:cs typeface="+mn-cs"/>
                </a:defRPr>
              </a:lvl2pPr>
              <a:lvl3pPr marL="1219170" algn="l" rtl="0" fontAlgn="base">
                <a:spcBef>
                  <a:spcPct val="0"/>
                </a:spcBef>
                <a:spcAft>
                  <a:spcPct val="0"/>
                </a:spcAft>
                <a:defRPr sz="1400" kern="1200">
                  <a:solidFill>
                    <a:schemeClr val="tx1"/>
                  </a:solidFill>
                  <a:latin typeface="Arial" charset="0"/>
                  <a:ea typeface="+mn-ea"/>
                  <a:cs typeface="+mn-cs"/>
                </a:defRPr>
              </a:lvl3pPr>
              <a:lvl4pPr marL="1828754" algn="l" rtl="0" fontAlgn="base">
                <a:spcBef>
                  <a:spcPct val="0"/>
                </a:spcBef>
                <a:spcAft>
                  <a:spcPct val="0"/>
                </a:spcAft>
                <a:defRPr sz="1400" kern="1200">
                  <a:solidFill>
                    <a:schemeClr val="tx1"/>
                  </a:solidFill>
                  <a:latin typeface="Arial" charset="0"/>
                  <a:ea typeface="+mn-ea"/>
                  <a:cs typeface="+mn-cs"/>
                </a:defRPr>
              </a:lvl4pPr>
              <a:lvl5pPr marL="2438339" algn="l" rtl="0" fontAlgn="base">
                <a:spcBef>
                  <a:spcPct val="0"/>
                </a:spcBef>
                <a:spcAft>
                  <a:spcPct val="0"/>
                </a:spcAft>
                <a:defRPr sz="1400" kern="1200">
                  <a:solidFill>
                    <a:schemeClr val="tx1"/>
                  </a:solidFill>
                  <a:latin typeface="Arial" charset="0"/>
                  <a:ea typeface="+mn-ea"/>
                  <a:cs typeface="+mn-cs"/>
                </a:defRPr>
              </a:lvl5pPr>
              <a:lvl6pPr marL="3047924" algn="l" defTabSz="1219170" rtl="0" eaLnBrk="1" latinLnBrk="0" hangingPunct="1">
                <a:defRPr sz="1400" kern="1200">
                  <a:solidFill>
                    <a:schemeClr val="tx1"/>
                  </a:solidFill>
                  <a:latin typeface="Arial" charset="0"/>
                  <a:ea typeface="+mn-ea"/>
                  <a:cs typeface="+mn-cs"/>
                </a:defRPr>
              </a:lvl6pPr>
              <a:lvl7pPr marL="3657509" algn="l" defTabSz="1219170" rtl="0" eaLnBrk="1" latinLnBrk="0" hangingPunct="1">
                <a:defRPr sz="1400" kern="1200">
                  <a:solidFill>
                    <a:schemeClr val="tx1"/>
                  </a:solidFill>
                  <a:latin typeface="Arial" charset="0"/>
                  <a:ea typeface="+mn-ea"/>
                  <a:cs typeface="+mn-cs"/>
                </a:defRPr>
              </a:lvl7pPr>
              <a:lvl8pPr marL="4267093" algn="l" defTabSz="1219170" rtl="0" eaLnBrk="1" latinLnBrk="0" hangingPunct="1">
                <a:defRPr sz="1400" kern="1200">
                  <a:solidFill>
                    <a:schemeClr val="tx1"/>
                  </a:solidFill>
                  <a:latin typeface="Arial" charset="0"/>
                  <a:ea typeface="+mn-ea"/>
                  <a:cs typeface="+mn-cs"/>
                </a:defRPr>
              </a:lvl8pPr>
              <a:lvl9pPr marL="4876678" algn="l" defTabSz="1219170" rtl="0" eaLnBrk="1" latinLnBrk="0" hangingPunct="1">
                <a:defRPr sz="1400" kern="1200">
                  <a:solidFill>
                    <a:schemeClr val="tx1"/>
                  </a:solidFill>
                  <a:latin typeface="Arial" charset="0"/>
                  <a:ea typeface="+mn-ea"/>
                  <a:cs typeface="+mn-cs"/>
                </a:defRPr>
              </a:lvl9pPr>
            </a:lstStyle>
            <a:p>
              <a:pPr algn="ctr" fontAlgn="auto">
                <a:spcBef>
                  <a:spcPts val="0"/>
                </a:spcBef>
                <a:spcAft>
                  <a:spcPts val="0"/>
                </a:spcAft>
                <a:buClr>
                  <a:schemeClr val="accent1"/>
                </a:buClr>
                <a:buSzPct val="100000"/>
              </a:pPr>
              <a:r>
                <a:rPr lang="de-DE" b="1">
                  <a:solidFill>
                    <a:schemeClr val="bg1"/>
                  </a:solidFill>
                  <a:latin typeface="+mn-lt"/>
                  <a:cs typeface="Arial" panose="020B0604020202020204" pitchFamily="34" charset="0"/>
                </a:rPr>
                <a:t>3</a:t>
              </a:r>
              <a:endParaRPr lang="de-DE" b="1" dirty="0">
                <a:solidFill>
                  <a:schemeClr val="bg1"/>
                </a:solidFill>
                <a:latin typeface="+mn-lt"/>
                <a:cs typeface="Arial" panose="020B0604020202020204" pitchFamily="34" charset="0"/>
              </a:endParaRPr>
            </a:p>
          </p:txBody>
        </p:sp>
      </p:grpSp>
      <p:sp>
        <p:nvSpPr>
          <p:cNvPr id="2" name="Title 1">
            <a:extLst>
              <a:ext uri="{FF2B5EF4-FFF2-40B4-BE49-F238E27FC236}">
                <a16:creationId xmlns:a16="http://schemas.microsoft.com/office/drawing/2014/main" id="{5BCDF1A3-FC22-6CB9-E53A-ED42794A54FB}"/>
              </a:ext>
            </a:extLst>
          </p:cNvPr>
          <p:cNvSpPr>
            <a:spLocks noGrp="1"/>
          </p:cNvSpPr>
          <p:nvPr>
            <p:ph type="title"/>
            <p:custDataLst>
              <p:tags r:id="rId2"/>
            </p:custDataLst>
          </p:nvPr>
        </p:nvSpPr>
        <p:spPr/>
        <p:txBody>
          <a:bodyPr/>
          <a:lstStyle/>
          <a:p>
            <a:r>
              <a:rPr lang="en-US"/>
              <a:t>Table of contents</a:t>
            </a:r>
          </a:p>
        </p:txBody>
      </p:sp>
    </p:spTree>
    <p:extLst>
      <p:ext uri="{BB962C8B-B14F-4D97-AF65-F5344CB8AC3E}">
        <p14:creationId xmlns:p14="http://schemas.microsoft.com/office/powerpoint/2010/main" val="25654438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670" y="1268272"/>
            <a:ext cx="5806440" cy="5112410"/>
          </a:xfrm>
        </p:spPr>
        <p:txBody>
          <a:bodyPr/>
          <a:lstStyle/>
          <a:p>
            <a:pPr>
              <a:spcAft>
                <a:spcPts val="1200"/>
              </a:spcAft>
            </a:pPr>
            <a:r>
              <a:rPr sz="2000" b="1" dirty="0"/>
              <a:t>west </a:t>
            </a:r>
            <a:r>
              <a:rPr sz="2000" b="0" dirty="0"/>
              <a:t>- meta-tool &amp; package manager</a:t>
            </a:r>
          </a:p>
          <a:p>
            <a:pPr>
              <a:spcAft>
                <a:spcPts val="1200"/>
              </a:spcAft>
            </a:pPr>
            <a:r>
              <a:rPr sz="2000" b="1" dirty="0" err="1"/>
              <a:t>west.yml</a:t>
            </a:r>
            <a:r>
              <a:rPr sz="2000" b="1" dirty="0"/>
              <a:t> </a:t>
            </a:r>
            <a:r>
              <a:rPr sz="2000" b="0" dirty="0"/>
              <a:t>- manifest, pins every version</a:t>
            </a:r>
          </a:p>
          <a:p>
            <a:pPr>
              <a:spcAft>
                <a:spcPts val="1200"/>
              </a:spcAft>
            </a:pPr>
            <a:r>
              <a:rPr sz="2000" b="1" dirty="0"/>
              <a:t>Zephyr repo </a:t>
            </a:r>
            <a:r>
              <a:rPr sz="2000" b="0" dirty="0"/>
              <a:t>- the RTOS source itself</a:t>
            </a:r>
          </a:p>
          <a:p>
            <a:pPr>
              <a:spcAft>
                <a:spcPts val="1200"/>
              </a:spcAft>
            </a:pPr>
            <a:r>
              <a:rPr sz="2000" b="1" dirty="0"/>
              <a:t>Zephyr SDK </a:t>
            </a:r>
            <a:r>
              <a:rPr sz="2000" b="0" dirty="0"/>
              <a:t>- cross-compilers &amp; debug tools (separate install)</a:t>
            </a:r>
          </a:p>
          <a:p>
            <a:pPr>
              <a:spcAft>
                <a:spcPts val="1200"/>
              </a:spcAft>
            </a:pPr>
            <a:r>
              <a:rPr sz="2000" b="1" dirty="0"/>
              <a:t>Python + pip </a:t>
            </a:r>
            <a:r>
              <a:rPr sz="2000" b="0" dirty="0"/>
              <a:t>- runs west, Kconfig, </a:t>
            </a:r>
            <a:r>
              <a:rPr sz="2000" b="0" dirty="0" err="1"/>
              <a:t>devicetree</a:t>
            </a:r>
            <a:r>
              <a:rPr sz="2000" b="0" dirty="0"/>
              <a:t> tooling</a:t>
            </a:r>
            <a:br>
              <a:rPr lang="en-US" sz="2000" b="0" dirty="0"/>
            </a:br>
            <a:endParaRPr sz="2000" b="0" dirty="0"/>
          </a:p>
          <a:p>
            <a:pPr>
              <a:spcAft>
                <a:spcPts val="1200"/>
              </a:spcAft>
            </a:pPr>
            <a:r>
              <a:rPr sz="2000" b="1" dirty="0">
                <a:solidFill>
                  <a:schemeClr val="tx2"/>
                </a:solidFill>
              </a:rPr>
              <a:t>west build → CMake + Ninja → </a:t>
            </a:r>
            <a:br>
              <a:rPr lang="en-US" sz="2000" b="1" dirty="0">
                <a:solidFill>
                  <a:schemeClr val="tx2"/>
                </a:solidFill>
              </a:rPr>
            </a:br>
            <a:r>
              <a:rPr sz="2000" b="1" dirty="0">
                <a:solidFill>
                  <a:schemeClr val="tx2"/>
                </a:solidFill>
              </a:rPr>
              <a:t>one </a:t>
            </a:r>
            <a:r>
              <a:rPr sz="2000" b="1" dirty="0" err="1">
                <a:solidFill>
                  <a:schemeClr val="tx2"/>
                </a:solidFill>
              </a:rPr>
              <a:t>flashable</a:t>
            </a:r>
            <a:r>
              <a:rPr sz="2000" b="1" dirty="0">
                <a:solidFill>
                  <a:schemeClr val="tx2"/>
                </a:solidFill>
              </a:rPr>
              <a:t> image</a:t>
            </a:r>
          </a:p>
        </p:txBody>
      </p:sp>
      <p:sp>
        <p:nvSpPr>
          <p:cNvPr id="3" name="Title 2"/>
          <p:cNvSpPr>
            <a:spLocks noGrp="1"/>
          </p:cNvSpPr>
          <p:nvPr>
            <p:ph type="title"/>
          </p:nvPr>
        </p:nvSpPr>
        <p:spPr/>
        <p:txBody>
          <a:bodyPr/>
          <a:lstStyle/>
          <a:p>
            <a:r>
              <a:t>The Pieces of Your Dev Environment</a:t>
            </a:r>
          </a:p>
        </p:txBody>
      </p:sp>
      <p:sp>
        <p:nvSpPr>
          <p:cNvPr id="4" name="Rounded Rectangle 3"/>
          <p:cNvSpPr/>
          <p:nvPr/>
        </p:nvSpPr>
        <p:spPr>
          <a:xfrm>
            <a:off x="7239000" y="1325880"/>
            <a:ext cx="3810000" cy="475488"/>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west</a:t>
            </a:r>
          </a:p>
          <a:p>
            <a:pPr algn="ctr"/>
            <a:r>
              <a:rPr sz="1050" b="0">
                <a:solidFill>
                  <a:srgbClr val="1D1D1D"/>
                </a:solidFill>
              </a:rPr>
              <a:t>meta-tool / package manager</a:t>
            </a:r>
          </a:p>
        </p:txBody>
      </p:sp>
      <p:sp>
        <p:nvSpPr>
          <p:cNvPr id="5" name="Rounded Rectangle 4"/>
          <p:cNvSpPr/>
          <p:nvPr/>
        </p:nvSpPr>
        <p:spPr>
          <a:xfrm>
            <a:off x="7239000" y="1883664"/>
            <a:ext cx="3810000" cy="475488"/>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west.yml</a:t>
            </a:r>
          </a:p>
          <a:p>
            <a:pPr algn="ctr"/>
            <a:r>
              <a:rPr sz="1050" b="0">
                <a:solidFill>
                  <a:srgbClr val="1D1D1D"/>
                </a:solidFill>
              </a:rPr>
              <a:t>manifest - pins versions</a:t>
            </a:r>
          </a:p>
        </p:txBody>
      </p:sp>
      <p:sp>
        <p:nvSpPr>
          <p:cNvPr id="6" name="Rounded Rectangle 5"/>
          <p:cNvSpPr/>
          <p:nvPr/>
        </p:nvSpPr>
        <p:spPr>
          <a:xfrm>
            <a:off x="7239000" y="2441448"/>
            <a:ext cx="3810000" cy="475488"/>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Zephyr repo</a:t>
            </a:r>
          </a:p>
          <a:p>
            <a:pPr algn="ctr"/>
            <a:r>
              <a:rPr sz="1050" b="0">
                <a:solidFill>
                  <a:srgbClr val="1D1D1D"/>
                </a:solidFill>
              </a:rPr>
              <a:t>kernel, drivers, boards, samples</a:t>
            </a:r>
          </a:p>
        </p:txBody>
      </p:sp>
      <p:sp>
        <p:nvSpPr>
          <p:cNvPr id="7" name="Rounded Rectangle 6"/>
          <p:cNvSpPr/>
          <p:nvPr/>
        </p:nvSpPr>
        <p:spPr>
          <a:xfrm>
            <a:off x="7239000" y="2999232"/>
            <a:ext cx="3810000" cy="475488"/>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Zephyr SDK</a:t>
            </a:r>
          </a:p>
          <a:p>
            <a:pPr algn="ctr"/>
            <a:r>
              <a:rPr sz="1050" b="0">
                <a:solidFill>
                  <a:srgbClr val="1D1D1D"/>
                </a:solidFill>
              </a:rPr>
              <a:t>cross-compilers, debug tools</a:t>
            </a:r>
          </a:p>
        </p:txBody>
      </p:sp>
      <p:sp>
        <p:nvSpPr>
          <p:cNvPr id="8" name="Rounded Rectangle 7"/>
          <p:cNvSpPr/>
          <p:nvPr/>
        </p:nvSpPr>
        <p:spPr>
          <a:xfrm>
            <a:off x="7239000" y="3557015"/>
            <a:ext cx="3810000" cy="475488"/>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Python + pip</a:t>
            </a:r>
          </a:p>
          <a:p>
            <a:pPr algn="ctr"/>
            <a:r>
              <a:rPr sz="1050" b="0">
                <a:solidFill>
                  <a:srgbClr val="1D1D1D"/>
                </a:solidFill>
              </a:rPr>
              <a:t>west, codegen, Kconfig tooling</a:t>
            </a:r>
          </a:p>
        </p:txBody>
      </p:sp>
      <p:cxnSp>
        <p:nvCxnSpPr>
          <p:cNvPr id="9" name="Connector 8"/>
          <p:cNvCxnSpPr>
            <a:cxnSpLocks/>
            <a:stCxn id="8" idx="2"/>
            <a:endCxn id="10" idx="0"/>
          </p:cNvCxnSpPr>
          <p:nvPr/>
        </p:nvCxnSpPr>
        <p:spPr>
          <a:xfrm>
            <a:off x="9144000" y="4032503"/>
            <a:ext cx="0" cy="283465"/>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239000" y="4315968"/>
            <a:ext cx="3810000" cy="54864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97414"/>
                </a:solidFill>
              </a:rPr>
              <a:t>west build</a:t>
            </a:r>
          </a:p>
          <a:p>
            <a:pPr algn="ctr"/>
            <a:r>
              <a:rPr sz="1050" b="0">
                <a:solidFill>
                  <a:srgbClr val="1D1D1D"/>
                </a:solidFill>
              </a:rPr>
              <a:t>drives CMake + Ninja + codegen</a:t>
            </a:r>
          </a:p>
        </p:txBody>
      </p:sp>
      <p:cxnSp>
        <p:nvCxnSpPr>
          <p:cNvPr id="11" name="Connector 10"/>
          <p:cNvCxnSpPr>
            <a:cxnSpLocks/>
            <a:stCxn id="10" idx="2"/>
            <a:endCxn id="12" idx="0"/>
          </p:cNvCxnSpPr>
          <p:nvPr/>
        </p:nvCxnSpPr>
        <p:spPr>
          <a:xfrm>
            <a:off x="9144000" y="4864608"/>
            <a:ext cx="0" cy="201167"/>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239000" y="5065775"/>
            <a:ext cx="3810000" cy="68580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One flashable image</a:t>
            </a:r>
          </a:p>
          <a:p>
            <a:pPr algn="ctr"/>
            <a:r>
              <a:rPr sz="1050" b="0">
                <a:solidFill>
                  <a:srgbClr val="FFFFFF"/>
                </a:solidFill>
              </a:rPr>
              <a:t>source + devicetree + Kconfig, compiled together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670" y="1847088"/>
            <a:ext cx="6675730" cy="4533594"/>
          </a:xfrm>
        </p:spPr>
        <p:txBody>
          <a:bodyPr/>
          <a:lstStyle/>
          <a:p>
            <a:pPr>
              <a:spcAft>
                <a:spcPts val="1200"/>
              </a:spcAft>
            </a:pPr>
            <a:r>
              <a:rPr sz="2000" b="1" dirty="0"/>
              <a:t>boards/&lt;vendor&gt;/&lt;board&gt;/ </a:t>
            </a:r>
            <a:r>
              <a:rPr sz="2000" b="0" dirty="0"/>
              <a:t>- board-level support</a:t>
            </a:r>
          </a:p>
          <a:p>
            <a:pPr>
              <a:spcAft>
                <a:spcPts val="1200"/>
              </a:spcAft>
            </a:pPr>
            <a:r>
              <a:rPr sz="2000" b="1" dirty="0"/>
              <a:t>soc/&lt;vendor&gt;/&lt;family&gt;/ </a:t>
            </a:r>
            <a:r>
              <a:rPr sz="2000" b="0" dirty="0"/>
              <a:t>- SoC-level support</a:t>
            </a:r>
          </a:p>
          <a:p>
            <a:pPr>
              <a:spcAft>
                <a:spcPts val="1200"/>
              </a:spcAft>
            </a:pPr>
            <a:r>
              <a:rPr sz="2000" b="1" dirty="0" err="1"/>
              <a:t>dts</a:t>
            </a:r>
            <a:r>
              <a:rPr sz="2000" b="1" dirty="0"/>
              <a:t>/bindings/ </a:t>
            </a:r>
            <a:r>
              <a:rPr sz="2000" b="0" dirty="0"/>
              <a:t>- </a:t>
            </a:r>
            <a:r>
              <a:rPr sz="2000" b="0" dirty="0" err="1"/>
              <a:t>devicetree</a:t>
            </a:r>
            <a:r>
              <a:rPr sz="2000" b="0" dirty="0"/>
              <a:t> property schema</a:t>
            </a:r>
          </a:p>
          <a:p>
            <a:pPr>
              <a:spcAft>
                <a:spcPts val="1200"/>
              </a:spcAft>
            </a:pPr>
            <a:r>
              <a:rPr sz="2000" b="1" dirty="0"/>
              <a:t>drivers/ </a:t>
            </a:r>
            <a:r>
              <a:rPr sz="2000" b="0" dirty="0"/>
              <a:t>- peripheral drivers</a:t>
            </a:r>
          </a:p>
          <a:p>
            <a:pPr>
              <a:spcAft>
                <a:spcPts val="1200"/>
              </a:spcAft>
            </a:pPr>
            <a:r>
              <a:rPr sz="2000" b="1" dirty="0" err="1"/>
              <a:t>subsys</a:t>
            </a:r>
            <a:r>
              <a:rPr sz="2000" b="1" dirty="0"/>
              <a:t>/ </a:t>
            </a:r>
            <a:r>
              <a:rPr sz="2000" b="0" dirty="0"/>
              <a:t>- BLE, networking, shell, filesystems</a:t>
            </a:r>
          </a:p>
          <a:p>
            <a:pPr>
              <a:spcAft>
                <a:spcPts val="1200"/>
              </a:spcAft>
            </a:pPr>
            <a:r>
              <a:rPr sz="2000" b="1" dirty="0"/>
              <a:t>samples/ and tests/ </a:t>
            </a:r>
            <a:r>
              <a:rPr sz="2000" b="0" dirty="0"/>
              <a:t>- ready-to-build examples</a:t>
            </a:r>
          </a:p>
          <a:p>
            <a:pPr>
              <a:spcAft>
                <a:spcPts val="1200"/>
              </a:spcAft>
            </a:pPr>
            <a:r>
              <a:rPr sz="2000" b="1" dirty="0"/>
              <a:t>include/zephyr/ </a:t>
            </a:r>
            <a:r>
              <a:rPr sz="2000" b="0" dirty="0"/>
              <a:t>- public API headers</a:t>
            </a:r>
          </a:p>
          <a:p>
            <a:pPr>
              <a:spcAft>
                <a:spcPts val="1200"/>
              </a:spcAft>
            </a:pPr>
            <a:r>
              <a:rPr sz="2000" b="1" dirty="0"/>
              <a:t>scripts/ </a:t>
            </a:r>
            <a:r>
              <a:rPr sz="2000" b="0" dirty="0"/>
              <a:t>- west / Kconfig / DT tooling</a:t>
            </a:r>
          </a:p>
        </p:txBody>
      </p:sp>
      <p:sp>
        <p:nvSpPr>
          <p:cNvPr id="3" name="Title 2"/>
          <p:cNvSpPr>
            <a:spLocks noGrp="1"/>
          </p:cNvSpPr>
          <p:nvPr>
            <p:ph type="title"/>
          </p:nvPr>
        </p:nvSpPr>
        <p:spPr/>
        <p:txBody>
          <a:bodyPr/>
          <a:lstStyle/>
          <a:p>
            <a:r>
              <a:t>Zephyr Repository - Where Things Live</a:t>
            </a:r>
          </a:p>
        </p:txBody>
      </p:sp>
      <p:sp>
        <p:nvSpPr>
          <p:cNvPr id="4" name="Rounded Rectangle 3"/>
          <p:cNvSpPr/>
          <p:nvPr/>
        </p:nvSpPr>
        <p:spPr>
          <a:xfrm>
            <a:off x="7269480" y="1325880"/>
            <a:ext cx="1737360" cy="41148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zephyr/</a:t>
            </a:r>
          </a:p>
        </p:txBody>
      </p:sp>
      <p:sp>
        <p:nvSpPr>
          <p:cNvPr id="5" name="Rounded Rectangle 4"/>
          <p:cNvSpPr/>
          <p:nvPr/>
        </p:nvSpPr>
        <p:spPr>
          <a:xfrm>
            <a:off x="7924800" y="1847088"/>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boards/&lt;vendor&gt;/&lt;board&gt;/</a:t>
            </a:r>
          </a:p>
          <a:p>
            <a:pPr algn="ctr"/>
            <a:r>
              <a:rPr sz="1050" b="0">
                <a:solidFill>
                  <a:srgbClr val="1D1D1D"/>
                </a:solidFill>
              </a:rPr>
              <a:t>board-level support</a:t>
            </a:r>
          </a:p>
        </p:txBody>
      </p:sp>
      <p:sp>
        <p:nvSpPr>
          <p:cNvPr id="6" name="Rounded Rectangle 5"/>
          <p:cNvSpPr/>
          <p:nvPr/>
        </p:nvSpPr>
        <p:spPr>
          <a:xfrm>
            <a:off x="7924800" y="2382012"/>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soc/&lt;vendor&gt;/&lt;family&gt;/</a:t>
            </a:r>
          </a:p>
          <a:p>
            <a:pPr algn="ctr"/>
            <a:r>
              <a:rPr sz="1050" b="0">
                <a:solidFill>
                  <a:srgbClr val="1D1D1D"/>
                </a:solidFill>
              </a:rPr>
              <a:t>SoC-level support</a:t>
            </a:r>
          </a:p>
        </p:txBody>
      </p:sp>
      <p:sp>
        <p:nvSpPr>
          <p:cNvPr id="7" name="Rounded Rectangle 6"/>
          <p:cNvSpPr/>
          <p:nvPr/>
        </p:nvSpPr>
        <p:spPr>
          <a:xfrm>
            <a:off x="7924800" y="2916936"/>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dts/bindings/</a:t>
            </a:r>
          </a:p>
          <a:p>
            <a:pPr algn="ctr"/>
            <a:r>
              <a:rPr sz="1050" b="0">
                <a:solidFill>
                  <a:srgbClr val="1D1D1D"/>
                </a:solidFill>
              </a:rPr>
              <a:t>schema for DT properties</a:t>
            </a:r>
          </a:p>
        </p:txBody>
      </p:sp>
      <p:sp>
        <p:nvSpPr>
          <p:cNvPr id="8" name="Rounded Rectangle 7"/>
          <p:cNvSpPr/>
          <p:nvPr/>
        </p:nvSpPr>
        <p:spPr>
          <a:xfrm>
            <a:off x="7924800" y="3451860"/>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drivers/</a:t>
            </a:r>
          </a:p>
          <a:p>
            <a:pPr algn="ctr"/>
            <a:r>
              <a:rPr sz="1050" b="0">
                <a:solidFill>
                  <a:srgbClr val="1D1D1D"/>
                </a:solidFill>
              </a:rPr>
              <a:t>peripheral drivers</a:t>
            </a:r>
          </a:p>
        </p:txBody>
      </p:sp>
      <p:sp>
        <p:nvSpPr>
          <p:cNvPr id="9" name="Rounded Rectangle 8"/>
          <p:cNvSpPr/>
          <p:nvPr/>
        </p:nvSpPr>
        <p:spPr>
          <a:xfrm>
            <a:off x="7924800" y="3986783"/>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subsys/</a:t>
            </a:r>
          </a:p>
          <a:p>
            <a:pPr algn="ctr"/>
            <a:r>
              <a:rPr sz="1050" b="0">
                <a:solidFill>
                  <a:srgbClr val="1D1D1D"/>
                </a:solidFill>
              </a:rPr>
              <a:t>BLE, net, logging, shell, fs</a:t>
            </a:r>
          </a:p>
        </p:txBody>
      </p:sp>
      <p:sp>
        <p:nvSpPr>
          <p:cNvPr id="10" name="Rounded Rectangle 9"/>
          <p:cNvSpPr/>
          <p:nvPr/>
        </p:nvSpPr>
        <p:spPr>
          <a:xfrm>
            <a:off x="7924800" y="4521707"/>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samples/ and tests/</a:t>
            </a:r>
          </a:p>
          <a:p>
            <a:pPr algn="ctr"/>
            <a:r>
              <a:rPr sz="1050" b="0">
                <a:solidFill>
                  <a:srgbClr val="1D1D1D"/>
                </a:solidFill>
              </a:rPr>
              <a:t>example apps + test suite</a:t>
            </a:r>
          </a:p>
        </p:txBody>
      </p:sp>
      <p:sp>
        <p:nvSpPr>
          <p:cNvPr id="11" name="Rounded Rectangle 10"/>
          <p:cNvSpPr/>
          <p:nvPr/>
        </p:nvSpPr>
        <p:spPr>
          <a:xfrm>
            <a:off x="7924800" y="5056631"/>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include/zephyr/</a:t>
            </a:r>
          </a:p>
          <a:p>
            <a:pPr algn="ctr"/>
            <a:r>
              <a:rPr sz="1050" b="0">
                <a:solidFill>
                  <a:srgbClr val="1D1D1D"/>
                </a:solidFill>
              </a:rPr>
              <a:t>public API headers</a:t>
            </a:r>
          </a:p>
        </p:txBody>
      </p:sp>
      <p:sp>
        <p:nvSpPr>
          <p:cNvPr id="12" name="Rounded Rectangle 11"/>
          <p:cNvSpPr/>
          <p:nvPr/>
        </p:nvSpPr>
        <p:spPr>
          <a:xfrm>
            <a:off x="7924800" y="5591555"/>
            <a:ext cx="3688080" cy="475488"/>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scripts/</a:t>
            </a:r>
          </a:p>
          <a:p>
            <a:pPr algn="ctr"/>
            <a:r>
              <a:rPr sz="1050" b="0">
                <a:solidFill>
                  <a:srgbClr val="1D1D1D"/>
                </a:solidFill>
              </a:rPr>
              <a:t>west / Kconfig / DT tooling</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670" y="1325880"/>
            <a:ext cx="5806440" cy="5054802"/>
          </a:xfrm>
        </p:spPr>
        <p:txBody>
          <a:bodyPr/>
          <a:lstStyle/>
          <a:p>
            <a:pPr>
              <a:spcAft>
                <a:spcPts val="1200"/>
              </a:spcAft>
            </a:pPr>
            <a:r>
              <a:rPr sz="2000" b="0" dirty="0"/>
              <a:t>Same file set, every board</a:t>
            </a:r>
          </a:p>
          <a:p>
            <a:pPr>
              <a:spcAft>
                <a:spcPts val="1200"/>
              </a:spcAft>
            </a:pPr>
            <a:r>
              <a:rPr sz="2000" b="1" dirty="0" err="1"/>
              <a:t>board.yml</a:t>
            </a:r>
            <a:r>
              <a:rPr sz="2000" b="1" dirty="0"/>
              <a:t> </a:t>
            </a:r>
            <a:r>
              <a:rPr sz="2000" b="0" dirty="0"/>
              <a:t>- identity (board, vendor, SoC)</a:t>
            </a:r>
          </a:p>
          <a:p>
            <a:pPr>
              <a:spcAft>
                <a:spcPts val="1200"/>
              </a:spcAft>
            </a:pPr>
            <a:r>
              <a:rPr sz="2000" b="1" dirty="0"/>
              <a:t>&lt;board&gt;_</a:t>
            </a:r>
            <a:r>
              <a:rPr sz="2000" b="1" dirty="0" err="1"/>
              <a:t>defconfig</a:t>
            </a:r>
            <a:r>
              <a:rPr sz="2000" b="1" dirty="0"/>
              <a:t> </a:t>
            </a:r>
            <a:r>
              <a:rPr sz="2000" b="0" dirty="0"/>
              <a:t>- board Kconfig defaults</a:t>
            </a:r>
          </a:p>
          <a:p>
            <a:pPr>
              <a:spcAft>
                <a:spcPts val="1200"/>
              </a:spcAft>
            </a:pPr>
            <a:r>
              <a:rPr sz="2000" b="1" dirty="0"/>
              <a:t>&lt;board&gt;.</a:t>
            </a:r>
            <a:r>
              <a:rPr sz="2000" b="1" dirty="0" err="1"/>
              <a:t>dts</a:t>
            </a:r>
            <a:r>
              <a:rPr sz="2000" b="1" dirty="0"/>
              <a:t> + </a:t>
            </a:r>
            <a:r>
              <a:rPr sz="2000" b="1" dirty="0" err="1"/>
              <a:t>pinctrl.dtsi</a:t>
            </a:r>
            <a:r>
              <a:rPr sz="2000" b="1" dirty="0"/>
              <a:t> </a:t>
            </a:r>
            <a:r>
              <a:rPr sz="2000" b="0" dirty="0"/>
              <a:t>- </a:t>
            </a:r>
            <a:r>
              <a:rPr sz="2000" b="0" dirty="0" err="1"/>
              <a:t>devicetree</a:t>
            </a:r>
            <a:r>
              <a:rPr sz="2000" b="0" dirty="0"/>
              <a:t> + pin </a:t>
            </a:r>
            <a:r>
              <a:rPr sz="2000" b="0" dirty="0" err="1"/>
              <a:t>muxing</a:t>
            </a:r>
            <a:endParaRPr sz="2000" b="0" dirty="0"/>
          </a:p>
          <a:p>
            <a:pPr>
              <a:spcAft>
                <a:spcPts val="1200"/>
              </a:spcAft>
            </a:pPr>
            <a:r>
              <a:rPr sz="2000" b="1" dirty="0" err="1"/>
              <a:t>board.cmake</a:t>
            </a:r>
            <a:r>
              <a:rPr sz="2000" b="1" dirty="0"/>
              <a:t> </a:t>
            </a:r>
            <a:r>
              <a:rPr sz="2000" b="0" dirty="0"/>
              <a:t>- flash/debug runner</a:t>
            </a:r>
          </a:p>
          <a:p>
            <a:pPr>
              <a:spcAft>
                <a:spcPts val="1200"/>
              </a:spcAft>
            </a:pPr>
            <a:r>
              <a:rPr sz="2000" b="1" dirty="0"/>
              <a:t>doc/</a:t>
            </a:r>
            <a:r>
              <a:rPr sz="2000" b="1" dirty="0" err="1"/>
              <a:t>index.rst</a:t>
            </a:r>
            <a:r>
              <a:rPr sz="2000" b="1" dirty="0"/>
              <a:t> </a:t>
            </a:r>
            <a:r>
              <a:rPr sz="2000" b="0" dirty="0"/>
              <a:t>- Getting Started page</a:t>
            </a:r>
          </a:p>
          <a:p>
            <a:pPr>
              <a:spcAft>
                <a:spcPts val="1200"/>
              </a:spcAft>
            </a:pPr>
            <a:r>
              <a:rPr sz="2000" b="1" dirty="0">
                <a:solidFill>
                  <a:schemeClr val="tx2"/>
                </a:solidFill>
              </a:rPr>
              <a:t>Your overlay ADDS to this, doesn't replace it</a:t>
            </a:r>
          </a:p>
        </p:txBody>
      </p:sp>
      <p:sp>
        <p:nvSpPr>
          <p:cNvPr id="3" name="Title 2"/>
          <p:cNvSpPr>
            <a:spLocks noGrp="1"/>
          </p:cNvSpPr>
          <p:nvPr>
            <p:ph type="title"/>
          </p:nvPr>
        </p:nvSpPr>
        <p:spPr/>
        <p:txBody>
          <a:bodyPr/>
          <a:lstStyle/>
          <a:p>
            <a:r>
              <a:t>Anatomy of a Board Support Package (BSP)</a:t>
            </a:r>
          </a:p>
        </p:txBody>
      </p:sp>
      <p:sp>
        <p:nvSpPr>
          <p:cNvPr id="4" name="Rounded Rectangle 3"/>
          <p:cNvSpPr/>
          <p:nvPr/>
        </p:nvSpPr>
        <p:spPr>
          <a:xfrm>
            <a:off x="7010400" y="1316736"/>
            <a:ext cx="3992880" cy="41148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boards/infineon/&lt;board&gt;/</a:t>
            </a:r>
          </a:p>
        </p:txBody>
      </p:sp>
      <p:sp>
        <p:nvSpPr>
          <p:cNvPr id="5" name="Rounded Rectangle 4"/>
          <p:cNvSpPr/>
          <p:nvPr/>
        </p:nvSpPr>
        <p:spPr>
          <a:xfrm>
            <a:off x="7010400" y="1837944"/>
            <a:ext cx="3992880" cy="457200"/>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board.yml</a:t>
            </a:r>
          </a:p>
          <a:p>
            <a:pPr algn="ctr"/>
            <a:r>
              <a:rPr sz="1050" b="0">
                <a:solidFill>
                  <a:srgbClr val="1D1D1D"/>
                </a:solidFill>
              </a:rPr>
              <a:t>identity: board, vendor, SoC(s)</a:t>
            </a:r>
          </a:p>
        </p:txBody>
      </p:sp>
      <p:sp>
        <p:nvSpPr>
          <p:cNvPr id="6" name="Rounded Rectangle 5"/>
          <p:cNvSpPr/>
          <p:nvPr/>
        </p:nvSpPr>
        <p:spPr>
          <a:xfrm>
            <a:off x="7010400" y="2368296"/>
            <a:ext cx="3992880" cy="457200"/>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&lt;board&gt;_defconfig</a:t>
            </a:r>
          </a:p>
          <a:p>
            <a:pPr algn="ctr"/>
            <a:r>
              <a:rPr sz="1050" b="0">
                <a:solidFill>
                  <a:srgbClr val="1D1D1D"/>
                </a:solidFill>
              </a:rPr>
              <a:t>board Kconfig defaults</a:t>
            </a:r>
          </a:p>
        </p:txBody>
      </p:sp>
      <p:sp>
        <p:nvSpPr>
          <p:cNvPr id="7" name="Rounded Rectangle 6"/>
          <p:cNvSpPr/>
          <p:nvPr/>
        </p:nvSpPr>
        <p:spPr>
          <a:xfrm>
            <a:off x="7010400" y="2898648"/>
            <a:ext cx="3992880" cy="457200"/>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&lt;board&gt;.dts + pinctrl.dtsi</a:t>
            </a:r>
          </a:p>
          <a:p>
            <a:pPr algn="ctr"/>
            <a:r>
              <a:rPr sz="1050" b="0">
                <a:solidFill>
                  <a:srgbClr val="1D1D1D"/>
                </a:solidFill>
              </a:rPr>
              <a:t>devicetree + pin muxing</a:t>
            </a:r>
          </a:p>
        </p:txBody>
      </p:sp>
      <p:sp>
        <p:nvSpPr>
          <p:cNvPr id="8" name="Rounded Rectangle 7"/>
          <p:cNvSpPr/>
          <p:nvPr/>
        </p:nvSpPr>
        <p:spPr>
          <a:xfrm>
            <a:off x="7010400" y="3429000"/>
            <a:ext cx="3992880" cy="457200"/>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board.cmake</a:t>
            </a:r>
          </a:p>
          <a:p>
            <a:pPr algn="ctr"/>
            <a:r>
              <a:rPr sz="1050" b="0">
                <a:solidFill>
                  <a:srgbClr val="1D1D1D"/>
                </a:solidFill>
              </a:rPr>
              <a:t>which runner flashes/debugs</a:t>
            </a:r>
          </a:p>
        </p:txBody>
      </p:sp>
      <p:sp>
        <p:nvSpPr>
          <p:cNvPr id="9" name="Rounded Rectangle 8"/>
          <p:cNvSpPr/>
          <p:nvPr/>
        </p:nvSpPr>
        <p:spPr>
          <a:xfrm>
            <a:off x="7010400" y="3959352"/>
            <a:ext cx="3992880" cy="457200"/>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doc/index.rst</a:t>
            </a:r>
          </a:p>
          <a:p>
            <a:pPr algn="ctr"/>
            <a:r>
              <a:rPr sz="1050" b="0">
                <a:solidFill>
                  <a:srgbClr val="1D1D1D"/>
                </a:solidFill>
              </a:rPr>
              <a:t>the board's Getting Started page</a:t>
            </a:r>
          </a:p>
        </p:txBody>
      </p:sp>
      <p:sp>
        <p:nvSpPr>
          <p:cNvPr id="10" name="Rounded Rectangle 9"/>
          <p:cNvSpPr/>
          <p:nvPr/>
        </p:nvSpPr>
        <p:spPr>
          <a:xfrm>
            <a:off x="7010400" y="4535424"/>
            <a:ext cx="3992880" cy="86868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97414"/>
                </a:solidFill>
              </a:rPr>
              <a:t>Your overlay ADDS to this</a:t>
            </a:r>
          </a:p>
          <a:p>
            <a:pPr algn="ctr"/>
            <a:r>
              <a:rPr sz="1050" b="0">
                <a:solidFill>
                  <a:srgbClr val="F97414"/>
                </a:solidFill>
              </a:rPr>
              <a:t>folder - it does not replace it.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670" y="1965960"/>
            <a:ext cx="5806440" cy="4414722"/>
          </a:xfrm>
        </p:spPr>
        <p:txBody>
          <a:bodyPr/>
          <a:lstStyle/>
          <a:p>
            <a:pPr>
              <a:spcAft>
                <a:spcPts val="1200"/>
              </a:spcAft>
            </a:pPr>
            <a:r>
              <a:rPr sz="2000" b="1" dirty="0"/>
              <a:t>CMakeLists.txt </a:t>
            </a:r>
            <a:r>
              <a:rPr sz="2000" b="0" dirty="0"/>
              <a:t>- where your source lives</a:t>
            </a:r>
          </a:p>
          <a:p>
            <a:pPr>
              <a:spcAft>
                <a:spcPts val="1200"/>
              </a:spcAft>
            </a:pPr>
            <a:r>
              <a:rPr sz="2000" b="1" dirty="0" err="1"/>
              <a:t>prj.conf</a:t>
            </a:r>
            <a:r>
              <a:rPr sz="2000" b="1" dirty="0"/>
              <a:t> </a:t>
            </a:r>
            <a:r>
              <a:rPr sz="2000" b="0" dirty="0"/>
              <a:t>- your Kconfig choices</a:t>
            </a:r>
          </a:p>
          <a:p>
            <a:pPr>
              <a:spcAft>
                <a:spcPts val="1200"/>
              </a:spcAft>
            </a:pPr>
            <a:r>
              <a:rPr sz="2000" b="1" dirty="0"/>
              <a:t>boards/&lt;board&gt;.overlay </a:t>
            </a:r>
            <a:r>
              <a:rPr sz="2000" b="0" dirty="0"/>
              <a:t>- your </a:t>
            </a:r>
            <a:r>
              <a:rPr sz="2000" b="0" dirty="0" err="1"/>
              <a:t>devicetree</a:t>
            </a:r>
            <a:r>
              <a:rPr sz="2000" b="0" dirty="0"/>
              <a:t> additions</a:t>
            </a:r>
          </a:p>
          <a:p>
            <a:pPr>
              <a:spcAft>
                <a:spcPts val="1200"/>
              </a:spcAft>
            </a:pPr>
            <a:r>
              <a:rPr sz="2000" b="1" dirty="0" err="1"/>
              <a:t>src</a:t>
            </a:r>
            <a:r>
              <a:rPr sz="2000" b="1" dirty="0"/>
              <a:t>/ </a:t>
            </a:r>
            <a:r>
              <a:rPr sz="2000" b="0" dirty="0"/>
              <a:t>- your application code</a:t>
            </a:r>
          </a:p>
          <a:p>
            <a:pPr>
              <a:spcAft>
                <a:spcPts val="1200"/>
              </a:spcAft>
            </a:pPr>
            <a:r>
              <a:rPr sz="2000" b="1" dirty="0">
                <a:solidFill>
                  <a:schemeClr val="tx2"/>
                </a:solidFill>
              </a:rPr>
              <a:t>Same shape, every app, every board</a:t>
            </a:r>
          </a:p>
        </p:txBody>
      </p:sp>
      <p:sp>
        <p:nvSpPr>
          <p:cNvPr id="3" name="Title 2"/>
          <p:cNvSpPr>
            <a:spLocks noGrp="1"/>
          </p:cNvSpPr>
          <p:nvPr>
            <p:ph type="title"/>
          </p:nvPr>
        </p:nvSpPr>
        <p:spPr/>
        <p:txBody>
          <a:bodyPr/>
          <a:lstStyle/>
          <a:p>
            <a:r>
              <a:t>Anatomy of a Zephyr Application</a:t>
            </a:r>
          </a:p>
        </p:txBody>
      </p:sp>
      <p:sp>
        <p:nvSpPr>
          <p:cNvPr id="4" name="Rounded Rectangle 3"/>
          <p:cNvSpPr/>
          <p:nvPr/>
        </p:nvSpPr>
        <p:spPr>
          <a:xfrm>
            <a:off x="6781800" y="1325880"/>
            <a:ext cx="3992880" cy="45720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my_app/</a:t>
            </a:r>
          </a:p>
        </p:txBody>
      </p:sp>
      <p:sp>
        <p:nvSpPr>
          <p:cNvPr id="5" name="Rounded Rectangle 4"/>
          <p:cNvSpPr/>
          <p:nvPr/>
        </p:nvSpPr>
        <p:spPr>
          <a:xfrm>
            <a:off x="6781800" y="1965960"/>
            <a:ext cx="3992880" cy="621792"/>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CMakeLists.txt</a:t>
            </a:r>
          </a:p>
          <a:p>
            <a:pPr algn="ctr"/>
            <a:r>
              <a:rPr sz="1050" b="0">
                <a:solidFill>
                  <a:srgbClr val="1D1D1D"/>
                </a:solidFill>
              </a:rPr>
              <a:t>where your source lives</a:t>
            </a:r>
          </a:p>
        </p:txBody>
      </p:sp>
      <p:sp>
        <p:nvSpPr>
          <p:cNvPr id="6" name="Rounded Rectangle 5"/>
          <p:cNvSpPr/>
          <p:nvPr/>
        </p:nvSpPr>
        <p:spPr>
          <a:xfrm>
            <a:off x="6781800" y="2752344"/>
            <a:ext cx="3992880" cy="621792"/>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prj.conf</a:t>
            </a:r>
          </a:p>
          <a:p>
            <a:pPr algn="ctr"/>
            <a:r>
              <a:rPr sz="1050" b="0">
                <a:solidFill>
                  <a:srgbClr val="1D1D1D"/>
                </a:solidFill>
              </a:rPr>
              <a:t>your Kconfig choices</a:t>
            </a:r>
          </a:p>
        </p:txBody>
      </p:sp>
      <p:sp>
        <p:nvSpPr>
          <p:cNvPr id="7" name="Rounded Rectangle 6"/>
          <p:cNvSpPr/>
          <p:nvPr/>
        </p:nvSpPr>
        <p:spPr>
          <a:xfrm>
            <a:off x="6781800" y="3538728"/>
            <a:ext cx="3992880" cy="621792"/>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boards/&lt;board&gt;.overlay</a:t>
            </a:r>
          </a:p>
          <a:p>
            <a:pPr algn="ctr"/>
            <a:r>
              <a:rPr sz="1050" b="0">
                <a:solidFill>
                  <a:srgbClr val="1D1D1D"/>
                </a:solidFill>
              </a:rPr>
              <a:t>your devicetree additions</a:t>
            </a:r>
          </a:p>
        </p:txBody>
      </p:sp>
      <p:sp>
        <p:nvSpPr>
          <p:cNvPr id="8" name="Rounded Rectangle 7"/>
          <p:cNvSpPr/>
          <p:nvPr/>
        </p:nvSpPr>
        <p:spPr>
          <a:xfrm>
            <a:off x="6781800" y="4325112"/>
            <a:ext cx="3992880" cy="621792"/>
          </a:xfrm>
          <a:prstGeom prst="roundRect">
            <a:avLst/>
          </a:prstGeom>
          <a:solidFill>
            <a:srgbClr val="FFFFFF"/>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src/main.c</a:t>
            </a:r>
          </a:p>
          <a:p>
            <a:pPr algn="ctr"/>
            <a:r>
              <a:rPr sz="1050" b="0">
                <a:solidFill>
                  <a:srgbClr val="1D1D1D"/>
                </a:solidFill>
              </a:rPr>
              <a:t>your actual application code</a:t>
            </a:r>
          </a:p>
        </p:txBody>
      </p:sp>
      <p:sp>
        <p:nvSpPr>
          <p:cNvPr id="9" name="TextBox 8"/>
          <p:cNvSpPr txBox="1"/>
          <p:nvPr/>
        </p:nvSpPr>
        <p:spPr>
          <a:xfrm>
            <a:off x="6781800" y="5202936"/>
            <a:ext cx="3992880" cy="453970"/>
          </a:xfrm>
          <a:prstGeom prst="rect">
            <a:avLst/>
          </a:prstGeom>
          <a:noFill/>
        </p:spPr>
        <p:txBody>
          <a:bodyPr wrap="square" anchor="t">
            <a:spAutoFit/>
          </a:bodyPr>
          <a:lstStyle/>
          <a:p>
            <a:pPr algn="ctr"/>
            <a:r>
              <a:rPr sz="1050" b="0">
                <a:solidFill>
                  <a:srgbClr val="1D1D1D"/>
                </a:solidFill>
              </a:rPr>
              <a:t>Same four-file shape, every app, every board -</a:t>
            </a:r>
          </a:p>
          <a:p>
            <a:pPr algn="ctr"/>
            <a:r>
              <a:rPr sz="1300" b="1">
                <a:solidFill>
                  <a:srgbClr val="0A8276"/>
                </a:solidFill>
              </a:rPr>
              <a:t>nothing here is Infineon-specific.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a:spcAft>
                <a:spcPts val="1200"/>
              </a:spcAft>
            </a:pPr>
            <a:r>
              <a:rPr b="1" dirty="0" err="1"/>
              <a:t>hello_world</a:t>
            </a:r>
            <a:r>
              <a:rPr b="1" dirty="0"/>
              <a:t>, basic/* </a:t>
            </a:r>
            <a:r>
              <a:rPr dirty="0"/>
              <a:t>- zero/low-dependency smoke tests (blinky, button, </a:t>
            </a:r>
            <a:r>
              <a:rPr dirty="0" err="1"/>
              <a:t>fade_led</a:t>
            </a:r>
            <a:r>
              <a:rPr dirty="0"/>
              <a:t>)</a:t>
            </a:r>
          </a:p>
          <a:p>
            <a:pPr>
              <a:spcAft>
                <a:spcPts val="1200"/>
              </a:spcAft>
            </a:pPr>
            <a:r>
              <a:rPr b="1" dirty="0" err="1"/>
              <a:t>subsys</a:t>
            </a:r>
            <a:r>
              <a:rPr b="1" dirty="0"/>
              <a:t>/shell/</a:t>
            </a:r>
            <a:r>
              <a:rPr b="1" dirty="0" err="1"/>
              <a:t>shell_module</a:t>
            </a:r>
            <a:r>
              <a:rPr b="1" dirty="0"/>
              <a:t> </a:t>
            </a:r>
            <a:r>
              <a:rPr dirty="0"/>
              <a:t>- interactive console shell</a:t>
            </a:r>
          </a:p>
          <a:p>
            <a:pPr>
              <a:spcAft>
                <a:spcPts val="1200"/>
              </a:spcAft>
            </a:pPr>
            <a:r>
              <a:rPr b="1" dirty="0"/>
              <a:t>drivers/* </a:t>
            </a:r>
            <a:r>
              <a:rPr dirty="0"/>
              <a:t>- 70+ peripheral demos: </a:t>
            </a:r>
            <a:r>
              <a:rPr dirty="0" err="1"/>
              <a:t>adc</a:t>
            </a:r>
            <a:r>
              <a:rPr dirty="0"/>
              <a:t>, can, </a:t>
            </a:r>
            <a:r>
              <a:rPr dirty="0" err="1"/>
              <a:t>pwm</a:t>
            </a:r>
            <a:r>
              <a:rPr dirty="0"/>
              <a:t>, i2c, </a:t>
            </a:r>
            <a:r>
              <a:rPr dirty="0" err="1"/>
              <a:t>spi</a:t>
            </a:r>
            <a:r>
              <a:rPr dirty="0"/>
              <a:t>, watchdog, counter...</a:t>
            </a:r>
          </a:p>
          <a:p>
            <a:pPr>
              <a:spcAft>
                <a:spcPts val="1200"/>
              </a:spcAft>
            </a:pPr>
            <a:r>
              <a:rPr b="1" dirty="0"/>
              <a:t>sensor/* </a:t>
            </a:r>
            <a:r>
              <a:rPr dirty="0"/>
              <a:t>- ~75 vendor sensor demos, plus </a:t>
            </a:r>
            <a:r>
              <a:rPr dirty="0" err="1"/>
              <a:t>sensor_shell</a:t>
            </a:r>
            <a:r>
              <a:rPr dirty="0"/>
              <a:t> for any supported sensor</a:t>
            </a:r>
          </a:p>
          <a:p>
            <a:pPr>
              <a:spcAft>
                <a:spcPts val="1200"/>
              </a:spcAft>
            </a:pPr>
            <a:r>
              <a:rPr b="1" dirty="0" err="1"/>
              <a:t>subsys</a:t>
            </a:r>
            <a:r>
              <a:rPr b="1" dirty="0"/>
              <a:t>/* </a:t>
            </a:r>
            <a:r>
              <a:rPr dirty="0"/>
              <a:t>- </a:t>
            </a:r>
            <a:r>
              <a:rPr dirty="0" err="1"/>
              <a:t>usb</a:t>
            </a:r>
            <a:r>
              <a:rPr dirty="0"/>
              <a:t>, </a:t>
            </a:r>
            <a:r>
              <a:rPr dirty="0" err="1"/>
              <a:t>usb_c</a:t>
            </a:r>
            <a:r>
              <a:rPr dirty="0"/>
              <a:t>, fs, settings, </a:t>
            </a:r>
            <a:r>
              <a:rPr dirty="0" err="1"/>
              <a:t>zbus</a:t>
            </a:r>
            <a:r>
              <a:rPr dirty="0"/>
              <a:t>, </a:t>
            </a:r>
            <a:r>
              <a:rPr dirty="0" err="1"/>
              <a:t>modbus</a:t>
            </a:r>
            <a:r>
              <a:rPr dirty="0"/>
              <a:t>, </a:t>
            </a:r>
            <a:r>
              <a:rPr dirty="0" err="1"/>
              <a:t>canbus</a:t>
            </a:r>
            <a:r>
              <a:rPr dirty="0"/>
              <a:t>, logging</a:t>
            </a:r>
          </a:p>
          <a:p>
            <a:pPr>
              <a:spcAft>
                <a:spcPts val="1200"/>
              </a:spcAft>
            </a:pPr>
            <a:r>
              <a:rPr b="1" dirty="0" err="1"/>
              <a:t>bluetooth</a:t>
            </a:r>
            <a:r>
              <a:rPr b="1" dirty="0"/>
              <a:t>/* </a:t>
            </a:r>
            <a:r>
              <a:rPr dirty="0"/>
              <a:t>- ~90 BLE central/peripheral/mesh samples</a:t>
            </a:r>
          </a:p>
          <a:p>
            <a:pPr>
              <a:spcAft>
                <a:spcPts val="1200"/>
              </a:spcAft>
            </a:pPr>
            <a:r>
              <a:rPr b="1" dirty="0"/>
              <a:t>net/* </a:t>
            </a:r>
            <a:r>
              <a:rPr dirty="0"/>
              <a:t>- sockets, MQTT, CoAP, HTTP client/server</a:t>
            </a:r>
          </a:p>
          <a:p>
            <a:pPr>
              <a:spcAft>
                <a:spcPts val="1200"/>
              </a:spcAft>
            </a:pPr>
            <a:r>
              <a:rPr b="1" dirty="0"/>
              <a:t>boards/</a:t>
            </a:r>
            <a:r>
              <a:rPr b="1" dirty="0" err="1"/>
              <a:t>infineon</a:t>
            </a:r>
            <a:r>
              <a:rPr b="1" dirty="0"/>
              <a:t>/ </a:t>
            </a:r>
            <a:r>
              <a:rPr dirty="0"/>
              <a:t>- Infineon's own in-tree sample (</a:t>
            </a:r>
            <a:r>
              <a:rPr dirty="0" err="1"/>
              <a:t>autanalog</a:t>
            </a:r>
            <a:r>
              <a:rPr dirty="0"/>
              <a:t>)</a:t>
            </a:r>
            <a:br>
              <a:rPr lang="en-US" dirty="0"/>
            </a:br>
            <a:endParaRPr dirty="0"/>
          </a:p>
          <a:p>
            <a:pPr>
              <a:spcAft>
                <a:spcPts val="1200"/>
              </a:spcAft>
            </a:pPr>
            <a:r>
              <a:rPr b="1" dirty="0">
                <a:solidFill>
                  <a:schemeClr val="tx2"/>
                </a:solidFill>
              </a:rPr>
              <a:t>Check </a:t>
            </a:r>
            <a:r>
              <a:rPr b="1" dirty="0" err="1">
                <a:solidFill>
                  <a:schemeClr val="tx2"/>
                </a:solidFill>
              </a:rPr>
              <a:t>sample.yaml</a:t>
            </a:r>
            <a:r>
              <a:rPr b="1" dirty="0">
                <a:solidFill>
                  <a:schemeClr val="tx2"/>
                </a:solidFill>
              </a:rPr>
              <a:t> → </a:t>
            </a:r>
            <a:r>
              <a:rPr b="1" dirty="0" err="1">
                <a:solidFill>
                  <a:schemeClr val="tx2"/>
                </a:solidFill>
              </a:rPr>
              <a:t>platform_allow</a:t>
            </a:r>
            <a:r>
              <a:rPr b="1" dirty="0">
                <a:solidFill>
                  <a:schemeClr val="tx2"/>
                </a:solidFill>
              </a:rPr>
              <a:t> for board support</a:t>
            </a:r>
          </a:p>
        </p:txBody>
      </p:sp>
      <p:sp>
        <p:nvSpPr>
          <p:cNvPr id="3" name="Title 2"/>
          <p:cNvSpPr>
            <a:spLocks noGrp="1"/>
          </p:cNvSpPr>
          <p:nvPr>
            <p:ph type="title"/>
          </p:nvPr>
        </p:nvSpPr>
        <p:spPr/>
        <p:txBody>
          <a:bodyPr/>
          <a:lstStyle/>
          <a:p>
            <a:r>
              <a:t>Sample Applications - A Guided Tour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670" y="1676400"/>
            <a:ext cx="4161131" cy="4704282"/>
          </a:xfrm>
        </p:spPr>
        <p:txBody>
          <a:bodyPr/>
          <a:lstStyle/>
          <a:p>
            <a:pPr marL="457200" indent="-457200">
              <a:spcAft>
                <a:spcPts val="1200"/>
              </a:spcAft>
              <a:buFont typeface="+mj-lt"/>
              <a:buAutoNum type="arabicPeriod"/>
            </a:pPr>
            <a:r>
              <a:rPr sz="2000" b="1" dirty="0" err="1"/>
              <a:t>Devicetree</a:t>
            </a:r>
            <a:r>
              <a:rPr sz="2000" b="0" dirty="0"/>
              <a:t> - edit overlay node</a:t>
            </a:r>
            <a:endParaRPr sz="2000" b="1" dirty="0"/>
          </a:p>
          <a:p>
            <a:pPr marL="457200" indent="-457200">
              <a:spcAft>
                <a:spcPts val="1200"/>
              </a:spcAft>
              <a:buFont typeface="+mj-lt"/>
              <a:buAutoNum type="arabicPeriod"/>
            </a:pPr>
            <a:r>
              <a:rPr lang="en-US" sz="2000" b="1" dirty="0"/>
              <a:t>M</a:t>
            </a:r>
            <a:r>
              <a:rPr sz="2000" b="1" dirty="0"/>
              <a:t>odule import </a:t>
            </a:r>
            <a:r>
              <a:rPr sz="2000" dirty="0"/>
              <a:t>- add Kconfig</a:t>
            </a:r>
          </a:p>
          <a:p>
            <a:pPr marL="457200" indent="-457200">
              <a:spcAft>
                <a:spcPts val="1200"/>
              </a:spcAft>
              <a:buFont typeface="+mj-lt"/>
              <a:buAutoNum type="arabicPeriod"/>
            </a:pPr>
            <a:r>
              <a:rPr sz="2000" b="1" dirty="0"/>
              <a:t>Code</a:t>
            </a:r>
            <a:r>
              <a:rPr sz="2000" b="0" dirty="0"/>
              <a:t> - write real app logic</a:t>
            </a:r>
          </a:p>
        </p:txBody>
      </p:sp>
      <p:sp>
        <p:nvSpPr>
          <p:cNvPr id="3" name="Title 2"/>
          <p:cNvSpPr>
            <a:spLocks noGrp="1"/>
          </p:cNvSpPr>
          <p:nvPr>
            <p:ph type="title"/>
          </p:nvPr>
        </p:nvSpPr>
        <p:spPr/>
        <p:txBody>
          <a:bodyPr/>
          <a:lstStyle/>
          <a:p>
            <a:r>
              <a:rPr dirty="0"/>
              <a:t>The Three Touchpoints </a:t>
            </a:r>
            <a:r>
              <a:rPr lang="en-US" dirty="0"/>
              <a:t>–</a:t>
            </a:r>
            <a:r>
              <a:rPr dirty="0"/>
              <a:t> Preview</a:t>
            </a:r>
            <a:r>
              <a:rPr lang="en-US" dirty="0"/>
              <a:t> of upcoming labs</a:t>
            </a:r>
            <a:endParaRPr dirty="0"/>
          </a:p>
        </p:txBody>
      </p:sp>
      <p:sp>
        <p:nvSpPr>
          <p:cNvPr id="4" name="Oval 3"/>
          <p:cNvSpPr/>
          <p:nvPr/>
        </p:nvSpPr>
        <p:spPr>
          <a:xfrm>
            <a:off x="7696200" y="1143000"/>
            <a:ext cx="777240" cy="777240"/>
          </a:xfrm>
          <a:prstGeom prst="ellipse">
            <a:avLst/>
          </a:prstGeom>
          <a:solidFill>
            <a:srgbClr val="E6F2F0"/>
          </a:solidFill>
          <a:ln w="317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8276"/>
                </a:solidFill>
              </a:rPr>
              <a:t>1</a:t>
            </a:r>
          </a:p>
        </p:txBody>
      </p:sp>
      <p:sp>
        <p:nvSpPr>
          <p:cNvPr id="5" name="TextBox 4"/>
          <p:cNvSpPr txBox="1"/>
          <p:nvPr/>
        </p:nvSpPr>
        <p:spPr>
          <a:xfrm>
            <a:off x="5478781" y="1947671"/>
            <a:ext cx="5212080" cy="548640"/>
          </a:xfrm>
          <a:prstGeom prst="rect">
            <a:avLst/>
          </a:prstGeom>
          <a:noFill/>
        </p:spPr>
        <p:txBody>
          <a:bodyPr wrap="square" anchor="t">
            <a:spAutoFit/>
          </a:bodyPr>
          <a:lstStyle/>
          <a:p>
            <a:pPr algn="ctr"/>
            <a:r>
              <a:rPr sz="1300" b="1">
                <a:solidFill>
                  <a:srgbClr val="1D1D1D"/>
                </a:solidFill>
              </a:rPr>
              <a:t>Devicetree</a:t>
            </a:r>
          </a:p>
          <a:p>
            <a:pPr algn="ctr"/>
            <a:r>
              <a:rPr sz="1050" b="0">
                <a:solidFill>
                  <a:srgbClr val="1D1D1D"/>
                </a:solidFill>
              </a:rPr>
              <a:t>edit an overlay node to claim a peripheral</a:t>
            </a:r>
          </a:p>
        </p:txBody>
      </p:sp>
      <p:cxnSp>
        <p:nvCxnSpPr>
          <p:cNvPr id="6" name="Connector 5"/>
          <p:cNvCxnSpPr/>
          <p:nvPr/>
        </p:nvCxnSpPr>
        <p:spPr>
          <a:xfrm>
            <a:off x="8084821" y="2496311"/>
            <a:ext cx="0" cy="182881"/>
          </a:xfrm>
          <a:prstGeom prst="line">
            <a:avLst/>
          </a:prstGeom>
          <a:ln w="22225">
            <a:solidFill>
              <a:srgbClr val="8D87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7696200" y="2400300"/>
            <a:ext cx="777240" cy="777240"/>
          </a:xfrm>
          <a:prstGeom prst="ellipse">
            <a:avLst/>
          </a:prstGeom>
          <a:solidFill>
            <a:srgbClr val="E6F2F0"/>
          </a:solidFill>
          <a:ln w="317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8276"/>
                </a:solidFill>
              </a:rPr>
              <a:t>2</a:t>
            </a:r>
          </a:p>
        </p:txBody>
      </p:sp>
      <p:sp>
        <p:nvSpPr>
          <p:cNvPr id="8" name="TextBox 7"/>
          <p:cNvSpPr txBox="1"/>
          <p:nvPr/>
        </p:nvSpPr>
        <p:spPr>
          <a:xfrm>
            <a:off x="5478781" y="3204971"/>
            <a:ext cx="5212080" cy="548640"/>
          </a:xfrm>
          <a:prstGeom prst="rect">
            <a:avLst/>
          </a:prstGeom>
          <a:noFill/>
        </p:spPr>
        <p:txBody>
          <a:bodyPr wrap="square" anchor="t">
            <a:spAutoFit/>
          </a:bodyPr>
          <a:lstStyle/>
          <a:p>
            <a:pPr algn="ctr"/>
            <a:r>
              <a:rPr sz="1300" b="1">
                <a:solidFill>
                  <a:srgbClr val="1D1D1D"/>
                </a:solidFill>
              </a:rPr>
              <a:t>Module import</a:t>
            </a:r>
          </a:p>
          <a:p>
            <a:pPr algn="ctr"/>
            <a:r>
              <a:rPr sz="1050" b="0">
                <a:solidFill>
                  <a:srgbClr val="1D1D1D"/>
                </a:solidFill>
              </a:rPr>
              <a:t>add the Kconfig for a driver subsystem</a:t>
            </a:r>
          </a:p>
        </p:txBody>
      </p:sp>
      <p:cxnSp>
        <p:nvCxnSpPr>
          <p:cNvPr id="9" name="Connector 8"/>
          <p:cNvCxnSpPr/>
          <p:nvPr/>
        </p:nvCxnSpPr>
        <p:spPr>
          <a:xfrm>
            <a:off x="8084821" y="3753611"/>
            <a:ext cx="0" cy="182881"/>
          </a:xfrm>
          <a:prstGeom prst="line">
            <a:avLst/>
          </a:prstGeom>
          <a:ln w="22225">
            <a:solidFill>
              <a:srgbClr val="8D87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7696200" y="3657600"/>
            <a:ext cx="777240" cy="777240"/>
          </a:xfrm>
          <a:prstGeom prst="ellipse">
            <a:avLst/>
          </a:prstGeom>
          <a:solidFill>
            <a:srgbClr val="E6F2F0"/>
          </a:solidFill>
          <a:ln w="317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400" b="1">
                <a:solidFill>
                  <a:srgbClr val="0A8276"/>
                </a:solidFill>
              </a:rPr>
              <a:t>3</a:t>
            </a:r>
          </a:p>
        </p:txBody>
      </p:sp>
      <p:sp>
        <p:nvSpPr>
          <p:cNvPr id="11" name="TextBox 10"/>
          <p:cNvSpPr txBox="1"/>
          <p:nvPr/>
        </p:nvSpPr>
        <p:spPr>
          <a:xfrm>
            <a:off x="5478781" y="4462272"/>
            <a:ext cx="5212080" cy="548640"/>
          </a:xfrm>
          <a:prstGeom prst="rect">
            <a:avLst/>
          </a:prstGeom>
          <a:noFill/>
        </p:spPr>
        <p:txBody>
          <a:bodyPr wrap="square" anchor="t">
            <a:spAutoFit/>
          </a:bodyPr>
          <a:lstStyle/>
          <a:p>
            <a:pPr algn="ctr"/>
            <a:r>
              <a:rPr sz="1300" b="1">
                <a:solidFill>
                  <a:srgbClr val="1D1D1D"/>
                </a:solidFill>
              </a:rPr>
              <a:t>Code</a:t>
            </a:r>
          </a:p>
          <a:p>
            <a:pPr algn="ctr"/>
            <a:r>
              <a:rPr sz="1050" b="0">
                <a:solidFill>
                  <a:srgbClr val="1D1D1D"/>
                </a:solidFill>
              </a:rPr>
              <a:t>write the real app logic that uses them</a:t>
            </a:r>
          </a:p>
        </p:txBody>
      </p:sp>
      <p:cxnSp>
        <p:nvCxnSpPr>
          <p:cNvPr id="12" name="Connector 11"/>
          <p:cNvCxnSpPr/>
          <p:nvPr/>
        </p:nvCxnSpPr>
        <p:spPr>
          <a:xfrm>
            <a:off x="8084821" y="5010912"/>
            <a:ext cx="0" cy="182880"/>
          </a:xfrm>
          <a:prstGeom prst="line">
            <a:avLst/>
          </a:prstGeom>
          <a:ln w="22225">
            <a:solidFill>
              <a:srgbClr val="8D878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78781" y="5303520"/>
            <a:ext cx="5212080" cy="82296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One working peripheral, end to end</a:t>
            </a:r>
          </a:p>
          <a:p>
            <a:pPr algn="ctr"/>
            <a:r>
              <a:rPr sz="1050" b="0">
                <a:solidFill>
                  <a:srgbClr val="FFFFFF"/>
                </a:solidFill>
              </a:rPr>
              <a:t>you just did all three in miniature</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800" y="1268414"/>
            <a:ext cx="7056599" cy="5113337"/>
          </a:xfrm>
        </p:spPr>
        <p:txBody>
          <a:bodyPr/>
          <a:lstStyle/>
          <a:p>
            <a:r>
              <a:rPr sz="2000" b="1" dirty="0"/>
              <a:t>Board</a:t>
            </a:r>
            <a:r>
              <a:rPr sz="2000" b="0" dirty="0"/>
              <a:t> = what hardware exists</a:t>
            </a:r>
          </a:p>
          <a:p>
            <a:r>
              <a:rPr sz="2000" b="1" dirty="0"/>
              <a:t>Overlay</a:t>
            </a:r>
            <a:r>
              <a:rPr sz="2000" b="0" dirty="0"/>
              <a:t> = what your app uses</a:t>
            </a:r>
            <a:br>
              <a:rPr lang="en-US" sz="2000" b="0" dirty="0"/>
            </a:br>
            <a:endParaRPr sz="2000" b="0" dirty="0"/>
          </a:p>
          <a:p>
            <a:r>
              <a:rPr lang="en-US" sz="2000" b="0" dirty="0"/>
              <a:t>Reference from </a:t>
            </a:r>
            <a:r>
              <a:rPr sz="2000" b="0" dirty="0"/>
              <a:t>PSOC™ Control CAN lab:</a:t>
            </a:r>
          </a:p>
        </p:txBody>
      </p:sp>
      <p:sp>
        <p:nvSpPr>
          <p:cNvPr id="3" name="Title 2"/>
          <p:cNvSpPr>
            <a:spLocks noGrp="1"/>
          </p:cNvSpPr>
          <p:nvPr>
            <p:ph type="title"/>
          </p:nvPr>
        </p:nvSpPr>
        <p:spPr/>
        <p:txBody>
          <a:bodyPr/>
          <a:lstStyle/>
          <a:p>
            <a:r>
              <a:rPr dirty="0" err="1"/>
              <a:t>Devicetree</a:t>
            </a:r>
            <a:r>
              <a:rPr dirty="0"/>
              <a:t> - Your First Touchpoint</a:t>
            </a:r>
          </a:p>
        </p:txBody>
      </p:sp>
      <p:sp>
        <p:nvSpPr>
          <p:cNvPr id="4" name="TextBox 3"/>
          <p:cNvSpPr txBox="1"/>
          <p:nvPr/>
        </p:nvSpPr>
        <p:spPr>
          <a:xfrm>
            <a:off x="762000" y="2819400"/>
            <a:ext cx="6280800" cy="3046988"/>
          </a:xfrm>
          <a:prstGeom prst="rect">
            <a:avLst/>
          </a:prstGeom>
          <a:noFill/>
        </p:spPr>
        <p:txBody>
          <a:bodyPr wrap="square">
            <a:spAutoFit/>
          </a:bodyPr>
          <a:lstStyle/>
          <a:p>
            <a:r>
              <a:rPr sz="1600" b="1" dirty="0" err="1">
                <a:solidFill>
                  <a:srgbClr val="9C216E"/>
                </a:solidFill>
                <a:latin typeface="Inconsolata"/>
              </a:rPr>
              <a:t>zephyr,user</a:t>
            </a:r>
            <a:r>
              <a:rPr sz="1600" b="1" dirty="0">
                <a:solidFill>
                  <a:srgbClr val="9C216E"/>
                </a:solidFill>
                <a:latin typeface="Inconsolata"/>
              </a:rPr>
              <a:t> </a:t>
            </a:r>
            <a:r>
              <a:rPr sz="1600" b="1" dirty="0">
                <a:latin typeface="Inconsolata"/>
              </a:rPr>
              <a:t>{</a:t>
            </a:r>
          </a:p>
          <a:p>
            <a:r>
              <a:rPr sz="1600" b="1" dirty="0">
                <a:solidFill>
                  <a:schemeClr val="bg2"/>
                </a:solidFill>
                <a:latin typeface="Inconsolata"/>
              </a:rPr>
              <a:t>    // TODO 1a: uncomment to claim the pot's ADC channel</a:t>
            </a:r>
          </a:p>
          <a:p>
            <a:r>
              <a:rPr sz="1600" b="1" dirty="0">
                <a:latin typeface="Inconsolata"/>
              </a:rPr>
              <a:t>    </a:t>
            </a:r>
            <a:r>
              <a:rPr sz="1600" b="1" dirty="0">
                <a:solidFill>
                  <a:schemeClr val="tx2"/>
                </a:solidFill>
                <a:latin typeface="Inconsolata"/>
              </a:rPr>
              <a:t>io-channels = &lt;&amp;adc0 12&gt;;</a:t>
            </a:r>
          </a:p>
          <a:p>
            <a:r>
              <a:rPr sz="1600" b="1" dirty="0">
                <a:latin typeface="Inconsolata"/>
              </a:rPr>
              <a:t>};</a:t>
            </a:r>
          </a:p>
          <a:p>
            <a:endParaRPr sz="1600" b="1" dirty="0">
              <a:latin typeface="Inconsolata"/>
            </a:endParaRPr>
          </a:p>
          <a:p>
            <a:r>
              <a:rPr sz="1600" b="1" dirty="0">
                <a:solidFill>
                  <a:srgbClr val="9C216E"/>
                </a:solidFill>
                <a:latin typeface="Inconsolata"/>
              </a:rPr>
              <a:t>aliases</a:t>
            </a:r>
            <a:r>
              <a:rPr sz="1600" b="1" dirty="0">
                <a:latin typeface="Inconsolata"/>
              </a:rPr>
              <a:t> {</a:t>
            </a:r>
          </a:p>
          <a:p>
            <a:r>
              <a:rPr sz="1600" b="1" dirty="0">
                <a:solidFill>
                  <a:schemeClr val="bg2"/>
                </a:solidFill>
                <a:latin typeface="Inconsolata"/>
              </a:rPr>
              <a:t>    // TODO 1b: uncomment to alias the PWM LED node</a:t>
            </a:r>
          </a:p>
          <a:p>
            <a:r>
              <a:rPr sz="1600" b="1" dirty="0">
                <a:latin typeface="Inconsolata"/>
              </a:rPr>
              <a:t>    </a:t>
            </a:r>
            <a:r>
              <a:rPr sz="1600" b="1" dirty="0" err="1">
                <a:solidFill>
                  <a:schemeClr val="tx2"/>
                </a:solidFill>
                <a:latin typeface="Inconsolata"/>
              </a:rPr>
              <a:t>cmd-pwm</a:t>
            </a:r>
            <a:r>
              <a:rPr sz="1600" b="1" dirty="0">
                <a:solidFill>
                  <a:schemeClr val="tx2"/>
                </a:solidFill>
                <a:latin typeface="Inconsolata"/>
              </a:rPr>
              <a:t> = &amp;</a:t>
            </a:r>
            <a:r>
              <a:rPr sz="1600" b="1" dirty="0" err="1">
                <a:solidFill>
                  <a:schemeClr val="tx2"/>
                </a:solidFill>
                <a:latin typeface="Inconsolata"/>
              </a:rPr>
              <a:t>pwm_cmd</a:t>
            </a:r>
            <a:r>
              <a:rPr sz="1600" b="1" dirty="0">
                <a:solidFill>
                  <a:schemeClr val="tx2"/>
                </a:solidFill>
                <a:latin typeface="Inconsolata"/>
              </a:rPr>
              <a:t>;</a:t>
            </a:r>
          </a:p>
          <a:p>
            <a:r>
              <a:rPr sz="1600" b="1" dirty="0">
                <a:latin typeface="Inconsolata"/>
              </a:rPr>
              <a:t>};</a:t>
            </a:r>
          </a:p>
          <a:p>
            <a:endParaRPr sz="1600" b="1" dirty="0">
              <a:latin typeface="Inconsolata"/>
            </a:endParaRPr>
          </a:p>
          <a:p>
            <a:r>
              <a:rPr sz="1600" b="1" dirty="0">
                <a:solidFill>
                  <a:schemeClr val="bg2"/>
                </a:solidFill>
                <a:latin typeface="Inconsolata"/>
              </a:rPr>
              <a:t>// TODO 1b: uncomment this whole </a:t>
            </a:r>
            <a:r>
              <a:rPr sz="1600" b="1" dirty="0" err="1">
                <a:solidFill>
                  <a:schemeClr val="bg2"/>
                </a:solidFill>
                <a:latin typeface="Inconsolata"/>
              </a:rPr>
              <a:t>pwmleds</a:t>
            </a:r>
            <a:r>
              <a:rPr sz="1600" b="1" dirty="0">
                <a:solidFill>
                  <a:schemeClr val="bg2"/>
                </a:solidFill>
                <a:latin typeface="Inconsolata"/>
              </a:rPr>
              <a:t> block</a:t>
            </a:r>
          </a:p>
          <a:p>
            <a:r>
              <a:rPr sz="1600" b="1" dirty="0" err="1">
                <a:solidFill>
                  <a:schemeClr val="tx2"/>
                </a:solidFill>
                <a:latin typeface="Inconsolata"/>
              </a:rPr>
              <a:t>pwmleds</a:t>
            </a:r>
            <a:r>
              <a:rPr sz="1600" b="1" dirty="0">
                <a:solidFill>
                  <a:schemeClr val="tx2"/>
                </a:solidFill>
                <a:latin typeface="Inconsolata"/>
              </a:rPr>
              <a:t> { compatible = "</a:t>
            </a:r>
            <a:r>
              <a:rPr sz="1600" b="1" dirty="0" err="1">
                <a:solidFill>
                  <a:schemeClr val="tx2"/>
                </a:solidFill>
                <a:latin typeface="Inconsolata"/>
              </a:rPr>
              <a:t>pwm-leds</a:t>
            </a:r>
            <a:r>
              <a:rPr sz="1600" b="1" dirty="0">
                <a:solidFill>
                  <a:schemeClr val="tx2"/>
                </a:solidFill>
                <a:latin typeface="Inconsolata"/>
              </a:rPr>
              <a:t>"; ... };</a:t>
            </a:r>
          </a:p>
        </p:txBody>
      </p:sp>
      <p:sp>
        <p:nvSpPr>
          <p:cNvPr id="5" name="Rounded Rectangle 4"/>
          <p:cNvSpPr/>
          <p:nvPr/>
        </p:nvSpPr>
        <p:spPr>
          <a:xfrm>
            <a:off x="7696200" y="2133600"/>
            <a:ext cx="2834640" cy="68580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b="1">
                <a:solidFill>
                  <a:srgbClr val="0A8276"/>
                </a:solidFill>
              </a:rPr>
              <a:t>board.dts + your overlay</a:t>
            </a:r>
          </a:p>
          <a:p>
            <a:pPr algn="ctr"/>
            <a:r>
              <a:rPr sz="950" b="0">
                <a:solidFill>
                  <a:srgbClr val="1D1D1D"/>
                </a:solidFill>
              </a:rPr>
              <a:t>+ dts/bindings/ schema</a:t>
            </a:r>
          </a:p>
        </p:txBody>
      </p:sp>
      <p:cxnSp>
        <p:nvCxnSpPr>
          <p:cNvPr id="6" name="Connector 5"/>
          <p:cNvCxnSpPr/>
          <p:nvPr/>
        </p:nvCxnSpPr>
        <p:spPr>
          <a:xfrm>
            <a:off x="9113520" y="2819400"/>
            <a:ext cx="0" cy="182880"/>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696200" y="3002280"/>
            <a:ext cx="2834640" cy="59436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b="1">
                <a:solidFill>
                  <a:srgbClr val="0A8276"/>
                </a:solidFill>
              </a:rPr>
              <a:t>merged devicetree</a:t>
            </a:r>
          </a:p>
          <a:p>
            <a:pPr algn="ctr"/>
            <a:r>
              <a:rPr sz="950" b="0">
                <a:solidFill>
                  <a:srgbClr val="1D1D1D"/>
                </a:solidFill>
              </a:rPr>
              <a:t>build/zephyr/zephyr.dts</a:t>
            </a:r>
          </a:p>
        </p:txBody>
      </p:sp>
      <p:cxnSp>
        <p:nvCxnSpPr>
          <p:cNvPr id="8" name="Connector 7"/>
          <p:cNvCxnSpPr/>
          <p:nvPr/>
        </p:nvCxnSpPr>
        <p:spPr>
          <a:xfrm>
            <a:off x="9113520" y="3596640"/>
            <a:ext cx="0" cy="182880"/>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696200" y="3779520"/>
            <a:ext cx="2834640" cy="59436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b="1">
                <a:solidFill>
                  <a:srgbClr val="0A8276"/>
                </a:solidFill>
              </a:rPr>
              <a:t>devicetree.h</a:t>
            </a:r>
          </a:p>
          <a:p>
            <a:pPr algn="ctr"/>
            <a:r>
              <a:rPr sz="950" b="0">
                <a:solidFill>
                  <a:srgbClr val="1D1D1D"/>
                </a:solidFill>
              </a:rPr>
              <a:t>generated DT_* macros</a:t>
            </a:r>
          </a:p>
        </p:txBody>
      </p:sp>
      <p:cxnSp>
        <p:nvCxnSpPr>
          <p:cNvPr id="10" name="Connector 9"/>
          <p:cNvCxnSpPr/>
          <p:nvPr/>
        </p:nvCxnSpPr>
        <p:spPr>
          <a:xfrm>
            <a:off x="9113520" y="4373880"/>
            <a:ext cx="0" cy="182880"/>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696200" y="4556760"/>
            <a:ext cx="2834640" cy="68580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100" b="1">
                <a:solidFill>
                  <a:srgbClr val="F97414"/>
                </a:solidFill>
              </a:rPr>
              <a:t>your driver / app code</a:t>
            </a:r>
          </a:p>
          <a:p>
            <a:pPr algn="ctr"/>
            <a:r>
              <a:rPr sz="950" b="0">
                <a:solidFill>
                  <a:srgbClr val="1D1D1D"/>
                </a:solidFill>
              </a:rPr>
              <a:t>e.g. adc_channel_setup(...)</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800" y="1268414"/>
            <a:ext cx="5685000" cy="5113337"/>
          </a:xfrm>
        </p:spPr>
        <p:txBody>
          <a:bodyPr>
            <a:normAutofit fontScale="92500" lnSpcReduction="10000"/>
          </a:bodyPr>
          <a:lstStyle/>
          <a:p>
            <a:pPr>
              <a:spcAft>
                <a:spcPts val="1200"/>
              </a:spcAft>
            </a:pPr>
            <a:r>
              <a:rPr sz="2000" b="1" dirty="0"/>
              <a:t>Kconfig</a:t>
            </a:r>
            <a:r>
              <a:rPr sz="2000" b="0" dirty="0"/>
              <a:t> = which subsystems get compiled in</a:t>
            </a:r>
          </a:p>
          <a:p>
            <a:pPr>
              <a:spcAft>
                <a:spcPts val="1200"/>
              </a:spcAft>
            </a:pPr>
            <a:r>
              <a:rPr sz="2000" b="1" dirty="0" err="1"/>
              <a:t>prj.conf</a:t>
            </a:r>
            <a:r>
              <a:rPr sz="2000" b="1" dirty="0"/>
              <a:t> </a:t>
            </a:r>
            <a:r>
              <a:rPr sz="2000" b="0" dirty="0"/>
              <a:t>= your choices, merged with board defaults</a:t>
            </a:r>
          </a:p>
          <a:p>
            <a:r>
              <a:rPr sz="2000" b="0" dirty="0"/>
              <a:t>Example</a:t>
            </a:r>
            <a:r>
              <a:rPr lang="en-US" sz="2000" b="0" dirty="0"/>
              <a:t>s</a:t>
            </a:r>
            <a:r>
              <a:rPr sz="2000" b="0" dirty="0"/>
              <a:t> from this week's lab:</a:t>
            </a:r>
          </a:p>
          <a:p>
            <a:pPr lvl="1"/>
            <a:r>
              <a:rPr sz="1800" b="0" dirty="0">
                <a:solidFill>
                  <a:schemeClr val="tx2"/>
                </a:solidFill>
              </a:rPr>
              <a:t>CONFIG_CAN=y </a:t>
            </a:r>
            <a:endParaRPr lang="en-US" sz="1800" b="0" dirty="0">
              <a:solidFill>
                <a:schemeClr val="tx2"/>
              </a:solidFill>
            </a:endParaRPr>
          </a:p>
          <a:p>
            <a:pPr lvl="1"/>
            <a:r>
              <a:rPr sz="1800" b="0" dirty="0">
                <a:solidFill>
                  <a:schemeClr val="tx2"/>
                </a:solidFill>
              </a:rPr>
              <a:t>CONFIG_ADC=y  </a:t>
            </a:r>
            <a:endParaRPr lang="en-US" sz="1800" b="0" dirty="0">
              <a:solidFill>
                <a:schemeClr val="tx2"/>
              </a:solidFill>
            </a:endParaRPr>
          </a:p>
          <a:p>
            <a:pPr lvl="1">
              <a:spcAft>
                <a:spcPts val="1200"/>
              </a:spcAft>
            </a:pPr>
            <a:r>
              <a:rPr sz="1800" b="0" dirty="0">
                <a:solidFill>
                  <a:schemeClr val="tx2"/>
                </a:solidFill>
              </a:rPr>
              <a:t>CONFIG_PWM=</a:t>
            </a:r>
            <a:r>
              <a:rPr lang="en-US" sz="1800" b="0" dirty="0">
                <a:solidFill>
                  <a:schemeClr val="tx2"/>
                </a:solidFill>
              </a:rPr>
              <a:t>y</a:t>
            </a:r>
            <a:endParaRPr sz="1800" b="0" dirty="0">
              <a:solidFill>
                <a:schemeClr val="tx2"/>
              </a:solidFill>
            </a:endParaRPr>
          </a:p>
          <a:p>
            <a:pPr>
              <a:spcAft>
                <a:spcPts val="1200"/>
              </a:spcAft>
            </a:pPr>
            <a:r>
              <a:rPr sz="2000" b="1" dirty="0" err="1"/>
              <a:t>menuconfig</a:t>
            </a:r>
            <a:r>
              <a:rPr sz="2000" b="1" dirty="0"/>
              <a:t> / </a:t>
            </a:r>
            <a:r>
              <a:rPr sz="2000" b="1" dirty="0" err="1"/>
              <a:t>guiconfig</a:t>
            </a:r>
            <a:r>
              <a:rPr sz="2000" b="1" dirty="0"/>
              <a:t> </a:t>
            </a:r>
            <a:r>
              <a:rPr sz="2000" b="0" dirty="0"/>
              <a:t>- browse &amp; search interactively</a:t>
            </a:r>
            <a:endParaRPr lang="en-US" sz="2000" b="0" dirty="0"/>
          </a:p>
          <a:p>
            <a:pPr>
              <a:spcAft>
                <a:spcPts val="1200"/>
              </a:spcAft>
            </a:pPr>
            <a:r>
              <a:rPr lang="en-US" sz="2000" b="1" dirty="0"/>
              <a:t>Merge order: </a:t>
            </a:r>
            <a:br>
              <a:rPr lang="en-US" sz="2000" b="1" dirty="0"/>
            </a:br>
            <a:r>
              <a:rPr lang="en-US" sz="2000" dirty="0"/>
              <a:t>SoC → board → </a:t>
            </a:r>
            <a:r>
              <a:rPr lang="en-US" sz="2000" dirty="0" err="1"/>
              <a:t>prj.conf</a:t>
            </a:r>
            <a:r>
              <a:rPr lang="en-US" sz="2000" dirty="0"/>
              <a:t> → extra fragments</a:t>
            </a:r>
          </a:p>
          <a:p>
            <a:pPr>
              <a:spcAft>
                <a:spcPts val="1200"/>
              </a:spcAft>
            </a:pPr>
            <a:r>
              <a:rPr lang="en-US" sz="2000" b="1" dirty="0"/>
              <a:t>Verify </a:t>
            </a:r>
            <a:r>
              <a:rPr lang="en-US" sz="2000" dirty="0"/>
              <a:t>build/zephyr/.config, not just </a:t>
            </a:r>
            <a:r>
              <a:rPr lang="en-US" sz="2000" dirty="0" err="1"/>
              <a:t>prj.conf</a:t>
            </a:r>
            <a:endParaRPr lang="en-US" sz="2000" dirty="0"/>
          </a:p>
          <a:p>
            <a:pPr>
              <a:spcAft>
                <a:spcPts val="1200"/>
              </a:spcAft>
            </a:pPr>
            <a:r>
              <a:rPr lang="en-US" sz="2000" dirty="0"/>
              <a:t>Use </a:t>
            </a:r>
            <a:r>
              <a:rPr lang="en-US" sz="2000" b="1" dirty="0">
                <a:solidFill>
                  <a:schemeClr val="tx2"/>
                </a:solidFill>
              </a:rPr>
              <a:t>west build -t </a:t>
            </a:r>
            <a:r>
              <a:rPr lang="en-US" sz="2000" b="1" dirty="0" err="1">
                <a:solidFill>
                  <a:schemeClr val="tx2"/>
                </a:solidFill>
              </a:rPr>
              <a:t>menuconfig</a:t>
            </a:r>
            <a:r>
              <a:rPr lang="en-US" sz="2000" b="1" dirty="0">
                <a:solidFill>
                  <a:schemeClr val="tx2"/>
                </a:solidFill>
              </a:rPr>
              <a:t> </a:t>
            </a:r>
            <a:r>
              <a:rPr lang="en-US" sz="2000" dirty="0"/>
              <a:t>to check</a:t>
            </a:r>
          </a:p>
          <a:p>
            <a:pPr>
              <a:spcAft>
                <a:spcPts val="1200"/>
              </a:spcAft>
            </a:pPr>
            <a:endParaRPr sz="2000" b="0" dirty="0"/>
          </a:p>
        </p:txBody>
      </p:sp>
      <p:sp>
        <p:nvSpPr>
          <p:cNvPr id="3" name="Title 2"/>
          <p:cNvSpPr>
            <a:spLocks noGrp="1"/>
          </p:cNvSpPr>
          <p:nvPr>
            <p:ph type="title"/>
          </p:nvPr>
        </p:nvSpPr>
        <p:spPr/>
        <p:txBody>
          <a:bodyPr/>
          <a:lstStyle/>
          <a:p>
            <a:r>
              <a:t>Kconfig - Your Second Touchpoint</a:t>
            </a:r>
          </a:p>
        </p:txBody>
      </p:sp>
      <p:sp>
        <p:nvSpPr>
          <p:cNvPr id="4" name="Rounded Rectangle 3">
            <a:extLst>
              <a:ext uri="{FF2B5EF4-FFF2-40B4-BE49-F238E27FC236}">
                <a16:creationId xmlns:a16="http://schemas.microsoft.com/office/drawing/2014/main" id="{0D3D5D82-CAD9-8452-0CD9-7368A36AB64D}"/>
              </a:ext>
            </a:extLst>
          </p:cNvPr>
          <p:cNvSpPr/>
          <p:nvPr/>
        </p:nvSpPr>
        <p:spPr>
          <a:xfrm>
            <a:off x="6934200" y="1325880"/>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1. SoC Kconfig.defconfig</a:t>
            </a:r>
          </a:p>
          <a:p>
            <a:pPr algn="ctr"/>
            <a:r>
              <a:rPr sz="1050" b="0">
                <a:solidFill>
                  <a:srgbClr val="1D1D1D"/>
                </a:solidFill>
              </a:rPr>
              <a:t>silicon-level defaults</a:t>
            </a:r>
          </a:p>
        </p:txBody>
      </p:sp>
      <p:cxnSp>
        <p:nvCxnSpPr>
          <p:cNvPr id="5" name="Connector 4">
            <a:extLst>
              <a:ext uri="{FF2B5EF4-FFF2-40B4-BE49-F238E27FC236}">
                <a16:creationId xmlns:a16="http://schemas.microsoft.com/office/drawing/2014/main" id="{62F90F5C-9107-0EC9-EB2D-F67BB07F8DC8}"/>
              </a:ext>
            </a:extLst>
          </p:cNvPr>
          <p:cNvCxnSpPr>
            <a:cxnSpLocks/>
            <a:stCxn id="4" idx="2"/>
            <a:endCxn id="6" idx="0"/>
          </p:cNvCxnSpPr>
          <p:nvPr/>
        </p:nvCxnSpPr>
        <p:spPr>
          <a:xfrm>
            <a:off x="9006840" y="1874520"/>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0D24D697-B693-01D6-7D7D-F8DC2DBCF647}"/>
              </a:ext>
            </a:extLst>
          </p:cNvPr>
          <p:cNvSpPr/>
          <p:nvPr/>
        </p:nvSpPr>
        <p:spPr>
          <a:xfrm>
            <a:off x="6934200" y="1984248"/>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2. Board Kconfig.defconfig</a:t>
            </a:r>
          </a:p>
          <a:p>
            <a:pPr algn="ctr"/>
            <a:r>
              <a:rPr sz="1050" b="0">
                <a:solidFill>
                  <a:srgbClr val="1D1D1D"/>
                </a:solidFill>
              </a:rPr>
              <a:t>board-level defaults</a:t>
            </a:r>
          </a:p>
        </p:txBody>
      </p:sp>
      <p:cxnSp>
        <p:nvCxnSpPr>
          <p:cNvPr id="7" name="Connector 6">
            <a:extLst>
              <a:ext uri="{FF2B5EF4-FFF2-40B4-BE49-F238E27FC236}">
                <a16:creationId xmlns:a16="http://schemas.microsoft.com/office/drawing/2014/main" id="{26913ECA-FFA5-3B49-84D1-BC66250DD85B}"/>
              </a:ext>
            </a:extLst>
          </p:cNvPr>
          <p:cNvCxnSpPr>
            <a:cxnSpLocks/>
            <a:stCxn id="6" idx="2"/>
            <a:endCxn id="8" idx="0"/>
          </p:cNvCxnSpPr>
          <p:nvPr/>
        </p:nvCxnSpPr>
        <p:spPr>
          <a:xfrm>
            <a:off x="9006840" y="2532888"/>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9795F29A-960D-FCF2-D449-8C6B28C76706}"/>
              </a:ext>
            </a:extLst>
          </p:cNvPr>
          <p:cNvSpPr/>
          <p:nvPr/>
        </p:nvSpPr>
        <p:spPr>
          <a:xfrm>
            <a:off x="6934200" y="2642616"/>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3. Your application's prj.conf</a:t>
            </a:r>
          </a:p>
          <a:p>
            <a:pPr algn="ctr"/>
            <a:r>
              <a:rPr sz="1050" b="0">
                <a:solidFill>
                  <a:srgbClr val="1D1D1D"/>
                </a:solidFill>
              </a:rPr>
              <a:t>your explicit choices</a:t>
            </a:r>
          </a:p>
        </p:txBody>
      </p:sp>
      <p:cxnSp>
        <p:nvCxnSpPr>
          <p:cNvPr id="9" name="Connector 8">
            <a:extLst>
              <a:ext uri="{FF2B5EF4-FFF2-40B4-BE49-F238E27FC236}">
                <a16:creationId xmlns:a16="http://schemas.microsoft.com/office/drawing/2014/main" id="{B034BD1C-A9D8-53DE-064B-BD5A90980856}"/>
              </a:ext>
            </a:extLst>
          </p:cNvPr>
          <p:cNvCxnSpPr>
            <a:cxnSpLocks/>
            <a:stCxn id="8" idx="2"/>
            <a:endCxn id="10" idx="0"/>
          </p:cNvCxnSpPr>
          <p:nvPr/>
        </p:nvCxnSpPr>
        <p:spPr>
          <a:xfrm>
            <a:off x="9006840" y="3191256"/>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F6839F30-C12D-15E2-BC7D-24C0F064E8D6}"/>
              </a:ext>
            </a:extLst>
          </p:cNvPr>
          <p:cNvSpPr/>
          <p:nvPr/>
        </p:nvSpPr>
        <p:spPr>
          <a:xfrm>
            <a:off x="6934200" y="3300984"/>
            <a:ext cx="4145280" cy="54864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97414"/>
                </a:solidFill>
              </a:rPr>
              <a:t>4. Extra fragments</a:t>
            </a:r>
          </a:p>
          <a:p>
            <a:pPr algn="ctr"/>
            <a:r>
              <a:rPr sz="1050" b="0">
                <a:solidFill>
                  <a:srgbClr val="1D1D1D"/>
                </a:solidFill>
              </a:rPr>
              <a:t>-DEXTRA_CONF_FILE=... overrides</a:t>
            </a:r>
          </a:p>
        </p:txBody>
      </p:sp>
      <p:cxnSp>
        <p:nvCxnSpPr>
          <p:cNvPr id="11" name="Connector 10">
            <a:extLst>
              <a:ext uri="{FF2B5EF4-FFF2-40B4-BE49-F238E27FC236}">
                <a16:creationId xmlns:a16="http://schemas.microsoft.com/office/drawing/2014/main" id="{F91C8629-11FA-B41E-593E-8CBC6370D1A6}"/>
              </a:ext>
            </a:extLst>
          </p:cNvPr>
          <p:cNvCxnSpPr>
            <a:cxnSpLocks/>
            <a:stCxn id="10" idx="2"/>
            <a:endCxn id="12" idx="0"/>
          </p:cNvCxnSpPr>
          <p:nvPr/>
        </p:nvCxnSpPr>
        <p:spPr>
          <a:xfrm>
            <a:off x="9006840" y="3849624"/>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7FB66B60-FA34-F938-15EC-0F2BDB02B2F1}"/>
              </a:ext>
            </a:extLst>
          </p:cNvPr>
          <p:cNvSpPr/>
          <p:nvPr/>
        </p:nvSpPr>
        <p:spPr>
          <a:xfrm>
            <a:off x="6934200" y="3959352"/>
            <a:ext cx="4145280" cy="68580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build/zephyr/.config</a:t>
            </a:r>
          </a:p>
          <a:p>
            <a:pPr algn="ctr"/>
            <a:r>
              <a:rPr sz="1050" b="0">
                <a:solidFill>
                  <a:srgbClr val="FFFFFF"/>
                </a:solidFill>
              </a:rPr>
              <a:t>the ACTUAL merged, resolved config</a:t>
            </a:r>
          </a:p>
        </p:txBody>
      </p:sp>
      <p:sp>
        <p:nvSpPr>
          <p:cNvPr id="13" name="Rounded Rectangle 12">
            <a:extLst>
              <a:ext uri="{FF2B5EF4-FFF2-40B4-BE49-F238E27FC236}">
                <a16:creationId xmlns:a16="http://schemas.microsoft.com/office/drawing/2014/main" id="{7BF997F0-9EBD-867F-41AA-65C2C7ED1AD9}"/>
              </a:ext>
            </a:extLst>
          </p:cNvPr>
          <p:cNvSpPr/>
          <p:nvPr/>
        </p:nvSpPr>
        <p:spPr>
          <a:xfrm>
            <a:off x="6934200" y="5029200"/>
            <a:ext cx="4145280" cy="86868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97414"/>
                </a:solidFill>
              </a:rPr>
              <a:t>A symbol can still be disabled if a</a:t>
            </a:r>
          </a:p>
          <a:p>
            <a:pPr algn="ctr"/>
            <a:r>
              <a:rPr sz="1300" b="1" dirty="0">
                <a:solidFill>
                  <a:srgbClr val="F97414"/>
                </a:solidFill>
              </a:rPr>
              <a:t>dependency isn't met - verify with</a:t>
            </a:r>
          </a:p>
          <a:p>
            <a:pPr algn="ctr"/>
            <a:r>
              <a:rPr sz="1300" b="1" dirty="0">
                <a:solidFill>
                  <a:srgbClr val="F97414"/>
                </a:solidFill>
              </a:rPr>
              <a:t>west build -t </a:t>
            </a:r>
            <a:r>
              <a:rPr sz="1300" b="1" dirty="0" err="1">
                <a:solidFill>
                  <a:srgbClr val="F97414"/>
                </a:solidFill>
              </a:rPr>
              <a:t>menuconfig</a:t>
            </a:r>
            <a:endParaRPr sz="1300" b="1" dirty="0">
              <a:solidFill>
                <a:srgbClr val="F9741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34799" y="1268414"/>
            <a:ext cx="6065993" cy="5113337"/>
          </a:xfrm>
        </p:spPr>
        <p:txBody>
          <a:bodyPr>
            <a:normAutofit fontScale="92500" lnSpcReduction="20000"/>
          </a:bodyPr>
          <a:lstStyle/>
          <a:p>
            <a:pPr>
              <a:spcAft>
                <a:spcPts val="1200"/>
              </a:spcAft>
            </a:pPr>
            <a:r>
              <a:rPr b="1" dirty="0"/>
              <a:t>API docs</a:t>
            </a:r>
            <a:r>
              <a:rPr b="0" dirty="0"/>
              <a:t>: docs.zephyrproject.org/latest </a:t>
            </a:r>
            <a:r>
              <a:rPr lang="en-US" b="0" dirty="0"/>
              <a:t>–</a:t>
            </a:r>
            <a:r>
              <a:rPr b="0" dirty="0"/>
              <a:t> </a:t>
            </a:r>
            <a:br>
              <a:rPr lang="en-US" b="0" dirty="0"/>
            </a:br>
            <a:r>
              <a:rPr b="0" dirty="0"/>
              <a:t>full </a:t>
            </a:r>
            <a:r>
              <a:rPr b="0" dirty="0" err="1"/>
              <a:t>Doxygen</a:t>
            </a:r>
            <a:r>
              <a:rPr b="0" dirty="0"/>
              <a:t> reference</a:t>
            </a:r>
          </a:p>
          <a:p>
            <a:pPr>
              <a:spcAft>
                <a:spcPts val="1200"/>
              </a:spcAft>
            </a:pPr>
            <a:r>
              <a:rPr b="1" dirty="0"/>
              <a:t>Headers</a:t>
            </a:r>
            <a:r>
              <a:rPr b="0" dirty="0"/>
              <a:t>: include/zephyr/&lt;subsystem&gt;/*.h </a:t>
            </a:r>
            <a:r>
              <a:rPr lang="en-US" b="0" dirty="0"/>
              <a:t>–</a:t>
            </a:r>
            <a:r>
              <a:rPr b="0" dirty="0"/>
              <a:t> </a:t>
            </a:r>
            <a:br>
              <a:rPr lang="en-US" b="0" dirty="0"/>
            </a:br>
            <a:r>
              <a:rPr b="0" dirty="0"/>
              <a:t>the real function signatures</a:t>
            </a:r>
          </a:p>
          <a:p>
            <a:r>
              <a:rPr b="0" dirty="0"/>
              <a:t>Pattern from this week's lab:</a:t>
            </a:r>
          </a:p>
          <a:p>
            <a:pPr lvl="1"/>
            <a:r>
              <a:rPr b="0" dirty="0"/>
              <a:t>DEVICE_DT_GET(DT_CHOSEN(</a:t>
            </a:r>
            <a:r>
              <a:rPr b="0" dirty="0" err="1"/>
              <a:t>zephyr_canbus</a:t>
            </a:r>
            <a:r>
              <a:rPr b="0" dirty="0"/>
              <a:t>))</a:t>
            </a:r>
            <a:endParaRPr lang="en-US" sz="1800" b="0" dirty="0">
              <a:solidFill>
                <a:schemeClr val="tx2"/>
              </a:solidFill>
            </a:endParaRPr>
          </a:p>
          <a:p>
            <a:pPr lvl="1"/>
            <a:r>
              <a:rPr b="0" dirty="0" err="1"/>
              <a:t>device_is_ready</a:t>
            </a:r>
            <a:r>
              <a:rPr b="0" dirty="0"/>
              <a:t>(</a:t>
            </a:r>
            <a:r>
              <a:rPr b="0" dirty="0" err="1"/>
              <a:t>can_dev</a:t>
            </a:r>
            <a:r>
              <a:rPr b="0" dirty="0"/>
              <a:t>)</a:t>
            </a:r>
            <a:endParaRPr lang="en-US" sz="1800" b="0" dirty="0">
              <a:solidFill>
                <a:schemeClr val="tx2"/>
              </a:solidFill>
            </a:endParaRPr>
          </a:p>
          <a:p>
            <a:pPr lvl="1">
              <a:spcAft>
                <a:spcPts val="1200"/>
              </a:spcAft>
            </a:pPr>
            <a:r>
              <a:rPr b="0" dirty="0"/>
              <a:t>LOG_ERR("CAN device not ready")</a:t>
            </a:r>
            <a:endParaRPr sz="1800" b="0" dirty="0">
              <a:solidFill>
                <a:schemeClr val="tx2"/>
              </a:solidFill>
            </a:endParaRPr>
          </a:p>
          <a:p>
            <a:pPr>
              <a:spcAft>
                <a:spcPts val="1200"/>
              </a:spcAft>
            </a:pPr>
            <a:r>
              <a:rPr b="1" dirty="0" err="1"/>
              <a:t>device_is_ready</a:t>
            </a:r>
            <a:r>
              <a:rPr b="1" dirty="0"/>
              <a:t>()</a:t>
            </a:r>
            <a:r>
              <a:rPr b="0" dirty="0"/>
              <a:t> - confirms the driver actually initialized, before you touch it</a:t>
            </a:r>
            <a:endParaRPr lang="en-US" sz="2000" b="0" dirty="0"/>
          </a:p>
          <a:p>
            <a:pPr>
              <a:spcAft>
                <a:spcPts val="1200"/>
              </a:spcAft>
            </a:pPr>
            <a:r>
              <a:rPr b="1" dirty="0"/>
              <a:t>Logging: LOG_INF / LOG_WRN / LOG_ERR</a:t>
            </a:r>
            <a:r>
              <a:rPr b="0" dirty="0"/>
              <a:t> instead of </a:t>
            </a:r>
            <a:r>
              <a:rPr b="0" dirty="0" err="1"/>
              <a:t>printk</a:t>
            </a:r>
            <a:r>
              <a:rPr b="0" dirty="0"/>
              <a:t> for anything you ship</a:t>
            </a:r>
          </a:p>
          <a:p>
            <a:pPr>
              <a:spcAft>
                <a:spcPts val="1200"/>
              </a:spcAft>
            </a:pPr>
            <a:r>
              <a:rPr b="1" dirty="0"/>
              <a:t>Check</a:t>
            </a:r>
            <a:r>
              <a:rPr b="0" dirty="0"/>
              <a:t> the return value - almost every Zephyr API returns a negative </a:t>
            </a:r>
            <a:r>
              <a:rPr b="0" dirty="0" err="1"/>
              <a:t>errno</a:t>
            </a:r>
            <a:r>
              <a:rPr b="0" dirty="0"/>
              <a:t> on failure</a:t>
            </a:r>
            <a:endParaRPr lang="en-US" sz="2000" dirty="0"/>
          </a:p>
          <a:p>
            <a:pPr>
              <a:spcAft>
                <a:spcPts val="1200"/>
              </a:spcAft>
            </a:pPr>
            <a:r>
              <a:rPr b="0" dirty="0"/>
              <a:t>A dropped return code: </a:t>
            </a:r>
            <a:r>
              <a:rPr b="1" dirty="0"/>
              <a:t>Zephyr's #1 time sink</a:t>
            </a:r>
          </a:p>
          <a:p>
            <a:pPr>
              <a:spcAft>
                <a:spcPts val="1200"/>
              </a:spcAft>
            </a:pPr>
            <a:endParaRPr sz="2000" b="0" dirty="0"/>
          </a:p>
        </p:txBody>
      </p:sp>
      <p:sp>
        <p:nvSpPr>
          <p:cNvPr id="3" name="Title 2"/>
          <p:cNvSpPr>
            <a:spLocks noGrp="1"/>
          </p:cNvSpPr>
          <p:nvPr>
            <p:ph type="title"/>
          </p:nvPr>
        </p:nvSpPr>
        <p:spPr/>
        <p:txBody>
          <a:bodyPr/>
          <a:lstStyle/>
          <a:p>
            <a:r>
              <a:t>Code - Your Third Touchpoint</a:t>
            </a:r>
          </a:p>
        </p:txBody>
      </p:sp>
      <p:sp>
        <p:nvSpPr>
          <p:cNvPr id="4" name="Rounded Rectangle 3">
            <a:extLst>
              <a:ext uri="{FF2B5EF4-FFF2-40B4-BE49-F238E27FC236}">
                <a16:creationId xmlns:a16="http://schemas.microsoft.com/office/drawing/2014/main" id="{0D3D5D82-CAD9-8452-0CD9-7368A36AB64D}"/>
              </a:ext>
            </a:extLst>
          </p:cNvPr>
          <p:cNvSpPr/>
          <p:nvPr/>
        </p:nvSpPr>
        <p:spPr>
          <a:xfrm>
            <a:off x="6934200" y="1325880"/>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1. docs.zephyrproject.org</a:t>
            </a:r>
          </a:p>
          <a:p>
            <a:pPr algn="ctr"/>
            <a:r>
              <a:rPr sz="1050" b="0">
                <a:solidFill>
                  <a:srgbClr val="1D1D1D"/>
                </a:solidFill>
              </a:rPr>
              <a:t>API &amp; subsystem reference</a:t>
            </a:r>
          </a:p>
        </p:txBody>
      </p:sp>
      <p:cxnSp>
        <p:nvCxnSpPr>
          <p:cNvPr id="5" name="Connector 4">
            <a:extLst>
              <a:ext uri="{FF2B5EF4-FFF2-40B4-BE49-F238E27FC236}">
                <a16:creationId xmlns:a16="http://schemas.microsoft.com/office/drawing/2014/main" id="{62F90F5C-9107-0EC9-EB2D-F67BB07F8DC8}"/>
              </a:ext>
            </a:extLst>
          </p:cNvPr>
          <p:cNvCxnSpPr>
            <a:cxnSpLocks/>
            <a:stCxn id="4" idx="2"/>
            <a:endCxn id="6" idx="0"/>
          </p:cNvCxnSpPr>
          <p:nvPr/>
        </p:nvCxnSpPr>
        <p:spPr>
          <a:xfrm>
            <a:off x="9006840" y="1874520"/>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0D24D697-B693-01D6-7D7D-F8DC2DBCF647}"/>
              </a:ext>
            </a:extLst>
          </p:cNvPr>
          <p:cNvSpPr/>
          <p:nvPr/>
        </p:nvSpPr>
        <p:spPr>
          <a:xfrm>
            <a:off x="6934200" y="1984248"/>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2. include/zephyr/*.h</a:t>
            </a:r>
          </a:p>
          <a:p>
            <a:pPr algn="ctr"/>
            <a:r>
              <a:rPr sz="1050" b="0">
                <a:solidFill>
                  <a:srgbClr val="1D1D1D"/>
                </a:solidFill>
              </a:rPr>
              <a:t>the function signatures you'll call</a:t>
            </a:r>
          </a:p>
        </p:txBody>
      </p:sp>
      <p:cxnSp>
        <p:nvCxnSpPr>
          <p:cNvPr id="7" name="Connector 6">
            <a:extLst>
              <a:ext uri="{FF2B5EF4-FFF2-40B4-BE49-F238E27FC236}">
                <a16:creationId xmlns:a16="http://schemas.microsoft.com/office/drawing/2014/main" id="{26913ECA-FFA5-3B49-84D1-BC66250DD85B}"/>
              </a:ext>
            </a:extLst>
          </p:cNvPr>
          <p:cNvCxnSpPr>
            <a:cxnSpLocks/>
            <a:stCxn id="6" idx="2"/>
            <a:endCxn id="8" idx="0"/>
          </p:cNvCxnSpPr>
          <p:nvPr/>
        </p:nvCxnSpPr>
        <p:spPr>
          <a:xfrm>
            <a:off x="9006840" y="2532888"/>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a:extLst>
              <a:ext uri="{FF2B5EF4-FFF2-40B4-BE49-F238E27FC236}">
                <a16:creationId xmlns:a16="http://schemas.microsoft.com/office/drawing/2014/main" id="{9795F29A-960D-FCF2-D449-8C6B28C76706}"/>
              </a:ext>
            </a:extLst>
          </p:cNvPr>
          <p:cNvSpPr/>
          <p:nvPr/>
        </p:nvSpPr>
        <p:spPr>
          <a:xfrm>
            <a:off x="6934200" y="2642616"/>
            <a:ext cx="4145280" cy="548640"/>
          </a:xfrm>
          <a:prstGeom prst="roundRect">
            <a:avLst/>
          </a:prstGeom>
          <a:solidFill>
            <a:srgbClr val="E6F2F0"/>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0A8276"/>
                </a:solidFill>
              </a:rPr>
              <a:t>3. DEVICE_DT_GET + device_is_ready()</a:t>
            </a:r>
          </a:p>
          <a:p>
            <a:pPr algn="ctr"/>
            <a:r>
              <a:rPr sz="1050" b="0">
                <a:solidFill>
                  <a:srgbClr val="1D1D1D"/>
                </a:solidFill>
              </a:rPr>
              <a:t>get a handle, confirm it initialized</a:t>
            </a:r>
          </a:p>
        </p:txBody>
      </p:sp>
      <p:cxnSp>
        <p:nvCxnSpPr>
          <p:cNvPr id="9" name="Connector 8">
            <a:extLst>
              <a:ext uri="{FF2B5EF4-FFF2-40B4-BE49-F238E27FC236}">
                <a16:creationId xmlns:a16="http://schemas.microsoft.com/office/drawing/2014/main" id="{B034BD1C-A9D8-53DE-064B-BD5A90980856}"/>
              </a:ext>
            </a:extLst>
          </p:cNvPr>
          <p:cNvCxnSpPr>
            <a:cxnSpLocks/>
            <a:stCxn id="8" idx="2"/>
            <a:endCxn id="10" idx="0"/>
          </p:cNvCxnSpPr>
          <p:nvPr/>
        </p:nvCxnSpPr>
        <p:spPr>
          <a:xfrm>
            <a:off x="9006840" y="3191256"/>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F6839F30-C12D-15E2-BC7D-24C0F064E8D6}"/>
              </a:ext>
            </a:extLst>
          </p:cNvPr>
          <p:cNvSpPr/>
          <p:nvPr/>
        </p:nvSpPr>
        <p:spPr>
          <a:xfrm>
            <a:off x="6934200" y="3300984"/>
            <a:ext cx="4145280" cy="54864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a:solidFill>
                  <a:srgbClr val="F97414"/>
                </a:solidFill>
              </a:rPr>
              <a:t>4. Call the driver API</a:t>
            </a:r>
          </a:p>
          <a:p>
            <a:pPr algn="ctr"/>
            <a:r>
              <a:rPr sz="1050" b="0">
                <a:solidFill>
                  <a:srgbClr val="1D1D1D"/>
                </a:solidFill>
              </a:rPr>
              <a:t>e.g. adc_read(), can_send(), pwm_set_dt()</a:t>
            </a:r>
          </a:p>
        </p:txBody>
      </p:sp>
      <p:cxnSp>
        <p:nvCxnSpPr>
          <p:cNvPr id="11" name="Connector 10">
            <a:extLst>
              <a:ext uri="{FF2B5EF4-FFF2-40B4-BE49-F238E27FC236}">
                <a16:creationId xmlns:a16="http://schemas.microsoft.com/office/drawing/2014/main" id="{F91C8629-11FA-B41E-593E-8CBC6370D1A6}"/>
              </a:ext>
            </a:extLst>
          </p:cNvPr>
          <p:cNvCxnSpPr>
            <a:cxnSpLocks/>
            <a:stCxn id="10" idx="2"/>
            <a:endCxn id="12" idx="0"/>
          </p:cNvCxnSpPr>
          <p:nvPr/>
        </p:nvCxnSpPr>
        <p:spPr>
          <a:xfrm>
            <a:off x="9006840" y="3849624"/>
            <a:ext cx="0" cy="109728"/>
          </a:xfrm>
          <a:prstGeom prst="line">
            <a:avLst/>
          </a:prstGeom>
          <a:ln w="25400">
            <a:solidFill>
              <a:srgbClr val="0A82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a:extLst>
              <a:ext uri="{FF2B5EF4-FFF2-40B4-BE49-F238E27FC236}">
                <a16:creationId xmlns:a16="http://schemas.microsoft.com/office/drawing/2014/main" id="{7FB66B60-FA34-F938-15EC-0F2BDB02B2F1}"/>
              </a:ext>
            </a:extLst>
          </p:cNvPr>
          <p:cNvSpPr/>
          <p:nvPr/>
        </p:nvSpPr>
        <p:spPr>
          <a:xfrm>
            <a:off x="6934200" y="3959352"/>
            <a:ext cx="4145280" cy="685800"/>
          </a:xfrm>
          <a:prstGeom prst="roundRect">
            <a:avLst/>
          </a:prstGeom>
          <a:solidFill>
            <a:srgbClr val="0A8276"/>
          </a:solidFill>
          <a:ln w="19050">
            <a:solidFill>
              <a:srgbClr val="0A8276"/>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400" b="1">
                <a:solidFill>
                  <a:srgbClr val="FFFFFF"/>
                </a:solidFill>
              </a:rPr>
              <a:t>LOG_INF / LOG_ERR</a:t>
            </a:r>
          </a:p>
          <a:p>
            <a:pPr algn="ctr"/>
            <a:r>
              <a:rPr sz="1050" b="0">
                <a:solidFill>
                  <a:srgbClr val="FFFFFF"/>
                </a:solidFill>
              </a:rPr>
              <a:t>see it happen on the console, not just printk</a:t>
            </a:r>
          </a:p>
        </p:txBody>
      </p:sp>
      <p:sp>
        <p:nvSpPr>
          <p:cNvPr id="13" name="Rounded Rectangle 12">
            <a:extLst>
              <a:ext uri="{FF2B5EF4-FFF2-40B4-BE49-F238E27FC236}">
                <a16:creationId xmlns:a16="http://schemas.microsoft.com/office/drawing/2014/main" id="{7BF997F0-9EBD-867F-41AA-65C2C7ED1AD9}"/>
              </a:ext>
            </a:extLst>
          </p:cNvPr>
          <p:cNvSpPr/>
          <p:nvPr/>
        </p:nvSpPr>
        <p:spPr>
          <a:xfrm>
            <a:off x="6934200" y="5029200"/>
            <a:ext cx="4145280" cy="868680"/>
          </a:xfrm>
          <a:prstGeom prst="roundRect">
            <a:avLst/>
          </a:prstGeom>
          <a:solidFill>
            <a:srgbClr val="FFF3E9"/>
          </a:solidFill>
          <a:ln w="19050">
            <a:solidFill>
              <a:srgbClr val="F97414"/>
            </a:solidFill>
          </a:ln>
          <a:effectLst/>
        </p:spPr>
        <p:style>
          <a:lnRef idx="1">
            <a:schemeClr val="accent1"/>
          </a:lnRef>
          <a:fillRef idx="3">
            <a:schemeClr val="accent1"/>
          </a:fillRef>
          <a:effectRef idx="2">
            <a:schemeClr val="accent1"/>
          </a:effectRef>
          <a:fontRef idx="minor">
            <a:schemeClr val="lt1"/>
          </a:fontRef>
        </p:style>
        <p:txBody>
          <a:bodyPr wrap="square" lIns="73152" tIns="27432" rIns="73152" bIns="27432" rtlCol="0" anchor="ctr"/>
          <a:lstStyle/>
          <a:p>
            <a:pPr algn="ctr"/>
            <a:r>
              <a:rPr sz="1300" b="1" dirty="0">
                <a:solidFill>
                  <a:srgbClr val="F97414"/>
                </a:solidFill>
              </a:rPr>
              <a:t>Check the return value</a:t>
            </a:r>
          </a:p>
          <a:p>
            <a:pPr algn="ctr"/>
            <a:r>
              <a:rPr sz="1300" b="1" dirty="0">
                <a:solidFill>
                  <a:srgbClr val="F97414"/>
                </a:solidFill>
              </a:rPr>
              <a:t>almost every Zephyr API returns a negative errno on failure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FDEFC86-F6BA-435B-9AD4-51859C4345CB}"/>
              </a:ext>
            </a:extLst>
          </p:cNvPr>
          <p:cNvSpPr>
            <a:spLocks noGrp="1"/>
          </p:cNvSpPr>
          <p:nvPr>
            <p:ph type="title"/>
          </p:nvPr>
        </p:nvSpPr>
        <p:spPr/>
        <p:txBody>
          <a:bodyPr/>
          <a:lstStyle/>
          <a:p>
            <a:r>
              <a:rPr lang="en-US" dirty="0"/>
              <a:t>Key reference links for Zephyr and Infineon MCU</a:t>
            </a:r>
          </a:p>
        </p:txBody>
      </p:sp>
      <p:grpSp>
        <p:nvGrpSpPr>
          <p:cNvPr id="5" name="Group 4">
            <a:extLst>
              <a:ext uri="{FF2B5EF4-FFF2-40B4-BE49-F238E27FC236}">
                <a16:creationId xmlns:a16="http://schemas.microsoft.com/office/drawing/2014/main" id="{FA346650-2AEB-D7D6-1250-2928D8BBA9A4}"/>
              </a:ext>
            </a:extLst>
          </p:cNvPr>
          <p:cNvGrpSpPr/>
          <p:nvPr/>
        </p:nvGrpSpPr>
        <p:grpSpPr>
          <a:xfrm>
            <a:off x="8382000" y="1371600"/>
            <a:ext cx="2235200" cy="2216607"/>
            <a:chOff x="8517400" y="1364793"/>
            <a:chExt cx="2235200" cy="2216607"/>
          </a:xfrm>
        </p:grpSpPr>
        <p:sp>
          <p:nvSpPr>
            <p:cNvPr id="26" name="Rectangle 25">
              <a:extLst>
                <a:ext uri="{FF2B5EF4-FFF2-40B4-BE49-F238E27FC236}">
                  <a16:creationId xmlns:a16="http://schemas.microsoft.com/office/drawing/2014/main" id="{C8F912AD-F35D-4FE8-BF15-2C624EA1449C}"/>
                </a:ext>
              </a:extLst>
            </p:cNvPr>
            <p:cNvSpPr/>
            <p:nvPr/>
          </p:nvSpPr>
          <p:spPr>
            <a:xfrm>
              <a:off x="8517400" y="2996625"/>
              <a:ext cx="2235200" cy="584775"/>
            </a:xfrm>
            <a:prstGeom prst="rect">
              <a:avLst/>
            </a:prstGeom>
          </p:spPr>
          <p:txBody>
            <a:bodyPr wrap="square">
              <a:spAutoFit/>
            </a:bodyPr>
            <a:lstStyle/>
            <a:p>
              <a:pPr algn="ctr" defTabSz="914377"/>
              <a:r>
                <a:rPr lang="en-US" sz="1600" dirty="0">
                  <a:solidFill>
                    <a:srgbClr val="000000"/>
                  </a:solidFill>
                  <a:cs typeface="Arial"/>
                  <a:hlinkClick r:id="rId3"/>
                </a:rPr>
                <a:t>Infineon Zephyr RTOS Discord Channel </a:t>
              </a:r>
              <a:endParaRPr lang="en-US" sz="1600" dirty="0">
                <a:solidFill>
                  <a:srgbClr val="000000"/>
                </a:solidFill>
                <a:cs typeface="Arial"/>
              </a:endParaRPr>
            </a:p>
          </p:txBody>
        </p:sp>
        <p:pic>
          <p:nvPicPr>
            <p:cNvPr id="32" name="Picture 31" descr="A white and gray square with a person on a computer&#10;&#10;Description automatically generated">
              <a:hlinkClick r:id="rId3"/>
              <a:extLst>
                <a:ext uri="{FF2B5EF4-FFF2-40B4-BE49-F238E27FC236}">
                  <a16:creationId xmlns:a16="http://schemas.microsoft.com/office/drawing/2014/main" id="{E77CA04B-96D9-2DC4-7413-938BFC12F9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72993" y="1364793"/>
              <a:ext cx="1524015" cy="1524015"/>
            </a:xfrm>
            <a:prstGeom prst="rect">
              <a:avLst/>
            </a:prstGeom>
          </p:spPr>
        </p:pic>
      </p:grpSp>
      <p:grpSp>
        <p:nvGrpSpPr>
          <p:cNvPr id="6" name="Group 5">
            <a:extLst>
              <a:ext uri="{FF2B5EF4-FFF2-40B4-BE49-F238E27FC236}">
                <a16:creationId xmlns:a16="http://schemas.microsoft.com/office/drawing/2014/main" id="{73591242-765A-6A66-031E-6AD62D80A648}"/>
              </a:ext>
            </a:extLst>
          </p:cNvPr>
          <p:cNvGrpSpPr/>
          <p:nvPr/>
        </p:nvGrpSpPr>
        <p:grpSpPr>
          <a:xfrm>
            <a:off x="1339442" y="4188515"/>
            <a:ext cx="5692987" cy="1538883"/>
            <a:chOff x="3886200" y="4122986"/>
            <a:chExt cx="5692987" cy="1538883"/>
          </a:xfrm>
        </p:grpSpPr>
        <p:sp>
          <p:nvSpPr>
            <p:cNvPr id="25" name="Rectangle 24">
              <a:extLst>
                <a:ext uri="{FF2B5EF4-FFF2-40B4-BE49-F238E27FC236}">
                  <a16:creationId xmlns:a16="http://schemas.microsoft.com/office/drawing/2014/main" id="{94AF1412-6035-4F9B-B4EB-7427C8D926D3}"/>
                </a:ext>
              </a:extLst>
            </p:cNvPr>
            <p:cNvSpPr/>
            <p:nvPr/>
          </p:nvSpPr>
          <p:spPr>
            <a:xfrm>
              <a:off x="5563374" y="4122986"/>
              <a:ext cx="4015813" cy="1538883"/>
            </a:xfrm>
            <a:prstGeom prst="rect">
              <a:avLst/>
            </a:prstGeom>
          </p:spPr>
          <p:txBody>
            <a:bodyPr wrap="square">
              <a:spAutoFit/>
            </a:bodyPr>
            <a:lstStyle/>
            <a:p>
              <a:pPr defTabSz="914377">
                <a:spcAft>
                  <a:spcPts val="1200"/>
                </a:spcAft>
              </a:pPr>
              <a:r>
                <a:rPr dirty="0"/>
                <a:t>Getting Started with:</a:t>
              </a:r>
            </a:p>
            <a:p>
              <a:r>
                <a:rPr dirty="0"/>
                <a:t>CY8CPROTO-041TP (PSOC™ 4100T Plus)</a:t>
              </a:r>
            </a:p>
            <a:p>
              <a:br>
                <a:rPr lang="en-US" dirty="0"/>
              </a:br>
              <a:r>
                <a:rPr dirty="0"/>
                <a:t>KIT_PSC3M6_EVAL (PSOC™ Control C3M6)</a:t>
              </a:r>
            </a:p>
            <a:p>
              <a:br>
                <a:rPr lang="en-US" dirty="0"/>
              </a:br>
              <a:r>
                <a:rPr dirty="0"/>
                <a:t>KIT_PSE84_EVAL (PSOC™ Edge E84)</a:t>
              </a:r>
            </a:p>
          </p:txBody>
        </p:sp>
        <p:pic>
          <p:nvPicPr>
            <p:cNvPr id="36" name="Picture 35" descr="A white hand with a raised finger&#10;&#10;Description automatically generated">
              <a:extLst>
                <a:ext uri="{FF2B5EF4-FFF2-40B4-BE49-F238E27FC236}">
                  <a16:creationId xmlns:a16="http://schemas.microsoft.com/office/drawing/2014/main" id="{F5ECE238-09B0-C2C6-4BB8-5DA25F341BB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86200" y="4137854"/>
              <a:ext cx="1524015" cy="1524015"/>
            </a:xfrm>
            <a:prstGeom prst="rect">
              <a:avLst/>
            </a:prstGeom>
          </p:spPr>
        </p:pic>
      </p:grpSp>
      <p:grpSp>
        <p:nvGrpSpPr>
          <p:cNvPr id="3" name="Group 2">
            <a:extLst>
              <a:ext uri="{FF2B5EF4-FFF2-40B4-BE49-F238E27FC236}">
                <a16:creationId xmlns:a16="http://schemas.microsoft.com/office/drawing/2014/main" id="{7F22685F-EE23-CCA5-3A1C-8B0DAA847205}"/>
              </a:ext>
            </a:extLst>
          </p:cNvPr>
          <p:cNvGrpSpPr/>
          <p:nvPr/>
        </p:nvGrpSpPr>
        <p:grpSpPr>
          <a:xfrm>
            <a:off x="4860721" y="1371600"/>
            <a:ext cx="2133600" cy="2216606"/>
            <a:chOff x="4854892" y="1364793"/>
            <a:chExt cx="2133600" cy="2216606"/>
          </a:xfrm>
        </p:grpSpPr>
        <p:sp>
          <p:nvSpPr>
            <p:cNvPr id="24" name="Rectangle 23">
              <a:extLst>
                <a:ext uri="{FF2B5EF4-FFF2-40B4-BE49-F238E27FC236}">
                  <a16:creationId xmlns:a16="http://schemas.microsoft.com/office/drawing/2014/main" id="{E2E92CEA-C903-4AB9-BFD2-21FD8141F562}"/>
                </a:ext>
              </a:extLst>
            </p:cNvPr>
            <p:cNvSpPr/>
            <p:nvPr/>
          </p:nvSpPr>
          <p:spPr>
            <a:xfrm>
              <a:off x="4854892" y="2996624"/>
              <a:ext cx="2133600" cy="584775"/>
            </a:xfrm>
            <a:prstGeom prst="rect">
              <a:avLst/>
            </a:prstGeom>
          </p:spPr>
          <p:txBody>
            <a:bodyPr wrap="square">
              <a:spAutoFit/>
            </a:bodyPr>
            <a:lstStyle/>
            <a:p>
              <a:pPr algn="ctr" defTabSz="914377"/>
              <a:r>
                <a:rPr lang="en-US" sz="1600" dirty="0">
                  <a:solidFill>
                    <a:srgbClr val="000000"/>
                  </a:solidFill>
                  <a:cs typeface="Arial"/>
                  <a:hlinkClick r:id="rId6"/>
                </a:rPr>
                <a:t>Zephyr RTOS GitHub Repository</a:t>
              </a:r>
              <a:endParaRPr lang="en-US" sz="1600" dirty="0">
                <a:solidFill>
                  <a:srgbClr val="000000"/>
                </a:solidFill>
                <a:cs typeface="Arial"/>
              </a:endParaRPr>
            </a:p>
          </p:txBody>
        </p:sp>
        <p:pic>
          <p:nvPicPr>
            <p:cNvPr id="38" name="Picture 37" descr="A purple square with white lines and circles&#10;&#10;Description automatically generated">
              <a:hlinkClick r:id="rId6"/>
              <a:extLst>
                <a:ext uri="{FF2B5EF4-FFF2-40B4-BE49-F238E27FC236}">
                  <a16:creationId xmlns:a16="http://schemas.microsoft.com/office/drawing/2014/main" id="{4E64C826-9390-AF7E-1C62-5FB5DA9B57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159685" y="1364793"/>
              <a:ext cx="1524015" cy="1524015"/>
            </a:xfrm>
            <a:prstGeom prst="rect">
              <a:avLst/>
            </a:prstGeom>
          </p:spPr>
        </p:pic>
      </p:grpSp>
      <p:grpSp>
        <p:nvGrpSpPr>
          <p:cNvPr id="2" name="Group 1">
            <a:extLst>
              <a:ext uri="{FF2B5EF4-FFF2-40B4-BE49-F238E27FC236}">
                <a16:creationId xmlns:a16="http://schemas.microsoft.com/office/drawing/2014/main" id="{76D9A902-B599-A48F-F8B4-EE4D615B5097}"/>
              </a:ext>
            </a:extLst>
          </p:cNvPr>
          <p:cNvGrpSpPr/>
          <p:nvPr/>
        </p:nvGrpSpPr>
        <p:grpSpPr>
          <a:xfrm>
            <a:off x="1339442" y="1371600"/>
            <a:ext cx="2133600" cy="2216606"/>
            <a:chOff x="1474842" y="1364793"/>
            <a:chExt cx="2133600" cy="2216606"/>
          </a:xfrm>
        </p:grpSpPr>
        <p:sp>
          <p:nvSpPr>
            <p:cNvPr id="23" name="Rectangle 22">
              <a:extLst>
                <a:ext uri="{FF2B5EF4-FFF2-40B4-BE49-F238E27FC236}">
                  <a16:creationId xmlns:a16="http://schemas.microsoft.com/office/drawing/2014/main" id="{8A78A061-568D-4FB9-8E30-27E7E1813632}"/>
                </a:ext>
              </a:extLst>
            </p:cNvPr>
            <p:cNvSpPr/>
            <p:nvPr/>
          </p:nvSpPr>
          <p:spPr>
            <a:xfrm>
              <a:off x="1474842" y="2996624"/>
              <a:ext cx="2133600" cy="584775"/>
            </a:xfrm>
            <a:prstGeom prst="rect">
              <a:avLst/>
            </a:prstGeom>
          </p:spPr>
          <p:txBody>
            <a:bodyPr wrap="square">
              <a:spAutoFit/>
            </a:bodyPr>
            <a:lstStyle/>
            <a:p>
              <a:pPr algn="ctr" defTabSz="914377"/>
              <a:r>
                <a:rPr lang="en-US" sz="1600" dirty="0">
                  <a:solidFill>
                    <a:srgbClr val="000000"/>
                  </a:solidFill>
                  <a:cs typeface="Arial"/>
                  <a:hlinkClick r:id="rId8"/>
                </a:rPr>
                <a:t>Infineon Zephyr RTOS Product Page</a:t>
              </a:r>
              <a:endParaRPr lang="en-US" sz="1600" dirty="0">
                <a:solidFill>
                  <a:srgbClr val="000000"/>
                </a:solidFill>
                <a:cs typeface="Arial"/>
              </a:endParaRPr>
            </a:p>
          </p:txBody>
        </p:sp>
        <p:pic>
          <p:nvPicPr>
            <p:cNvPr id="43" name="Picture 42" descr="A logo of a globe with a arrow&#10;&#10;Description automatically generated">
              <a:hlinkClick r:id="rId8"/>
              <a:extLst>
                <a:ext uri="{FF2B5EF4-FFF2-40B4-BE49-F238E27FC236}">
                  <a16:creationId xmlns:a16="http://schemas.microsoft.com/office/drawing/2014/main" id="{146EA19A-9507-B56E-9DD4-9CD4059820E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779635" y="1364793"/>
              <a:ext cx="1524015" cy="1524015"/>
            </a:xfrm>
            <a:prstGeom prst="rect">
              <a:avLst/>
            </a:prstGeom>
          </p:spPr>
        </p:pic>
      </p:grpSp>
      <p:grpSp>
        <p:nvGrpSpPr>
          <p:cNvPr id="13" name="Group 12">
            <a:extLst>
              <a:ext uri="{FF2B5EF4-FFF2-40B4-BE49-F238E27FC236}">
                <a16:creationId xmlns:a16="http://schemas.microsoft.com/office/drawing/2014/main" id="{5A89B68C-F5E8-61A4-AB68-61CE52C86500}"/>
              </a:ext>
            </a:extLst>
          </p:cNvPr>
          <p:cNvGrpSpPr/>
          <p:nvPr/>
        </p:nvGrpSpPr>
        <p:grpSpPr>
          <a:xfrm>
            <a:off x="7241724" y="4232035"/>
            <a:ext cx="3953734" cy="1516581"/>
            <a:chOff x="7467600" y="4379486"/>
            <a:chExt cx="3953734" cy="1516581"/>
          </a:xfrm>
        </p:grpSpPr>
        <p:grpSp>
          <p:nvGrpSpPr>
            <p:cNvPr id="11" name="Group 10">
              <a:extLst>
                <a:ext uri="{FF2B5EF4-FFF2-40B4-BE49-F238E27FC236}">
                  <a16:creationId xmlns:a16="http://schemas.microsoft.com/office/drawing/2014/main" id="{303053A4-E643-ADB3-F15C-D7ABA932F43E}"/>
                </a:ext>
              </a:extLst>
            </p:cNvPr>
            <p:cNvGrpSpPr/>
            <p:nvPr/>
          </p:nvGrpSpPr>
          <p:grpSpPr>
            <a:xfrm>
              <a:off x="7467600" y="4379486"/>
              <a:ext cx="1524014" cy="1516581"/>
              <a:chOff x="457200" y="4350834"/>
              <a:chExt cx="1524014" cy="1516581"/>
            </a:xfrm>
          </p:grpSpPr>
          <p:sp>
            <p:nvSpPr>
              <p:cNvPr id="10" name="Rectangle: Rounded Corners 9">
                <a:extLst>
                  <a:ext uri="{FF2B5EF4-FFF2-40B4-BE49-F238E27FC236}">
                    <a16:creationId xmlns:a16="http://schemas.microsoft.com/office/drawing/2014/main" id="{85CA2A95-D686-F1E2-C421-8A69B0D8C715}"/>
                  </a:ext>
                </a:extLst>
              </p:cNvPr>
              <p:cNvSpPr/>
              <p:nvPr/>
            </p:nvSpPr>
            <p:spPr bwMode="auto">
              <a:xfrm>
                <a:off x="457200" y="4350834"/>
                <a:ext cx="1524014" cy="1516581"/>
              </a:xfrm>
              <a:prstGeom prst="roundRect">
                <a:avLst>
                  <a:gd name="adj" fmla="val 9549"/>
                </a:avLst>
              </a:prstGeom>
              <a:solidFill>
                <a:srgbClr val="6CB4AD"/>
              </a:solidFill>
              <a:ln w="9525">
                <a:noFill/>
                <a:miter lim="800000"/>
                <a:headEnd/>
                <a:tailEnd/>
              </a:ln>
            </p:spPr>
            <p:txBody>
              <a:bodyPr wrap="square" lIns="72000" tIns="72000" rIns="72000" bIns="72000" rtlCol="0" anchor="ctr"/>
              <a:lstStyle/>
              <a:p>
                <a:pPr algn="ctr" defTabSz="576000" eaLnBrk="0" hangingPunct="0">
                  <a:lnSpc>
                    <a:spcPct val="120000"/>
                  </a:lnSpc>
                </a:pPr>
                <a:endParaRPr lang="en-US" sz="1600" baseline="0" dirty="0">
                  <a:solidFill>
                    <a:schemeClr val="bg1"/>
                  </a:solidFill>
                  <a:latin typeface="+mn-lt"/>
                  <a:ea typeface="+mn-ea"/>
                  <a:cs typeface="+mn-cs"/>
                </a:endParaRPr>
              </a:p>
            </p:txBody>
          </p:sp>
          <p:pic>
            <p:nvPicPr>
              <p:cNvPr id="8" name="Picture 7" descr="A blue and black circle with a play button&#10;&#10;Description automatically generated">
                <a:extLst>
                  <a:ext uri="{FF2B5EF4-FFF2-40B4-BE49-F238E27FC236}">
                    <a16:creationId xmlns:a16="http://schemas.microsoft.com/office/drawing/2014/main" id="{E30B47C9-A959-9A4C-0A16-4FB943051A5A}"/>
                  </a:ext>
                </a:extLst>
              </p:cNvPr>
              <p:cNvPicPr>
                <a:picLocks noChangeAspect="1"/>
              </p:cNvPicPr>
              <p:nvPr/>
            </p:nvPicPr>
            <p:blipFill>
              <a:blip r:embed="rId10">
                <a:biLevel thresh="25000"/>
                <a:extLst>
                  <a:ext uri="{28A0092B-C50C-407E-A947-70E740481C1C}">
                    <a14:useLocalDpi xmlns:a14="http://schemas.microsoft.com/office/drawing/2010/main" val="0"/>
                  </a:ext>
                </a:extLst>
              </a:blip>
              <a:stretch>
                <a:fillRect/>
              </a:stretch>
            </p:blipFill>
            <p:spPr>
              <a:xfrm>
                <a:off x="605369" y="4495792"/>
                <a:ext cx="1219208" cy="1219208"/>
              </a:xfrm>
              <a:prstGeom prst="rect">
                <a:avLst/>
              </a:prstGeom>
            </p:spPr>
          </p:pic>
        </p:grpSp>
        <p:sp>
          <p:nvSpPr>
            <p:cNvPr id="12" name="Rectangle 11">
              <a:extLst>
                <a:ext uri="{FF2B5EF4-FFF2-40B4-BE49-F238E27FC236}">
                  <a16:creationId xmlns:a16="http://schemas.microsoft.com/office/drawing/2014/main" id="{81C4339E-019B-D8EB-5C83-B6C9192B41D5}"/>
                </a:ext>
              </a:extLst>
            </p:cNvPr>
            <p:cNvSpPr/>
            <p:nvPr/>
          </p:nvSpPr>
          <p:spPr>
            <a:xfrm>
              <a:off x="9139783" y="4724400"/>
              <a:ext cx="2281551" cy="584775"/>
            </a:xfrm>
            <a:prstGeom prst="rect">
              <a:avLst/>
            </a:prstGeom>
          </p:spPr>
          <p:txBody>
            <a:bodyPr wrap="square">
              <a:spAutoFit/>
            </a:bodyPr>
            <a:lstStyle/>
            <a:p>
              <a:pPr defTabSz="914377">
                <a:spcAft>
                  <a:spcPts val="1200"/>
                </a:spcAft>
              </a:pPr>
              <a:r>
                <a:rPr lang="en-US" sz="1600" dirty="0">
                  <a:solidFill>
                    <a:srgbClr val="000000"/>
                  </a:solidFill>
                  <a:cs typeface="Arial"/>
                  <a:hlinkClick r:id="rId11"/>
                </a:rPr>
                <a:t>PSOC™ 6 and Zephyr Video Tutorial</a:t>
              </a:r>
              <a:endParaRPr lang="en-US" sz="1600" dirty="0">
                <a:solidFill>
                  <a:srgbClr val="000000"/>
                </a:solidFill>
                <a:cs typeface="Arial"/>
              </a:endParaRPr>
            </a:p>
          </p:txBody>
        </p:sp>
      </p:grpSp>
    </p:spTree>
    <p:extLst>
      <p:ext uri="{BB962C8B-B14F-4D97-AF65-F5344CB8AC3E}">
        <p14:creationId xmlns:p14="http://schemas.microsoft.com/office/powerpoint/2010/main" val="40957767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Build &amp; Flash Blinky - Prove the Chain Works</a:t>
            </a:r>
          </a:p>
        </p:txBody>
      </p:sp>
      <p:graphicFrame>
        <p:nvGraphicFramePr>
          <p:cNvPr id="3" name="Table 2"/>
          <p:cNvGraphicFramePr>
            <a:graphicFrameLocks noGrp="1"/>
          </p:cNvGraphicFramePr>
          <p:nvPr>
            <p:extLst>
              <p:ext uri="{D42A27DB-BD31-4B8C-83A1-F6EECF244321}">
                <p14:modId xmlns:p14="http://schemas.microsoft.com/office/powerpoint/2010/main" val="305916884"/>
              </p:ext>
            </p:extLst>
          </p:nvPr>
        </p:nvGraphicFramePr>
        <p:xfrm>
          <a:off x="548640" y="1463040"/>
          <a:ext cx="10195560" cy="2956560"/>
        </p:xfrm>
        <a:graphic>
          <a:graphicData uri="http://schemas.openxmlformats.org/drawingml/2006/table">
            <a:tbl>
              <a:tblPr firstRow="1" bandRow="1">
                <a:tableStyleId>{5C22544A-7EE6-4342-B048-85BDC9FD1C3A}</a:tableStyleId>
              </a:tblPr>
              <a:tblGrid>
                <a:gridCol w="2956560">
                  <a:extLst>
                    <a:ext uri="{9D8B030D-6E8A-4147-A177-3AD203B41FA5}">
                      <a16:colId xmlns:a16="http://schemas.microsoft.com/office/drawing/2014/main" val="20000"/>
                    </a:ext>
                  </a:extLst>
                </a:gridCol>
                <a:gridCol w="46482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613626">
                <a:tc>
                  <a:txBody>
                    <a:bodyPr/>
                    <a:lstStyle/>
                    <a:p>
                      <a:r>
                        <a:rPr b="1" dirty="0"/>
                        <a:t>Your kit</a:t>
                      </a:r>
                    </a:p>
                  </a:txBody>
                  <a:tcPr/>
                </a:tc>
                <a:tc>
                  <a:txBody>
                    <a:bodyPr/>
                    <a:lstStyle/>
                    <a:p>
                      <a:r>
                        <a:rPr b="1"/>
                        <a:t>Board target</a:t>
                      </a:r>
                    </a:p>
                  </a:txBody>
                  <a:tcPr/>
                </a:tc>
                <a:tc>
                  <a:txBody>
                    <a:bodyPr/>
                    <a:lstStyle/>
                    <a:p>
                      <a:r>
                        <a:rPr b="1"/>
                        <a:t>Clean build time</a:t>
                      </a:r>
                    </a:p>
                  </a:txBody>
                  <a:tcPr/>
                </a:tc>
                <a:extLst>
                  <a:ext uri="{0D108BD9-81ED-4DB2-BD59-A6C34878D82A}">
                    <a16:rowId xmlns:a16="http://schemas.microsoft.com/office/drawing/2014/main" val="10000"/>
                  </a:ext>
                </a:extLst>
              </a:tr>
              <a:tr h="780978">
                <a:tc>
                  <a:txBody>
                    <a:bodyPr/>
                    <a:lstStyle/>
                    <a:p>
                      <a:r>
                        <a:rPr dirty="0"/>
                        <a:t>CY8CPROTO-041TP </a:t>
                      </a:r>
                      <a:br>
                        <a:rPr lang="en-US" dirty="0"/>
                      </a:br>
                      <a:r>
                        <a:rPr dirty="0"/>
                        <a:t>(PSOC™ 4100T Plus)</a:t>
                      </a:r>
                    </a:p>
                  </a:txBody>
                  <a:tcPr/>
                </a:tc>
                <a:tc>
                  <a:txBody>
                    <a:bodyPr/>
                    <a:lstStyle/>
                    <a:p>
                      <a:r>
                        <a:rPr dirty="0"/>
                        <a:t>cy8cproto_041tp</a:t>
                      </a:r>
                    </a:p>
                  </a:txBody>
                  <a:tcPr/>
                </a:tc>
                <a:tc>
                  <a:txBody>
                    <a:bodyPr/>
                    <a:lstStyle/>
                    <a:p>
                      <a:r>
                        <a:t>~2 minutes</a:t>
                      </a:r>
                    </a:p>
                  </a:txBody>
                  <a:tcPr/>
                </a:tc>
                <a:extLst>
                  <a:ext uri="{0D108BD9-81ED-4DB2-BD59-A6C34878D82A}">
                    <a16:rowId xmlns:a16="http://schemas.microsoft.com/office/drawing/2014/main" val="10001"/>
                  </a:ext>
                </a:extLst>
              </a:tr>
              <a:tr h="780978">
                <a:tc>
                  <a:txBody>
                    <a:bodyPr/>
                    <a:lstStyle/>
                    <a:p>
                      <a:r>
                        <a:rPr dirty="0"/>
                        <a:t>KIT_PSC3M6_EVAL </a:t>
                      </a:r>
                      <a:br>
                        <a:rPr lang="en-US" dirty="0"/>
                      </a:br>
                      <a:r>
                        <a:rPr dirty="0"/>
                        <a:t>(PSOC™ Control C3M6)</a:t>
                      </a:r>
                    </a:p>
                  </a:txBody>
                  <a:tcPr/>
                </a:tc>
                <a:tc>
                  <a:txBody>
                    <a:bodyPr/>
                    <a:lstStyle/>
                    <a:p>
                      <a:r>
                        <a:t>kit_psc3m6_evk</a:t>
                      </a:r>
                    </a:p>
                  </a:txBody>
                  <a:tcPr/>
                </a:tc>
                <a:tc>
                  <a:txBody>
                    <a:bodyPr/>
                    <a:lstStyle/>
                    <a:p>
                      <a:r>
                        <a:t>~1.5 minutes</a:t>
                      </a:r>
                    </a:p>
                  </a:txBody>
                  <a:tcPr/>
                </a:tc>
                <a:extLst>
                  <a:ext uri="{0D108BD9-81ED-4DB2-BD59-A6C34878D82A}">
                    <a16:rowId xmlns:a16="http://schemas.microsoft.com/office/drawing/2014/main" val="10002"/>
                  </a:ext>
                </a:extLst>
              </a:tr>
              <a:tr h="780978">
                <a:tc>
                  <a:txBody>
                    <a:bodyPr/>
                    <a:lstStyle/>
                    <a:p>
                      <a:r>
                        <a:rPr dirty="0"/>
                        <a:t>KIT_PSE84_EVAL </a:t>
                      </a:r>
                      <a:br>
                        <a:rPr lang="en-US" dirty="0"/>
                      </a:br>
                      <a:r>
                        <a:rPr dirty="0"/>
                        <a:t>(PSOC™ Edge E84)</a:t>
                      </a:r>
                    </a:p>
                  </a:txBody>
                  <a:tcPr/>
                </a:tc>
                <a:tc>
                  <a:txBody>
                    <a:bodyPr/>
                    <a:lstStyle/>
                    <a:p>
                      <a:r>
                        <a:t>kit_pse84_eval/pse846gps2dbzc4a/m55</a:t>
                      </a:r>
                    </a:p>
                  </a:txBody>
                  <a:tcPr/>
                </a:tc>
                <a:tc>
                  <a:txBody>
                    <a:bodyPr/>
                    <a:lstStyle/>
                    <a:p>
                      <a:r>
                        <a:rPr dirty="0"/>
                        <a:t>~4 minutes </a:t>
                      </a:r>
                      <a:br>
                        <a:rPr lang="en-US" dirty="0"/>
                      </a:br>
                      <a:r>
                        <a:rPr dirty="0"/>
                        <a:t>(needs --</a:t>
                      </a:r>
                      <a:r>
                        <a:rPr dirty="0" err="1"/>
                        <a:t>sysbuild</a:t>
                      </a:r>
                      <a:r>
                        <a:rPr dirty="0"/>
                        <a:t>)</a:t>
                      </a:r>
                    </a:p>
                  </a:txBody>
                  <a:tcPr/>
                </a:tc>
                <a:extLst>
                  <a:ext uri="{0D108BD9-81ED-4DB2-BD59-A6C34878D82A}">
                    <a16:rowId xmlns:a16="http://schemas.microsoft.com/office/drawing/2014/main" val="10003"/>
                  </a:ext>
                </a:extLst>
              </a:tr>
            </a:tbl>
          </a:graphicData>
        </a:graphic>
      </p:graphicFrame>
      <p:sp>
        <p:nvSpPr>
          <p:cNvPr id="4" name="TextBox 3"/>
          <p:cNvSpPr txBox="1"/>
          <p:nvPr/>
        </p:nvSpPr>
        <p:spPr>
          <a:xfrm>
            <a:off x="548640" y="4683293"/>
            <a:ext cx="10195560" cy="1169551"/>
          </a:xfrm>
          <a:prstGeom prst="rect">
            <a:avLst/>
          </a:prstGeom>
          <a:noFill/>
        </p:spPr>
        <p:txBody>
          <a:bodyPr wrap="square">
            <a:spAutoFit/>
          </a:bodyPr>
          <a:lstStyle/>
          <a:p>
            <a:r>
              <a:rPr b="1" dirty="0">
                <a:solidFill>
                  <a:schemeClr val="tx2"/>
                </a:solidFill>
              </a:rPr>
              <a:t>west build -b &lt;board&gt; -d build/blinky -s zephyr/samples/basic/blinky</a:t>
            </a:r>
          </a:p>
          <a:p>
            <a:pPr lvl="1"/>
            <a:r>
              <a:rPr dirty="0"/>
              <a:t>PSOC™ Edge needs --</a:t>
            </a:r>
            <a:r>
              <a:rPr dirty="0" err="1"/>
              <a:t>sysbuild</a:t>
            </a:r>
            <a:r>
              <a:rPr dirty="0"/>
              <a:t> (</a:t>
            </a:r>
            <a:r>
              <a:rPr lang="en-US" dirty="0"/>
              <a:t>for CM55 builds</a:t>
            </a:r>
            <a:r>
              <a:rPr dirty="0"/>
              <a:t>) - the build succeeds</a:t>
            </a:r>
            <a:r>
              <a:rPr lang="en-US" dirty="0"/>
              <a:t>, but </a:t>
            </a:r>
            <a:r>
              <a:rPr dirty="0"/>
              <a:t>without it</a:t>
            </a:r>
            <a:r>
              <a:rPr lang="en-US" dirty="0"/>
              <a:t> </a:t>
            </a:r>
            <a:r>
              <a:rPr dirty="0"/>
              <a:t>nothing starts the core</a:t>
            </a:r>
            <a:br>
              <a:rPr lang="en-US" dirty="0"/>
            </a:br>
            <a:endParaRPr dirty="0"/>
          </a:p>
          <a:p>
            <a:r>
              <a:rPr b="1" dirty="0">
                <a:solidFill>
                  <a:schemeClr val="tx2"/>
                </a:solidFill>
              </a:rPr>
              <a:t>west flash -d build/blinky</a:t>
            </a:r>
          </a:p>
          <a:p>
            <a:pPr lvl="1"/>
            <a:r>
              <a:rPr dirty="0"/>
              <a:t>Success = a memory usage report ending the build, and a blinking LED</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pPr>
              <a:spcAft>
                <a:spcPts val="1200"/>
              </a:spcAft>
            </a:pPr>
            <a:r>
              <a:rPr dirty="0"/>
              <a:t>'west' is not recognized → reopen your terminal; pip install west did not land on PATH</a:t>
            </a:r>
          </a:p>
          <a:p>
            <a:pPr>
              <a:spcAft>
                <a:spcPts val="1200"/>
              </a:spcAft>
            </a:pPr>
            <a:r>
              <a:rPr dirty="0"/>
              <a:t>west: unknown command "</a:t>
            </a:r>
            <a:r>
              <a:rPr dirty="0" err="1"/>
              <a:t>sdk</a:t>
            </a:r>
            <a:r>
              <a:rPr dirty="0"/>
              <a:t>" → west update has not finished, or you're not inside </a:t>
            </a:r>
            <a:r>
              <a:rPr dirty="0" err="1"/>
              <a:t>devcon-ws</a:t>
            </a:r>
            <a:endParaRPr dirty="0"/>
          </a:p>
          <a:p>
            <a:pPr>
              <a:spcAft>
                <a:spcPts val="1200"/>
              </a:spcAft>
            </a:pPr>
            <a:r>
              <a:rPr dirty="0"/>
              <a:t>ERROR: board &lt;name&gt; not found → typo in the board target, or running from outside </a:t>
            </a:r>
            <a:r>
              <a:rPr dirty="0" err="1"/>
              <a:t>devcon-ws</a:t>
            </a:r>
            <a:endParaRPr dirty="0"/>
          </a:p>
          <a:p>
            <a:pPr>
              <a:spcAft>
                <a:spcPts val="1200"/>
              </a:spcAft>
            </a:pPr>
            <a:r>
              <a:rPr dirty="0"/>
              <a:t>Build succeeds, west flash can't find OpenOCD → the west config line from Setup is missing or wrong</a:t>
            </a:r>
          </a:p>
          <a:p>
            <a:pPr>
              <a:spcAft>
                <a:spcPts val="1200"/>
              </a:spcAft>
            </a:pPr>
            <a:r>
              <a:rPr dirty="0"/>
              <a:t>Build succeeds, flash succeeds, no LED (PSOC™ Edge) → you left out --</a:t>
            </a:r>
            <a:r>
              <a:rPr dirty="0" err="1"/>
              <a:t>sysbuild</a:t>
            </a:r>
            <a:endParaRPr dirty="0"/>
          </a:p>
          <a:p>
            <a:pPr>
              <a:spcAft>
                <a:spcPts val="1200"/>
              </a:spcAft>
            </a:pPr>
            <a:r>
              <a:rPr dirty="0"/>
              <a:t>west update stops partway → network issue; run west update --narrow again, it resumes</a:t>
            </a:r>
          </a:p>
        </p:txBody>
      </p:sp>
      <p:sp>
        <p:nvSpPr>
          <p:cNvPr id="3" name="Title 2"/>
          <p:cNvSpPr>
            <a:spLocks noGrp="1"/>
          </p:cNvSpPr>
          <p:nvPr>
            <p:ph type="title"/>
          </p:nvPr>
        </p:nvSpPr>
        <p:spPr/>
        <p:txBody>
          <a:bodyPr/>
          <a:lstStyle/>
          <a:p>
            <a:r>
              <a:t>If Something Goes Wrong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west on the command line is the one skill every attendee needs - but a good editor still earns its keep:</a:t>
            </a:r>
          </a:p>
          <a:p>
            <a:pPr lvl="1"/>
            <a:r>
              <a:rPr dirty="0"/>
              <a:t>Syntax highlighting for </a:t>
            </a:r>
            <a:r>
              <a:rPr dirty="0" err="1"/>
              <a:t>devicetree</a:t>
            </a:r>
            <a:r>
              <a:rPr dirty="0"/>
              <a:t> (.overlay) and Kconfig (</a:t>
            </a:r>
            <a:r>
              <a:rPr dirty="0" err="1"/>
              <a:t>prj.conf</a:t>
            </a:r>
            <a:r>
              <a:rPr dirty="0"/>
              <a:t>)</a:t>
            </a:r>
          </a:p>
          <a:p>
            <a:pPr lvl="1"/>
            <a:r>
              <a:rPr dirty="0"/>
              <a:t>One-click build/flash/debug instead of retyping commands</a:t>
            </a:r>
            <a:br>
              <a:rPr lang="en-US" dirty="0"/>
            </a:br>
            <a:endParaRPr dirty="0"/>
          </a:p>
          <a:p>
            <a:r>
              <a:rPr dirty="0"/>
              <a:t>Two supported paths today - pick based on how much you want VS Code to manage for you:</a:t>
            </a:r>
          </a:p>
          <a:p>
            <a:pPr lvl="1"/>
            <a:r>
              <a:rPr dirty="0"/>
              <a:t>Option A - Ac6 Zephyr Workbench: one extension, manages SDK/toolchain/build/flash/debug</a:t>
            </a:r>
          </a:p>
          <a:p>
            <a:pPr lvl="1"/>
            <a:r>
              <a:rPr dirty="0"/>
              <a:t>Option B - lightweight extensions: better editing only, you keep driving west yourself</a:t>
            </a:r>
          </a:p>
        </p:txBody>
      </p:sp>
      <p:sp>
        <p:nvSpPr>
          <p:cNvPr id="3" name="Title 2"/>
          <p:cNvSpPr>
            <a:spLocks noGrp="1"/>
          </p:cNvSpPr>
          <p:nvPr>
            <p:ph type="title"/>
          </p:nvPr>
        </p:nvSpPr>
        <p:spPr/>
        <p:txBody>
          <a:bodyPr/>
          <a:lstStyle/>
          <a:p>
            <a:r>
              <a:t>Working in VS Code with Zephyr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Install Ac6.zephyr-workbench from the VS Code Marketplace</a:t>
            </a:r>
            <a:br>
              <a:rPr lang="en-US" dirty="0"/>
            </a:br>
            <a:endParaRPr dirty="0"/>
          </a:p>
          <a:p>
            <a:r>
              <a:rPr dirty="0"/>
              <a:t>Open your </a:t>
            </a:r>
            <a:r>
              <a:rPr dirty="0" err="1"/>
              <a:t>devcon-ws</a:t>
            </a:r>
            <a:r>
              <a:rPr dirty="0"/>
              <a:t> folder - it auto-detects the workspace, Zephyr SDK, and Infineon boards, no manual import needed</a:t>
            </a:r>
            <a:br>
              <a:rPr lang="en-US" dirty="0"/>
            </a:br>
            <a:endParaRPr dirty="0"/>
          </a:p>
          <a:p>
            <a:r>
              <a:rPr dirty="0"/>
              <a:t>Validated in hands-on testing:</a:t>
            </a:r>
          </a:p>
          <a:p>
            <a:pPr lvl="1"/>
            <a:r>
              <a:rPr dirty="0"/>
              <a:t>Infineon boards appear in the board picker out of the box (no BOARD_ROOT config needed)</a:t>
            </a:r>
          </a:p>
          <a:p>
            <a:pPr lvl="1"/>
            <a:r>
              <a:rPr dirty="0"/>
              <a:t>Debug-tools installer fetches Infineon's real ModusToolbox™ Programming Tools - not a reimplementation</a:t>
            </a:r>
          </a:p>
          <a:p>
            <a:pPr lvl="1"/>
            <a:r>
              <a:rPr dirty="0"/>
              <a:t>Good </a:t>
            </a:r>
            <a:r>
              <a:rPr dirty="0" err="1"/>
              <a:t>clangd</a:t>
            </a:r>
            <a:r>
              <a:rPr dirty="0"/>
              <a:t> defaults: auto-wires the Zephyr SDK toolchain, disables the conflicting default IntelliSense engine</a:t>
            </a:r>
            <a:br>
              <a:rPr lang="en-US" dirty="0"/>
            </a:br>
            <a:endParaRPr dirty="0"/>
          </a:p>
          <a:p>
            <a:r>
              <a:rPr dirty="0"/>
              <a:t>Known rough edges to plan for:</a:t>
            </a:r>
          </a:p>
          <a:p>
            <a:pPr lvl="1"/>
            <a:r>
              <a:rPr dirty="0"/>
              <a:t>OpenOCD/J-Link installers need UAC admin rights - may be blocked on locked-down laptops</a:t>
            </a:r>
          </a:p>
          <a:p>
            <a:pPr lvl="1"/>
            <a:r>
              <a:rPr dirty="0"/>
              <a:t>No bundled Kconfig support - add </a:t>
            </a:r>
            <a:r>
              <a:rPr dirty="0" err="1"/>
              <a:t>luveti.kconfig</a:t>
            </a:r>
            <a:r>
              <a:rPr dirty="0"/>
              <a:t> separately (not </a:t>
            </a:r>
            <a:r>
              <a:rPr dirty="0" err="1"/>
              <a:t>trond-snekvik.kconfig</a:t>
            </a:r>
            <a:r>
              <a:rPr dirty="0"/>
              <a:t>, which is Nordic-branded)</a:t>
            </a:r>
          </a:p>
          <a:p>
            <a:pPr lvl="1"/>
            <a:r>
              <a:rPr dirty="0"/>
              <a:t>A per-app </a:t>
            </a:r>
            <a:r>
              <a:rPr dirty="0" err="1"/>
              <a:t>venv</a:t>
            </a:r>
            <a:r>
              <a:rPr dirty="0"/>
              <a:t> path bug is non-fatal only if you already have system Python on PATH</a:t>
            </a:r>
          </a:p>
        </p:txBody>
      </p:sp>
      <p:sp>
        <p:nvSpPr>
          <p:cNvPr id="3" name="Title 2"/>
          <p:cNvSpPr>
            <a:spLocks noGrp="1"/>
          </p:cNvSpPr>
          <p:nvPr>
            <p:ph type="title"/>
          </p:nvPr>
        </p:nvSpPr>
        <p:spPr/>
        <p:txBody>
          <a:bodyPr/>
          <a:lstStyle/>
          <a:p>
            <a:r>
              <a:t>Option A - Ac6 Zephyr Workbench (full IDE)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a:lstStyle/>
          <a:p>
            <a:r>
              <a:rPr dirty="0"/>
              <a:t>For attendees comfortable with west on the command line who just want a better editor</a:t>
            </a:r>
            <a:br>
              <a:rPr lang="en-US" dirty="0"/>
            </a:br>
            <a:endParaRPr dirty="0"/>
          </a:p>
          <a:p>
            <a:r>
              <a:rPr dirty="0"/>
              <a:t>Install these three extensions:</a:t>
            </a:r>
          </a:p>
          <a:p>
            <a:pPr lvl="1"/>
            <a:r>
              <a:rPr dirty="0" err="1"/>
              <a:t>clangd</a:t>
            </a:r>
            <a:r>
              <a:rPr dirty="0"/>
              <a:t> - IntelliSense (disable the default C/C++ extension's engine to avoid conflicts)</a:t>
            </a:r>
          </a:p>
          <a:p>
            <a:pPr lvl="1"/>
            <a:r>
              <a:rPr dirty="0" err="1"/>
              <a:t>KyleMicallefBonnici.dts-lsp</a:t>
            </a:r>
            <a:r>
              <a:rPr dirty="0"/>
              <a:t> - </a:t>
            </a:r>
            <a:r>
              <a:rPr dirty="0" err="1"/>
              <a:t>devicetree</a:t>
            </a:r>
            <a:r>
              <a:rPr dirty="0"/>
              <a:t>/.overlay syntax highlighting</a:t>
            </a:r>
          </a:p>
          <a:p>
            <a:pPr lvl="1"/>
            <a:r>
              <a:rPr dirty="0" err="1"/>
              <a:t>luveti.kconfig</a:t>
            </a:r>
            <a:r>
              <a:rPr dirty="0"/>
              <a:t> - Kconfig syntax highlighting (vendor-neutral)</a:t>
            </a:r>
            <a:br>
              <a:rPr lang="en-US" dirty="0"/>
            </a:br>
            <a:endParaRPr dirty="0"/>
          </a:p>
          <a:p>
            <a:r>
              <a:rPr dirty="0"/>
              <a:t>Wrap west build / west flash in a simple VS Code task (</a:t>
            </a:r>
            <a:r>
              <a:rPr dirty="0" err="1"/>
              <a:t>tasks.json</a:t>
            </a:r>
            <a:r>
              <a:rPr dirty="0"/>
              <a:t>) if you want a button instead of typing commands</a:t>
            </a:r>
            <a:br>
              <a:rPr lang="en-US" dirty="0"/>
            </a:br>
            <a:endParaRPr dirty="0"/>
          </a:p>
          <a:p>
            <a:r>
              <a:rPr dirty="0"/>
              <a:t>No SDK/toolchain management, no board auto-detection - you're still driving west yourself, just with a nicer editor</a:t>
            </a:r>
          </a:p>
        </p:txBody>
      </p:sp>
      <p:sp>
        <p:nvSpPr>
          <p:cNvPr id="3" name="Title 2"/>
          <p:cNvSpPr>
            <a:spLocks noGrp="1"/>
          </p:cNvSpPr>
          <p:nvPr>
            <p:ph type="title"/>
          </p:nvPr>
        </p:nvSpPr>
        <p:spPr/>
        <p:txBody>
          <a:bodyPr/>
          <a:lstStyle/>
          <a:p>
            <a:r>
              <a:t>Option B - Lightweight Extensions-Only Path</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98464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CLMASTER" val="0"/>
  <p:tag name="SLIDESPERROW" val="4"/>
  <p:tag name="THUMBWIDTH" val="220"/>
  <p:tag name="INFINEON_CATEGORY" val="{&quot;CategoryList&quot;:[],&quot;CategoryDictionary&quot;:{}}"/>
  <p:tag name="EMPOWERCHARTSPROPERTIES_A_0" val="AAAAAAH//////////wEAAAAAAAAAAAAAACoqIFRoaXMgaXMgYSBMaXRlREIgZmlsZSAqKgcEAP////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AQAAAAAAAAAAAAAAEQAAAFByb3BlcnR5RG9jdW1lbnRzAwAAAAAAAAAEAAAACQAAAF9pZD0kLl9pZAEDAAAAAAADAAAAAQADAAAAIwAAAENvbWJpSW5kZXg9JC5OYW1lICsgJ18nICsgJC5WZXJzaW9uAQUAAAAAAAUAAAABAAUAAAAAAAAAAP///////wAAAAAAAP////8AAAAAAP///////wAAAAAAAP////8AAAAAAP///////wAAAAAAAP////8AAAAAAP///////wAAAAAAAP////8AAAAAAP///////wAAAAAAAP////8AAAAAAP///////wAAAAAAAP////8AAAAAAP///////wAAAAAAAP////8AAAAAAP///////wAAAAAAAP////8AAAAAAP///////wAAAAAAAP////8AAAAAAP///////wAAAAAAAP////8AAAAAAP///////wAAAAAAAP////8AAAAAAP///////wAAAAAAAP////8AAAAAAP///////wAAAAAAAP////8AAAAAAP///////wAAAAAAAP////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IBAQEBAQEBAQEBAQEBAQMAAAAAAAAAAwAAAAMAAAAA/////wUA/gsAAAAAAAAAAAAAIAD///////////////8AAAD///////////////8DAAAAAgD///////8DAAAAAwD///////////////////////////////////////////////////////////////////////////////////////////////////////////////////////////////////////////////////////////////////////////////////////////////////////////////////////////////////////////////////////////////////////////////////////////////////////////////////////////////////////////////////////////////////////////////////////////////////////////////////////////////////////////////////////////////////////////////////////////////8BACAA////////////////AAAO////////AwAAAAQA////////////////////////////////////////////////////////////////////////////////////////////////////////////////////////////////////////////////////////////////////////////////////////////////////////////////////////////////////////////////////////////////////////////////////////////////////////////////////////////////////////////////////////////////////////////////////////////////////////////////////////////////////////////////////////////////////////////////////////////////////////////////////////AgABAP///////wUAAAACABAAC10GBAEGmsRCrWeMKWDzcgcEAAAAAAADAAAAAAADAAAAAwADAAIA////////BQAAAAMAEAAL1tOUau8zpU2NYkRIb9lDWQQAAAABAAMAAAACAAMAAAAEAAMAAAAAAAMAAAAEAAQAAgD///////8FAAAABAAQAAtU0aCsIfNqT7UjuaR5MIJhBAAAAAIAAwAAAAMAAwAAAAEAAwAAAAM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EAAAAAP////8DAAMOAAAAAAAAAAAAAP////+DAIMAAAAFX2lkABAAAAAEXQYEAQaaxEKtZ4wpYPNyBwNEYXRhABsAAAAETGlua2VkU2hhcGVEYXRhAAUAAAAAAAJOYW1lABkAAABMaW5rZWRTaGFwZXNEYXRhUHJvcGVydHkAEFZlcnNpb24AAAAAAAlMYXN0V3JpdGUAQe86A4IBAAAAAQD/////gwCDAAAABV9pZAAQAAAABNbTlGrvM6VNjWJESG/ZQ1kDRGF0YQAbAAAABExpbmtlZFNoYXBlRGF0YQAFAAAAAAACTmFtZQAZAAAATGlua2VkU2hhcGVzRGF0YVByb3BlcnR5ABBWZXJzaW9uAAEAAAAJTGFzdFdyaXRlAPjPZFaOAQAAAAIA/////8YAxgAAAAVfaWQAEAAAAARU0aCsIfNqT7UjuaR5MIJhA0RhdGEAUwAAAAhQcmVzZW50YXRpb25TY2FubmVkRm9yTGlua2VkU2hhcGVzAAECTnVtYmVyRm9ybWF0U2VwYXJhdG9yTW9kZQAKAAAAQXV0b21hdGljAAACTmFtZQAkAAAATGlua2VkU2hhcGVQcmVzZW50YXRpb25TZXR0aW5nc0RhdGEAEFZlcnNpb24AAAAAAAlMYXN0V3JpdGUAWe86A4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AwAAAAD/////BQDVCwAAAAAAAAAAAAAgAf///////////////wAAAP///////////////wUAAAAEAP///////wUAAAAEAP///////////////////////////////////////////////////////////////////////////////////////////////////////////////////////////////////////////////////////////////////////////////////////////////////////////////////////////////////////////////////////////////////////////////////////////////////////////////////////////////////////////////////////////////////////////////////////////////////////////////////////////////////////////////////////////////////////////////////////////////wEAIAH///////////////8AAA7///////8FAAAAAwD///////////////////////////////////////////////////////////////////////////////////////////////////////////////////////////////////////////////////////////////////////////////////////////////////////////////////////////////////////////////////////////////////////////////////////////////////////////////////////////////////////////////////////////////////////////////////////////////////////////////////////////////////////////////////////////////////////////////////////////////////////////////////////8CAAEBAwAAAAIA////////GgAGTGlua2VkU2hhcGVzRGF0YVByb3BlcnR5XzAEAAAAAAAFAAAABAAFAAAAAwADAAIBAwAAAAMA////////GgAGTGlua2VkU2hhcGVzRGF0YVByb3BlcnR5XzEEAAAAAQAFAAAAAgAFAAAAAQAFAAAABAD///////8EAAIBAwAAAAQA////////JQAGTGlua2VkU2hhcGVQcmVzZW50YXRpb25TZXR0aW5nc0RhdGFfMAQAAAACAAUAAAAAAAUAAAACAAUAAAAAAAUAAAAD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
  <p:tag name="EMPOWERCHARTSPROPERTIES_SLOT" val="A"/>
  <p:tag name="EMPOWERCHARTSPROPERTIES_LASTWRITEDATE" val="638464432312502879"/>
  <p:tag name="EMPOWERCHARTSPROPERTIES_A_LENGTH" val="24576"/>
  <p:tag name="MIO_PRESENTATION_LANGUAGE" val="1033"/>
</p:tagLst>
</file>

<file path=ppt/tags/tag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xml><?xml version="1.0" encoding="utf-8"?>
<p:tagLst xmlns:a="http://schemas.openxmlformats.org/drawingml/2006/main" xmlns:r="http://schemas.openxmlformats.org/officeDocument/2006/relationships" xmlns:p="http://schemas.openxmlformats.org/presentationml/2006/main">
  <p:tag name="MIO_HDS" val="True"/>
  <p:tag name="MIO_SKIPVERSION" val="01.01.0001 00:00:00"/>
  <p:tag name="MIO_EKGUID" val="f8120ca7-cceb-428f-a7d0-f20ce9397e1b"/>
  <p:tag name="MIO_UPDATE" val="True"/>
  <p:tag name="MIO_DBID" val="FDE84254-54DB-49E3-9A0E-CDE72035D530"/>
  <p:tag name="MIO_OBJECTNAME" val="Infineon LCD 16:9"/>
  <p:tag name="MIO_FALLBACK_LAYOUT" val="6"/>
  <p:tag name="MIO_SHOW_DATE" val="False"/>
  <p:tag name="MIO_SHOW_FOOTER" val="False"/>
  <p:tag name="MIO_SHOW_PAGENUMBER" val="False"/>
  <p:tag name="MIO_AVOID_BLANK_LAYOUT" val="False"/>
  <p:tag name="MIO_CD_LAYOUT_VALID_AREA" val="False"/>
  <p:tag name="MIO_EMBED_FONT" val="False"/>
  <p:tag name="MIO_MATCH_COLOR_SCHEME" val="True"/>
  <p:tag name="MIO_NUMBER_OF_VALID_LAYOUTS" val="20"/>
  <p:tag name="MIO_VERSION" val="26.06.2025 13:03:05"/>
  <p:tag name="MIO_LASTDOWNLOADED" val="30.06.2025 15:19:25.787"/>
  <p:tag name="MIO_CONTENTTAG" val="tZYKi94fO0WkUe8IIAF0WQ=="/>
  <p:tag name="MIO_CDID" val="e2fc2f9e-d5cf-4311-b3a1-0559b8fd1ab8"/>
</p:tagLst>
</file>

<file path=ppt/tags/tag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7.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69.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1.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5.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1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4.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2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2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6.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3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3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48.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4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5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6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6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2.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7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7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8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0.xml><?xml version="1.0" encoding="utf-8"?>
<p:tagLst xmlns:a="http://schemas.openxmlformats.org/drawingml/2006/main" xmlns:r="http://schemas.openxmlformats.org/officeDocument/2006/relationships" xmlns:p="http://schemas.openxmlformats.org/presentationml/2006/main">
  <p:tag name="MIO_CD_LOGO_PROTECTION" val="true"/>
</p:tagLst>
</file>

<file path=ppt/tags/tag19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4.xml><?xml version="1.0" encoding="utf-8"?>
<p:tagLst xmlns:a="http://schemas.openxmlformats.org/drawingml/2006/main" xmlns:r="http://schemas.openxmlformats.org/officeDocument/2006/relationships" xmlns:p="http://schemas.openxmlformats.org/presentationml/2006/main">
  <p:tag name="MIO_PLACEHOLDER_MAPPING" val="Infineon 16:9MIOPlaceholderMapping.IFX_Final_ClaimMIOPlaceholderMapping.19MIOPlaceholderMapping-Infineon 16:9MIOPlaceholderMapping.FinalMIOPlaceholderMapping.18"/>
</p:tagLst>
</file>

<file path=ppt/tags/tag19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19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5.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6.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7.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8.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09.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0.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1.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2.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3.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4.xml><?xml version="1.0" encoding="utf-8"?>
<p:tagLst xmlns:a="http://schemas.openxmlformats.org/drawingml/2006/main" xmlns:r="http://schemas.openxmlformats.org/officeDocument/2006/relationships" xmlns:p="http://schemas.openxmlformats.org/presentationml/2006/main">
  <p:tag name="MIO_SKIP_CDCHECK" val="True"/>
</p:tagLst>
</file>

<file path=ppt/tags/tag215.xml><?xml version="1.0" encoding="utf-8"?>
<p:tagLst xmlns:a="http://schemas.openxmlformats.org/drawingml/2006/main" xmlns:r="http://schemas.openxmlformats.org/officeDocument/2006/relationships" xmlns:p="http://schemas.openxmlformats.org/presentationml/2006/main">
  <p:tag name="MIO_AGENDA_LEVEL_STRING" val="1"/>
  <p:tag name="MIO_AGENDA_ELEMENTNAME" val="Zephyr Project Introduction ( Overview | Ecosystem | Dev Community )"/>
  <p:tag name="MIO_AGENDA_EXPLICIT_ITEM_LEVEL_TAG" val="0"/>
  <p:tag name="MIO_AGENDA_NUMBER_STRING_TAG" val="1"/>
  <p:tag name="MIO_AGENDA_SHOW_SUBITEMS_LEVEL2_TAG" val="True"/>
  <p:tag name="MIO_AGENDA_SCALEMODE_FIT_TO_SLIDE_TAG" val="True"/>
  <p:tag name="MIO_EKGUID" val="d9b0a732-6d6c-4fe3-b9e8-6a4a78dae162"/>
  <p:tag name="MIO_GUID" val="1033ce7c-cb5b-4884-b2fd-e2dd3ddff04e"/>
  <p:tag name="MIO_VERSION" val="31.12.9999 23:59:59"/>
  <p:tag name="MIO_DBID" val="fde84254-54db-49e3-9a0e-cde72035d530"/>
  <p:tag name="MIO_LASTDOWNLOADED" val="11.10.2026 20:59:37.213"/>
  <p:tag name="MIO_UPDATE" val="False"/>
</p:tagLst>
</file>

<file path=ppt/tags/tag216.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17.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18.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21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2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21.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22.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23.xml><?xml version="1.0" encoding="utf-8"?>
<p:tagLst xmlns:a="http://schemas.openxmlformats.org/drawingml/2006/main" xmlns:r="http://schemas.openxmlformats.org/officeDocument/2006/relationships" xmlns:p="http://schemas.openxmlformats.org/presentationml/2006/main">
  <p:tag name="MIO_AGENDA_LEVEL_STRING" val="2"/>
  <p:tag name="MIO_AGENDA_ELEMENTNAME" val="Infineon's involvement within Zephyr ( Platinum Membership | TSC )"/>
  <p:tag name="MIO_AGENDA_EXPLICIT_ITEM_LEVEL_TAG" val="0"/>
  <p:tag name="MIO_AGENDA_NUMBER_STRING_TAG" val="2"/>
  <p:tag name="MIO_AGENDA_SHOW_SUBITEMS_LEVEL2_TAG" val="True"/>
  <p:tag name="MIO_AGENDA_SCALEMODE_FIT_TO_SLIDE_TAG" val="True"/>
  <p:tag name="MIO_EKGUID" val="d9b0a732-6d6c-4fe3-b9e8-6a4a78dae162"/>
  <p:tag name="MIO_GUID" val="1f7a95f9-26a6-4ae3-b5c8-4f40aa84fba5"/>
  <p:tag name="MIO_VERSION" val="31.12.9999 23:59:59"/>
  <p:tag name="MIO_DBID" val="fde84254-54db-49e3-9a0e-cde72035d530"/>
  <p:tag name="MIO_LASTDOWNLOADED" val="11.10.2026 20:59:37.365"/>
  <p:tag name="MIO_UPDATE" val="False"/>
</p:tagLst>
</file>

<file path=ppt/tags/tag224.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25.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26.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27.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28.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ags/tag229.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0.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31.xml><?xml version="1.0" encoding="utf-8"?>
<p:tagLst xmlns:a="http://schemas.openxmlformats.org/drawingml/2006/main" xmlns:r="http://schemas.openxmlformats.org/officeDocument/2006/relationships" xmlns:p="http://schemas.openxmlformats.org/presentationml/2006/main">
  <p:tag name="MIO_AGENDA_LEVEL_STRING" val="3"/>
  <p:tag name="MIO_AGENDA_ELEMENTNAME" val="Getting started with Zephyr ( Development Board Support )"/>
  <p:tag name="MIO_AGENDA_EXPLICIT_ITEM_LEVEL_TAG" val="0"/>
  <p:tag name="MIO_AGENDA_NUMBER_STRING_TAG" val="3"/>
  <p:tag name="MIO_AGENDA_SHOW_SUBITEMS_LEVEL2_TAG" val="True"/>
  <p:tag name="MIO_AGENDA_SCALEMODE_FIT_TO_SLIDE_TAG" val="True"/>
  <p:tag name="MIO_EKGUID" val="d9b0a732-6d6c-4fe3-b9e8-6a4a78dae162"/>
  <p:tag name="MIO_GUID" val="46273cef-2fcb-4fcd-b5b9-de2dfe6be5e1"/>
  <p:tag name="MIO_VERSION" val="31.12.9999 23:59:59"/>
  <p:tag name="MIO_DBID" val="fde84254-54db-49e3-9a0e-cde72035d530"/>
  <p:tag name="MIO_LASTDOWNLOADED" val="11.10.2026 20:59:37.457"/>
  <p:tag name="MIO_UPDATE" val="False"/>
</p:tagLst>
</file>

<file path=ppt/tags/tag232.xml><?xml version="1.0" encoding="utf-8"?>
<p:tagLst xmlns:a="http://schemas.openxmlformats.org/drawingml/2006/main" xmlns:r="http://schemas.openxmlformats.org/officeDocument/2006/relationships" xmlns:p="http://schemas.openxmlformats.org/presentationml/2006/main">
  <p:tag name="MIO_SHAPETYPES_AGENDA" val="MIO_AGENDA_TITLE"/>
</p:tagLst>
</file>

<file path=ppt/tags/tag233.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4.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35.xml><?xml version="1.0" encoding="utf-8"?>
<p:tagLst xmlns:a="http://schemas.openxmlformats.org/drawingml/2006/main" xmlns:r="http://schemas.openxmlformats.org/officeDocument/2006/relationships" xmlns:p="http://schemas.openxmlformats.org/presentationml/2006/main">
  <p:tag name="MIO_SHAPETYPES_AGENDA" val="MIO_AGENDA_FIRSTELEMENT"/>
</p:tagLst>
</file>

<file path=ppt/tags/tag236.xml><?xml version="1.0" encoding="utf-8"?>
<p:tagLst xmlns:a="http://schemas.openxmlformats.org/drawingml/2006/main" xmlns:r="http://schemas.openxmlformats.org/officeDocument/2006/relationships" xmlns:p="http://schemas.openxmlformats.org/presentationml/2006/main">
  <p:tag name="MIO_SHAPETYPES_AGENDA" val="MIO_AGENDA_FIRSTELEMENT_NUMBER"/>
</p:tagLst>
</file>

<file path=ppt/tags/tag237.xml><?xml version="1.0" encoding="utf-8"?>
<p:tagLst xmlns:a="http://schemas.openxmlformats.org/drawingml/2006/main" xmlns:r="http://schemas.openxmlformats.org/officeDocument/2006/relationships" xmlns:p="http://schemas.openxmlformats.org/presentationml/2006/main">
  <p:tag name="MIO_SHAPETYPES_AGENDA" val="MIO_AGENDA_HIGHLIGHT"/>
</p:tagLst>
</file>

<file path=ppt/tags/tag238.xml><?xml version="1.0" encoding="utf-8"?>
<p:tagLst xmlns:a="http://schemas.openxmlformats.org/drawingml/2006/main" xmlns:r="http://schemas.openxmlformats.org/officeDocument/2006/relationships" xmlns:p="http://schemas.openxmlformats.org/presentationml/2006/main">
  <p:tag name="MIO_SHAPETYPES_AGENDA" val="MIO_AGENDA_HIGHLIGHT_NUMBER"/>
</p:tagLst>
</file>

<file path=ppt/theme/theme1.xml><?xml version="1.0" encoding="utf-8"?>
<a:theme xmlns:a="http://schemas.openxmlformats.org/drawingml/2006/main" name="Infineon 16:9">
  <a:themeElements>
    <a:clrScheme name="Infineon 2023 - 2">
      <a:dk1>
        <a:srgbClr val="1D1D1D"/>
      </a:dk1>
      <a:lt1>
        <a:srgbClr val="FFFFFF"/>
      </a:lt1>
      <a:dk2>
        <a:srgbClr val="0A8276"/>
      </a:dk2>
      <a:lt2>
        <a:srgbClr val="8D8786"/>
      </a:lt2>
      <a:accent1>
        <a:srgbClr val="0A8276"/>
      </a:accent1>
      <a:accent2>
        <a:srgbClr val="575352"/>
      </a:accent2>
      <a:accent3>
        <a:srgbClr val="F97414"/>
      </a:accent3>
      <a:accent4>
        <a:srgbClr val="9BBA43"/>
      </a:accent4>
      <a:accent5>
        <a:srgbClr val="FCD442"/>
      </a:accent5>
      <a:accent6>
        <a:srgbClr val="9C216E"/>
      </a:accent6>
      <a:hlink>
        <a:srgbClr val="0A8276"/>
      </a:hlink>
      <a:folHlink>
        <a:srgbClr val="0A8276"/>
      </a:folHlink>
    </a:clrScheme>
    <a:fontScheme name="Infineon">
      <a:majorFont>
        <a:latin typeface="Arial"/>
        <a:ea typeface="Arial Unicode MS"/>
        <a:cs typeface="Arial"/>
      </a:majorFont>
      <a:minorFont>
        <a:latin typeface="Arial"/>
        <a:ea typeface="Arial Unicode MS"/>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w="9525">
          <a:noFill/>
          <a:miter lim="800000"/>
          <a:headEnd/>
          <a:tailEnd/>
        </a:ln>
      </a:spPr>
      <a:bodyPr wrap="square" lIns="72000" tIns="72000" rIns="72000" bIns="72000" rtlCol="0" anchor="ctr"/>
      <a:lstStyle>
        <a:defPPr algn="ctr" defTabSz="576000" eaLnBrk="0" hangingPunct="0">
          <a:lnSpc>
            <a:spcPct val="120000"/>
          </a:lnSpc>
          <a:defRPr sz="1600" baseline="0" dirty="0">
            <a:solidFill>
              <a:schemeClr val="bg1"/>
            </a:solidFill>
            <a:latin typeface="+mn-lt"/>
            <a:ea typeface="+mn-ea"/>
            <a:cs typeface="+mn-cs"/>
          </a:defRPr>
        </a:defPPr>
      </a:lstStyle>
    </a:spDef>
    <a:lnDef>
      <a:spPr>
        <a:ln w="9525">
          <a:solidFill>
            <a:schemeClr val="bg2"/>
          </a:solidFill>
          <a:tailEnd type="none"/>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effectLst/>
      </a:spPr>
      <a:bodyPr wrap="square" lIns="0" tIns="0" rIns="0" bIns="0" rtlCol="0" anchor="t" anchorCtr="0">
        <a:spAutoFit/>
      </a:bodyPr>
      <a:lstStyle>
        <a:defPPr marL="252000" marR="0" indent="-252000" algn="l" defTabSz="576000" eaLnBrk="0" fontAlgn="auto" latinLnBrk="0" hangingPunct="0">
          <a:lnSpc>
            <a:spcPct val="120000"/>
          </a:lnSpc>
          <a:spcBef>
            <a:spcPts val="0"/>
          </a:spcBef>
          <a:spcAft>
            <a:spcPts val="0"/>
          </a:spcAft>
          <a:buClr>
            <a:schemeClr val="tx2"/>
          </a:buClr>
          <a:buSzTx/>
          <a:buFont typeface="Arial" panose="020B0604020202020204" pitchFamily="34" charset="0"/>
          <a:buChar char="‒"/>
          <a:tabLst/>
          <a:defRPr sz="1800" kern="0" baseline="0" dirty="0">
            <a:latin typeface="+mn-lt"/>
            <a:ea typeface="+mn-ea"/>
            <a:cs typeface="+mn-cs"/>
          </a:defRPr>
        </a:defPPr>
      </a:lstStyle>
    </a:txDef>
  </a:objectDefaults>
  <a:extraClrSchemeLst/>
  <a:custClrLst>
    <a:custClr name="Ocean 100">
      <a:srgbClr val="0A8276"/>
    </a:custClr>
    <a:custClr name="Ocean 80">
      <a:srgbClr val="3B9B91"/>
    </a:custClr>
    <a:custClr name="Ocean 60">
      <a:srgbClr val="6CB4AD"/>
    </a:custClr>
    <a:custClr name="Ocean 40">
      <a:srgbClr val="B8DEDA"/>
    </a:custClr>
    <a:custClr name="White">
      <a:srgbClr val="FFFFFF"/>
    </a:custClr>
    <a:custClr name="White">
      <a:srgbClr val="FFFFFF"/>
    </a:custClr>
    <a:custClr name="White ">
      <a:srgbClr val="FFFFFF"/>
    </a:custClr>
    <a:custClr name="White ">
      <a:srgbClr val="FFFFFF"/>
    </a:custClr>
    <a:custClr name="White ">
      <a:srgbClr val="FFFFFF"/>
    </a:custClr>
    <a:custClr name="White ">
      <a:srgbClr val="FFFFFF"/>
    </a:custClr>
    <a:custClr name="Lawn Main">
      <a:srgbClr val="9BBA43"/>
    </a:custClr>
    <a:custClr name="Berry Main">
      <a:srgbClr val="9C216E"/>
    </a:custClr>
    <a:custClr name="Engineering Main">
      <a:srgbClr val="575352"/>
    </a:custClr>
    <a:custClr name="Sun Main">
      <a:srgbClr val="F97414"/>
    </a:custClr>
    <a:custClr name="Sand Main">
      <a:srgbClr val="FCD442"/>
    </a:custClr>
    <a:custClr name="White">
      <a:srgbClr val="FFFFFF"/>
    </a:custClr>
    <a:custClr name="White ">
      <a:srgbClr val="FFFFFF"/>
    </a:custClr>
    <a:custClr name="White ">
      <a:srgbClr val="FFFFFF"/>
    </a:custClr>
    <a:custClr name="White ">
      <a:srgbClr val="FFFFFF"/>
    </a:custClr>
    <a:custClr name="White ">
      <a:srgbClr val="FFFFFF"/>
    </a:custClr>
    <a:custClr name="Lawn Light">
      <a:srgbClr val="B9D257"/>
    </a:custClr>
    <a:custClr name="Berry Light">
      <a:srgbClr val="BE3283"/>
    </a:custClr>
    <a:custClr name="Engineering Light">
      <a:srgbClr val="8D8786"/>
    </a:custClr>
    <a:custClr name="Sun Light">
      <a:srgbClr val="FF9737"/>
    </a:custClr>
    <a:custClr name="Sand Light">
      <a:srgbClr val="FBE273"/>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Grey 300 ">
      <a:srgbClr val="DCD5D7"/>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16BF1383-6C17-4F4A-BF70-ED8776F5CF07}" vid="{CF779738-8879-4580-9D46-8767AB3F38FF}"/>
    </a:ext>
  </a:extLst>
</a:theme>
</file>

<file path=ppt/theme/theme2.xml><?xml version="1.0" encoding="utf-8"?>
<a:theme xmlns:a="http://schemas.openxmlformats.org/drawingml/2006/main" name="Larissa-Design">
  <a:themeElements>
    <a:clrScheme name="Infineon">
      <a:dk1>
        <a:srgbClr val="000000"/>
      </a:dk1>
      <a:lt1>
        <a:srgbClr val="FFFFFF"/>
      </a:lt1>
      <a:dk2>
        <a:srgbClr val="FFE054"/>
      </a:dk2>
      <a:lt2>
        <a:srgbClr val="E9E6E6"/>
      </a:lt2>
      <a:accent1>
        <a:srgbClr val="E30034"/>
      </a:accent1>
      <a:accent2>
        <a:srgbClr val="928285"/>
      </a:accent2>
      <a:accent3>
        <a:srgbClr val="84B6A7"/>
      </a:accent3>
      <a:accent4>
        <a:srgbClr val="AEC067"/>
      </a:accent4>
      <a:accent5>
        <a:srgbClr val="EE813C"/>
      </a:accent5>
      <a:accent6>
        <a:srgbClr val="AB377A"/>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Infineon_ColorTheme_2012">
      <a:dk1>
        <a:srgbClr val="00214A"/>
      </a:dk1>
      <a:lt1>
        <a:srgbClr val="FFFFFF"/>
      </a:lt1>
      <a:dk2>
        <a:srgbClr val="00214A"/>
      </a:dk2>
      <a:lt2>
        <a:srgbClr val="C8D8E6"/>
      </a:lt2>
      <a:accent1>
        <a:srgbClr val="B70D28"/>
      </a:accent1>
      <a:accent2>
        <a:srgbClr val="E3EBF2"/>
      </a:accent2>
      <a:accent3>
        <a:srgbClr val="005DA9"/>
      </a:accent3>
      <a:accent4>
        <a:srgbClr val="969696"/>
      </a:accent4>
      <a:accent5>
        <a:srgbClr val="FDC400"/>
      </a:accent5>
      <a:accent6>
        <a:srgbClr val="009651"/>
      </a:accent6>
      <a:hlink>
        <a:srgbClr val="1122CC"/>
      </a:hlink>
      <a:folHlink>
        <a:srgbClr val="1122CC"/>
      </a:folHlink>
    </a:clrScheme>
    <a:fontScheme name="Infineon Fonts">
      <a:majorFont>
        <a:latin typeface="Verdana"/>
        <a:ea typeface=""/>
        <a:cs typeface="Verdana"/>
      </a:majorFont>
      <a:minorFont>
        <a:latin typeface="Verdana"/>
        <a:ea typeface=""/>
        <a:cs typeface="Verdana"/>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05CC1AF76FC14AB2C60F5476B686EF" ma:contentTypeVersion="2" ma:contentTypeDescription="Create a new document." ma:contentTypeScope="" ma:versionID="b729292d8c590e4364c8a3fac937fec1">
  <xsd:schema xmlns:xsd="http://www.w3.org/2001/XMLSchema" xmlns:xs="http://www.w3.org/2001/XMLSchema" xmlns:p="http://schemas.microsoft.com/office/2006/metadata/properties" xmlns:ns2="f18a2d2c-8daa-479d-a5ba-942306ca082a" targetNamespace="http://schemas.microsoft.com/office/2006/metadata/properties" ma:root="true" ma:fieldsID="b9b1c810e2192b7b73ba85aa31261488" ns2:_="">
    <xsd:import namespace="f18a2d2c-8daa-479d-a5ba-942306ca082a"/>
    <xsd:element name="properties">
      <xsd:complexType>
        <xsd:sequence>
          <xsd:element name="documentManagement">
            <xsd:complexType>
              <xsd:all>
                <xsd:element ref="ns2:SharedWithUsers"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8a2d2c-8daa-479d-a5ba-942306ca082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3C6748B-B74E-4BE1-834C-AEBB9BCA18FB}">
  <ds:schemaRefs>
    <ds:schemaRef ds:uri="http://schemas.microsoft.com/sharepoint/v3/contenttype/forms"/>
  </ds:schemaRefs>
</ds:datastoreItem>
</file>

<file path=customXml/itemProps2.xml><?xml version="1.0" encoding="utf-8"?>
<ds:datastoreItem xmlns:ds="http://schemas.openxmlformats.org/officeDocument/2006/customXml" ds:itemID="{693017D2-2738-4F4A-BD87-5CEC6DFB1E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8a2d2c-8daa-479d-a5ba-942306ca082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99A1D5-F553-4264-9022-E0136C61CE27}">
  <ds:schemaRefs>
    <ds:schemaRef ds:uri="http://purl.org/dc/terms/"/>
    <ds:schemaRef ds:uri="http://schemas.openxmlformats.org/package/2006/metadata/core-properties"/>
    <ds:schemaRef ds:uri="http://schemas.microsoft.com/office/infopath/2007/PartnerControls"/>
    <ds:schemaRef ds:uri="http://schemas.microsoft.com/office/2006/metadata/properties"/>
    <ds:schemaRef ds:uri="http://purl.org/dc/dcmitype/"/>
    <ds:schemaRef ds:uri="http://www.w3.org/XML/1998/namespace"/>
    <ds:schemaRef ds:uri="f18a2d2c-8daa-479d-a5ba-942306ca082a"/>
    <ds:schemaRef ds:uri="http://schemas.microsoft.com/office/2006/documentManagement/types"/>
    <ds:schemaRef ds:uri="http://purl.org/dc/elements/1.1/"/>
  </ds:schemaRefs>
</ds:datastoreItem>
</file>

<file path=docMetadata/LabelInfo.xml><?xml version="1.0" encoding="utf-8"?>
<clbl:labelList xmlns:clbl="http://schemas.microsoft.com/office/2020/mipLabelMetadata">
  <clbl:label id="{a15a25aa-e944-415d-b7a7-40f6b9180b6b}" enabled="1" method="Standard" siteId="{eeb8d0e8-3544-41d3-aac6-934c309faf5a}" contentBits="0" removed="0"/>
</clbl:labelList>
</file>

<file path=docProps/app.xml><?xml version="1.0" encoding="utf-8"?>
<Properties xmlns="http://schemas.openxmlformats.org/officeDocument/2006/extended-properties" xmlns:vt="http://schemas.openxmlformats.org/officeDocument/2006/docPropsVTypes">
  <Template>Default Theme</Template>
  <TotalTime>5377</TotalTime>
  <Words>9326</Words>
  <Application>Microsoft Office PowerPoint</Application>
  <PresentationFormat>Widescreen</PresentationFormat>
  <Paragraphs>913</Paragraphs>
  <Slides>51</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Arial</vt:lpstr>
      <vt:lpstr>Calibri</vt:lpstr>
      <vt:lpstr>Inconsolata</vt:lpstr>
      <vt:lpstr>Open Sans</vt:lpstr>
      <vt:lpstr>Open Sans Light</vt:lpstr>
      <vt:lpstr>Open Sans SemiBold</vt:lpstr>
      <vt:lpstr>Infineon 16:9</vt:lpstr>
      <vt:lpstr>Zephyr OS An open-source RTOS ecosystem for secure, connected IoT solutions</vt:lpstr>
      <vt:lpstr>Table of contents</vt:lpstr>
      <vt:lpstr>Confirmation of prework</vt:lpstr>
      <vt:lpstr>Setup Steps - What You'll Need Before You Build</vt:lpstr>
      <vt:lpstr>First Thing in the Room - Start the Download</vt:lpstr>
      <vt:lpstr>Zephyr Project Overview</vt:lpstr>
      <vt:lpstr>Zephyr Project</vt:lpstr>
      <vt:lpstr>Use cases for a real-time OS</vt:lpstr>
      <vt:lpstr>Products Running Zephyr Today</vt:lpstr>
      <vt:lpstr>1000+ supported boards… and growing</vt:lpstr>
      <vt:lpstr>270+ Sensors Already Integrated</vt:lpstr>
      <vt:lpstr>Zephyr Project Governance</vt:lpstr>
      <vt:lpstr>Zephyr Ecosystem</vt:lpstr>
      <vt:lpstr>Zephyr Ecosystem and Architecture</vt:lpstr>
      <vt:lpstr>Devicetree</vt:lpstr>
      <vt:lpstr>IoT Connectivity Options</vt:lpstr>
      <vt:lpstr>Native IP Stack</vt:lpstr>
      <vt:lpstr>Bluetooth Low Energy Controller </vt:lpstr>
      <vt:lpstr>Zephyr USB Device Stack</vt:lpstr>
      <vt:lpstr>Power Management</vt:lpstr>
      <vt:lpstr>Secure boot / Device Management</vt:lpstr>
      <vt:lpstr>Hardware security</vt:lpstr>
      <vt:lpstr>Zephyr Dev Community</vt:lpstr>
      <vt:lpstr>Vibrant and active community of contributors</vt:lpstr>
      <vt:lpstr>GitHub Community Growth</vt:lpstr>
      <vt:lpstr>Share of voice (search &amp; social mentions) vs. other RTOS projects</vt:lpstr>
      <vt:lpstr>Table of contents</vt:lpstr>
      <vt:lpstr>Infineon’s Platinum Membership benefits</vt:lpstr>
      <vt:lpstr>Infineon supported development boards</vt:lpstr>
      <vt:lpstr>Infineon targeted support in  Zephyr® RTOS Ecosystem </vt:lpstr>
      <vt:lpstr>Understanding the Zephyr release process</vt:lpstr>
      <vt:lpstr>Infineon Development Roadmap for Zephyr</vt:lpstr>
      <vt:lpstr>Understanding ModusToolbox™ and Zephyr</vt:lpstr>
      <vt:lpstr>Setup Checkpoint - Toolchain &amp; Finishing the Workspace</vt:lpstr>
      <vt:lpstr>Table of contents</vt:lpstr>
      <vt:lpstr>The Pieces of Your Dev Environment</vt:lpstr>
      <vt:lpstr>Zephyr Repository - Where Things Live</vt:lpstr>
      <vt:lpstr>Anatomy of a Board Support Package (BSP)</vt:lpstr>
      <vt:lpstr>Anatomy of a Zephyr Application</vt:lpstr>
      <vt:lpstr>Sample Applications - A Guided Tour</vt:lpstr>
      <vt:lpstr>The Three Touchpoints – Preview of upcoming labs</vt:lpstr>
      <vt:lpstr>Devicetree - Your First Touchpoint</vt:lpstr>
      <vt:lpstr>Kconfig - Your Second Touchpoint</vt:lpstr>
      <vt:lpstr>Code - Your Third Touchpoint</vt:lpstr>
      <vt:lpstr>Key reference links for Zephyr and Infineon MCU</vt:lpstr>
      <vt:lpstr>Build &amp; Flash Blinky - Prove the Chain Works</vt:lpstr>
      <vt:lpstr>If Something Goes Wrong</vt:lpstr>
      <vt:lpstr>Working in VS Code with Zephyr</vt:lpstr>
      <vt:lpstr>Option A - Ac6 Zephyr Workbench (full IDE)</vt:lpstr>
      <vt:lpstr>Option B - Lightweight Extensions-Only Path</vt:lpstr>
      <vt:lpstr>PowerPoint Presentation</vt:lpstr>
    </vt:vector>
  </TitlesOfParts>
  <Company>Infineon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Jarvis Clark (CSS ICW MCU PMK SW)</dc:creator>
  <cp:lastModifiedBy>Jarvis Clark (ES ICW MCU PMK SW)</cp:lastModifiedBy>
  <cp:revision>24</cp:revision>
  <dcterms:created xsi:type="dcterms:W3CDTF">2025-08-22T16:14:39Z</dcterms:created>
  <dcterms:modified xsi:type="dcterms:W3CDTF">2026-10-13T02:04:40Z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D">
    <vt:lpwstr/>
  </property>
  <property fmtid="{D5CDD505-2E9C-101B-9397-08002B2CF9AE}" pid="3" name="DocumentVersion">
    <vt:lpwstr/>
  </property>
  <property fmtid="{D5CDD505-2E9C-101B-9397-08002B2CF9AE}" pid="4" name="Proprietary">
    <vt:lpwstr/>
  </property>
  <property fmtid="{D5CDD505-2E9C-101B-9397-08002B2CF9AE}" pid="5" name="ConfidentialityMarking">
    <vt:lpwstr>restricted</vt:lpwstr>
  </property>
  <property fmtid="{D5CDD505-2E9C-101B-9397-08002B2CF9AE}" pid="6" name="AdditionalMarking">
    <vt:lpwstr/>
  </property>
  <property fmtid="{D5CDD505-2E9C-101B-9397-08002B2CF9AE}" pid="7" name="TemplateCompany">
    <vt:lpwstr>IFX</vt:lpwstr>
  </property>
  <property fmtid="{D5CDD505-2E9C-101B-9397-08002B2CF9AE}" pid="8" name="ContentTypeId">
    <vt:lpwstr>0x0101004505CC1AF76FC14AB2C60F5476B686EF</vt:lpwstr>
  </property>
  <property fmtid="{D5CDD505-2E9C-101B-9397-08002B2CF9AE}" pid="9" name="empower.integration.Classification.DocumentId">
    <vt:lpwstr/>
  </property>
  <property fmtid="{D5CDD505-2E9C-101B-9397-08002B2CF9AE}" pid="10" name="empower.integration.Classification.DocumentVersion">
    <vt:lpwstr/>
  </property>
  <property fmtid="{D5CDD505-2E9C-101B-9397-08002B2CF9AE}" pid="11" name="empower.integration.Classification.DocumentOwner">
    <vt:lpwstr/>
  </property>
  <property fmtid="{D5CDD505-2E9C-101B-9397-08002B2CF9AE}" pid="12" name="empower.integration.Classification.ShowFooter">
    <vt:bool>true</vt:bool>
  </property>
  <property fmtid="{D5CDD505-2E9C-101B-9397-08002B2CF9AE}" pid="13" name="empower.integration.Classification.RestrictionLevel">
    <vt:i4>1</vt:i4>
  </property>
  <property fmtid="{D5CDD505-2E9C-101B-9397-08002B2CF9AE}" pid="14" name="empower.integration.Classification.FooterDate">
    <vt:filetime>2025-09-03T05:00:00Z</vt:filetime>
  </property>
  <property fmtid="{D5CDD505-2E9C-101B-9397-08002B2CF9AE}" pid="15" name="empower.integration.Classification.DateFormat">
    <vt:lpwstr>yyyy-MM-dd</vt:lpwstr>
  </property>
  <property fmtid="{D5CDD505-2E9C-101B-9397-08002B2CF9AE}" pid="16" name="empower.integration.Classification.IsDraft">
    <vt:bool>false</vt:bool>
  </property>
  <property fmtid="{D5CDD505-2E9C-101B-9397-08002B2CF9AE}" pid="17" name="empower.integration.Classification.IsProprietary">
    <vt:bool>false</vt:bool>
  </property>
  <property fmtid="{D5CDD505-2E9C-101B-9397-08002B2CF9AE}" pid="18" name="empower.integration.Classification.HasAdditionalMarking">
    <vt:bool>false</vt:bool>
  </property>
  <property fmtid="{D5CDD505-2E9C-101B-9397-08002B2CF9AE}" pid="19" name="empower.integration.Classification.AdditionalMarking">
    <vt:lpwstr/>
  </property>
  <property fmtid="{D5CDD505-2E9C-101B-9397-08002B2CF9AE}" pid="20" name="empower.integration.Classification.IsEmpowerClassified">
    <vt:bool>true</vt:bool>
  </property>
  <property fmtid="{D5CDD505-2E9C-101B-9397-08002B2CF9AE}" pid="21" name="empower_migrated_document">
    <vt:lpwstr>true</vt:lpwstr>
  </property>
  <property fmtid="{D5CDD505-2E9C-101B-9397-08002B2CF9AE}" pid="22" name="MSIP_Label_a15a25aa-e944-415d-b7a7-40f6b9180b6b_Enabled">
    <vt:lpwstr>-1</vt:lpwstr>
  </property>
  <property fmtid="{D5CDD505-2E9C-101B-9397-08002B2CF9AE}" pid="23" name="MSIP_Label_a15a25aa-e944-415d-b7a7-40f6b9180b6b_SetDate">
    <vt:lpwstr>2025-08-25 16:36:38Z</vt:lpwstr>
  </property>
  <property fmtid="{D5CDD505-2E9C-101B-9397-08002B2CF9AE}" pid="24" name="MSIP_Label_a15a25aa-e944-415d-b7a7-40f6b9180b6b_Method">
    <vt:lpwstr>Privileged</vt:lpwstr>
  </property>
  <property fmtid="{D5CDD505-2E9C-101B-9397-08002B2CF9AE}" pid="25" name="MSIP_Label_a15a25aa-e944-415d-b7a7-40f6b9180b6b_Name">
    <vt:lpwstr>a15a25aa-e944-415d-b7a7-40f6b9180b6b</vt:lpwstr>
  </property>
  <property fmtid="{D5CDD505-2E9C-101B-9397-08002B2CF9AE}" pid="26" name="MSIP_Label_a15a25aa-e944-415d-b7a7-40f6b9180b6b_SiteId">
    <vt:lpwstr>eeb8d0e8-3544-41d3-aac6-934c309faf5a</vt:lpwstr>
  </property>
  <property fmtid="{D5CDD505-2E9C-101B-9397-08002B2CF9AE}" pid="27" name="MSIP_Label_a15a25aa-e944-415d-b7a7-40f6b9180b6b_ActionId">
    <vt:lpwstr>bfd72ccf-2902-441f-8d5c-7e2657808384</vt:lpwstr>
  </property>
  <property fmtid="{D5CDD505-2E9C-101B-9397-08002B2CF9AE}" pid="28" name="MSIP_Label_a15a25aa-e944-415d-b7a7-40f6b9180b6b_ContentBits">
    <vt:lpwstr>0</vt:lpwstr>
  </property>
</Properties>
</file>